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64" r:id="rId3"/>
    <p:sldId id="265" r:id="rId4"/>
    <p:sldId id="259" r:id="rId5"/>
    <p:sldId id="260" r:id="rId6"/>
    <p:sldId id="261" r:id="rId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4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48" y="12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775B379-71F7-46BB-B9E8-D25DDA6C3053}" type="datetimeFigureOut">
              <a:rPr lang="en-IN" smtClean="0"/>
              <a:t>26-08-2026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B47FA19-09A0-492E-9016-0805E943AFEB}" type="slidenum">
              <a:rPr lang="en-IN" smtClean="0"/>
              <a:t>‹#›</a:t>
            </a:fld>
            <a:endParaRPr lang="en-IN"/>
          </a:p>
        </p:txBody>
      </p:sp>
    </p:spTree>
    <p:extLst>
      <p:ext uri="{BB962C8B-B14F-4D97-AF65-F5344CB8AC3E}">
        <p14:creationId xmlns:p14="http://schemas.microsoft.com/office/powerpoint/2010/main" val="78654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3D1FB-A04D-0E41-828E-0F59049561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B28B5-12BD-DAAE-5342-9AD8B7635A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837C1-FAF2-02AB-BFB9-C79FEBA3A54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5F48750-352B-487E-4F5E-B21191A817EF}"/>
              </a:ext>
            </a:extLst>
          </p:cNvPr>
          <p:cNvSpPr>
            <a:spLocks noGrp="1"/>
          </p:cNvSpPr>
          <p:nvPr>
            <p:ph type="sldNum" sz="quarter" idx="5"/>
          </p:nvPr>
        </p:nvSpPr>
        <p:spPr/>
        <p:txBody>
          <a:bodyPr/>
          <a:lstStyle/>
          <a:p>
            <a:fld id="{0B47FA19-09A0-492E-9016-0805E943AFEB}" type="slidenum">
              <a:rPr lang="en-IN" smtClean="0"/>
              <a:t>2</a:t>
            </a:fld>
            <a:endParaRPr lang="en-IN"/>
          </a:p>
        </p:txBody>
      </p:sp>
    </p:spTree>
    <p:extLst>
      <p:ext uri="{BB962C8B-B14F-4D97-AF65-F5344CB8AC3E}">
        <p14:creationId xmlns:p14="http://schemas.microsoft.com/office/powerpoint/2010/main" val="2077045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5C31E-A2A7-8C49-52C5-272D8BF46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1F51FF-34D9-FF3A-9757-FCE10E6B4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BBEF98-1A8C-CAA3-CCD0-7E18FEB742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4D885E-FA23-EFF3-7801-7427B4FA126E}"/>
              </a:ext>
            </a:extLst>
          </p:cNvPr>
          <p:cNvSpPr>
            <a:spLocks noGrp="1"/>
          </p:cNvSpPr>
          <p:nvPr>
            <p:ph type="sldNum" sz="quarter" idx="5"/>
          </p:nvPr>
        </p:nvSpPr>
        <p:spPr/>
        <p:txBody>
          <a:bodyPr/>
          <a:lstStyle/>
          <a:p>
            <a:fld id="{0B47FA19-09A0-492E-9016-0805E943AFEB}" type="slidenum">
              <a:rPr lang="en-IN" smtClean="0"/>
              <a:t>3</a:t>
            </a:fld>
            <a:endParaRPr lang="en-IN"/>
          </a:p>
        </p:txBody>
      </p:sp>
    </p:spTree>
    <p:extLst>
      <p:ext uri="{BB962C8B-B14F-4D97-AF65-F5344CB8AC3E}">
        <p14:creationId xmlns:p14="http://schemas.microsoft.com/office/powerpoint/2010/main" val="783189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47FA19-09A0-492E-9016-0805E943AFEB}" type="slidenum">
              <a:rPr lang="en-IN" smtClean="0"/>
              <a:t>4</a:t>
            </a:fld>
            <a:endParaRPr lang="en-IN"/>
          </a:p>
        </p:txBody>
      </p:sp>
    </p:spTree>
    <p:extLst>
      <p:ext uri="{BB962C8B-B14F-4D97-AF65-F5344CB8AC3E}">
        <p14:creationId xmlns:p14="http://schemas.microsoft.com/office/powerpoint/2010/main" val="6096894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47FA19-09A0-492E-9016-0805E943AFEB}" type="slidenum">
              <a:rPr lang="en-IN" smtClean="0"/>
              <a:t>5</a:t>
            </a:fld>
            <a:endParaRPr lang="en-IN"/>
          </a:p>
        </p:txBody>
      </p:sp>
    </p:spTree>
    <p:extLst>
      <p:ext uri="{BB962C8B-B14F-4D97-AF65-F5344CB8AC3E}">
        <p14:creationId xmlns:p14="http://schemas.microsoft.com/office/powerpoint/2010/main" val="3938436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bg1"/>
                </a:solidFill>
                <a:latin typeface="Calibri"/>
                <a:cs typeface="Calibri"/>
              </a:defRPr>
            </a:lvl1pPr>
          </a:lstStyle>
          <a:p>
            <a:pPr marL="12700">
              <a:lnSpc>
                <a:spcPts val="1240"/>
              </a:lnSpc>
            </a:pPr>
            <a:r>
              <a:rPr dirty="0"/>
              <a:t>@SIH</a:t>
            </a:r>
            <a:r>
              <a:rPr spc="-15" dirty="0"/>
              <a:t> </a:t>
            </a:r>
            <a:r>
              <a:rPr dirty="0"/>
              <a:t>Idea</a:t>
            </a:r>
            <a:r>
              <a:rPr spc="-25" dirty="0"/>
              <a:t> </a:t>
            </a:r>
            <a:r>
              <a:rPr spc="-10" dirty="0"/>
              <a:t>submission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8/26/2026</a:t>
            </a:fld>
            <a:endParaRPr lang="en-US"/>
          </a:p>
        </p:txBody>
      </p:sp>
      <p:sp>
        <p:nvSpPr>
          <p:cNvPr id="6" name="Holder 6"/>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bg1"/>
                </a:solidFill>
                <a:latin typeface="Calibri"/>
                <a:cs typeface="Calibri"/>
              </a:defRPr>
            </a:lvl1pPr>
          </a:lstStyle>
          <a:p>
            <a:pPr marL="12700">
              <a:lnSpc>
                <a:spcPts val="1240"/>
              </a:lnSpc>
            </a:pPr>
            <a:r>
              <a:rPr dirty="0"/>
              <a:t>@SIH</a:t>
            </a:r>
            <a:r>
              <a:rPr spc="-15" dirty="0"/>
              <a:t> </a:t>
            </a:r>
            <a:r>
              <a:rPr dirty="0"/>
              <a:t>Idea</a:t>
            </a:r>
            <a:r>
              <a:rPr spc="-25" dirty="0"/>
              <a:t> </a:t>
            </a:r>
            <a:r>
              <a:rPr spc="-10" dirty="0"/>
              <a:t>submission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8/26/2026</a:t>
            </a:fld>
            <a:endParaRPr lang="en-US"/>
          </a:p>
        </p:txBody>
      </p:sp>
      <p:sp>
        <p:nvSpPr>
          <p:cNvPr id="6" name="Holder 6"/>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bg1"/>
                </a:solidFill>
                <a:latin typeface="Calibri"/>
                <a:cs typeface="Calibri"/>
              </a:defRPr>
            </a:lvl1pPr>
          </a:lstStyle>
          <a:p>
            <a:pPr marL="12700">
              <a:lnSpc>
                <a:spcPts val="1240"/>
              </a:lnSpc>
            </a:pPr>
            <a:r>
              <a:rPr dirty="0"/>
              <a:t>@SIH</a:t>
            </a:r>
            <a:r>
              <a:rPr spc="-15" dirty="0"/>
              <a:t> </a:t>
            </a:r>
            <a:r>
              <a:rPr dirty="0"/>
              <a:t>Idea</a:t>
            </a:r>
            <a:r>
              <a:rPr spc="-25" dirty="0"/>
              <a:t> </a:t>
            </a:r>
            <a:r>
              <a:rPr spc="-10" dirty="0"/>
              <a:t>submission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8/26/2026</a:t>
            </a:fld>
            <a:endParaRPr lang="en-US"/>
          </a:p>
        </p:txBody>
      </p:sp>
      <p:sp>
        <p:nvSpPr>
          <p:cNvPr id="7" name="Holder 7"/>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bg1"/>
                </a:solidFill>
                <a:latin typeface="Calibri"/>
                <a:cs typeface="Calibri"/>
              </a:defRPr>
            </a:lvl1pPr>
          </a:lstStyle>
          <a:p>
            <a:pPr marL="12700">
              <a:lnSpc>
                <a:spcPts val="1240"/>
              </a:lnSpc>
            </a:pPr>
            <a:r>
              <a:rPr dirty="0"/>
              <a:t>@SIH</a:t>
            </a:r>
            <a:r>
              <a:rPr spc="-15" dirty="0"/>
              <a:t> </a:t>
            </a:r>
            <a:r>
              <a:rPr dirty="0"/>
              <a:t>Idea</a:t>
            </a:r>
            <a:r>
              <a:rPr spc="-25" dirty="0"/>
              <a:t> </a:t>
            </a:r>
            <a:r>
              <a:rPr spc="-10" dirty="0"/>
              <a:t>submission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8/26/2026</a:t>
            </a:fld>
            <a:endParaRPr lang="en-US"/>
          </a:p>
        </p:txBody>
      </p:sp>
      <p:sp>
        <p:nvSpPr>
          <p:cNvPr id="5" name="Holder 5"/>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bg1"/>
                </a:solidFill>
                <a:latin typeface="Calibri"/>
                <a:cs typeface="Calibri"/>
              </a:defRPr>
            </a:lvl1pPr>
          </a:lstStyle>
          <a:p>
            <a:pPr marL="12700">
              <a:lnSpc>
                <a:spcPts val="1240"/>
              </a:lnSpc>
            </a:pPr>
            <a:r>
              <a:rPr dirty="0"/>
              <a:t>@SIH</a:t>
            </a:r>
            <a:r>
              <a:rPr spc="-15" dirty="0"/>
              <a:t> </a:t>
            </a:r>
            <a:r>
              <a:rPr dirty="0"/>
              <a:t>Idea</a:t>
            </a:r>
            <a:r>
              <a:rPr spc="-25" dirty="0"/>
              <a:t> </a:t>
            </a:r>
            <a:r>
              <a:rPr spc="-10" dirty="0"/>
              <a:t>submission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8/26/2026</a:t>
            </a:fld>
            <a:endParaRPr lang="en-US"/>
          </a:p>
        </p:txBody>
      </p:sp>
      <p:sp>
        <p:nvSpPr>
          <p:cNvPr id="4" name="Holder 4"/>
          <p:cNvSpPr>
            <a:spLocks noGrp="1"/>
          </p:cNvSpPr>
          <p:nvPr>
            <p:ph type="sldNum" sz="quarter" idx="7"/>
          </p:nvPr>
        </p:nvSpPr>
        <p:spPr/>
        <p:txBody>
          <a:bodyPr lIns="0" tIns="0" rIns="0" bIns="0"/>
          <a:lstStyle>
            <a:lvl1pPr>
              <a:defRPr sz="1200" b="1" i="0">
                <a:solidFill>
                  <a:schemeClr val="bg1"/>
                </a:solidFill>
                <a:latin typeface="Calibri"/>
                <a:cs typeface="Calibri"/>
              </a:defRPr>
            </a:lvl1pPr>
          </a:lstStyle>
          <a:p>
            <a:pPr marL="38100">
              <a:lnSpc>
                <a:spcPts val="1240"/>
              </a:lnSpc>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345941" y="99186"/>
            <a:ext cx="5500116" cy="57404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3487928" y="3328542"/>
            <a:ext cx="7639050" cy="1550670"/>
          </a:xfrm>
          <a:prstGeom prst="rect">
            <a:avLst/>
          </a:prstGeom>
        </p:spPr>
        <p:txBody>
          <a:bodyPr wrap="square" lIns="0" tIns="0" rIns="0" bIns="0">
            <a:spAutoFit/>
          </a:bodyPr>
          <a:lstStyle>
            <a:lvl1pPr>
              <a:defRPr sz="20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5552313" y="6545986"/>
            <a:ext cx="1393190" cy="177800"/>
          </a:xfrm>
          <a:prstGeom prst="rect">
            <a:avLst/>
          </a:prstGeom>
        </p:spPr>
        <p:txBody>
          <a:bodyPr wrap="square" lIns="0" tIns="0" rIns="0" bIns="0">
            <a:spAutoFit/>
          </a:bodyPr>
          <a:lstStyle>
            <a:lvl1pPr>
              <a:defRPr sz="1200" b="0" i="0">
                <a:solidFill>
                  <a:schemeClr val="bg1"/>
                </a:solidFill>
                <a:latin typeface="Calibri"/>
                <a:cs typeface="Calibri"/>
              </a:defRPr>
            </a:lvl1pPr>
          </a:lstStyle>
          <a:p>
            <a:pPr marL="12700">
              <a:lnSpc>
                <a:spcPts val="1240"/>
              </a:lnSpc>
            </a:pPr>
            <a:r>
              <a:rPr dirty="0"/>
              <a:t>@SIH</a:t>
            </a:r>
            <a:r>
              <a:rPr spc="-15" dirty="0"/>
              <a:t> </a:t>
            </a:r>
            <a:r>
              <a:rPr dirty="0"/>
              <a:t>Idea</a:t>
            </a:r>
            <a:r>
              <a:rPr spc="-25" dirty="0"/>
              <a:t> </a:t>
            </a:r>
            <a:r>
              <a:rPr spc="-10" dirty="0"/>
              <a:t>submission</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8/26/2026</a:t>
            </a:fld>
            <a:endParaRPr lang="en-US"/>
          </a:p>
        </p:txBody>
      </p:sp>
      <p:sp>
        <p:nvSpPr>
          <p:cNvPr id="6" name="Holder 6"/>
          <p:cNvSpPr>
            <a:spLocks noGrp="1"/>
          </p:cNvSpPr>
          <p:nvPr>
            <p:ph type="sldNum" sz="quarter" idx="7"/>
          </p:nvPr>
        </p:nvSpPr>
        <p:spPr>
          <a:xfrm>
            <a:off x="11375770" y="6545986"/>
            <a:ext cx="166370" cy="180975"/>
          </a:xfrm>
          <a:prstGeom prst="rect">
            <a:avLst/>
          </a:prstGeom>
        </p:spPr>
        <p:txBody>
          <a:bodyPr wrap="square" lIns="0" tIns="0" rIns="0" bIns="0">
            <a:spAutoFit/>
          </a:bodyPr>
          <a:lstStyle>
            <a:lvl1pPr>
              <a:defRPr sz="1200" b="1" i="0">
                <a:solidFill>
                  <a:schemeClr val="bg1"/>
                </a:solidFill>
                <a:latin typeface="Calibri"/>
                <a:cs typeface="Calibri"/>
              </a:defRPr>
            </a:lvl1pPr>
          </a:lstStyle>
          <a:p>
            <a:pPr marL="38100">
              <a:lnSpc>
                <a:spcPts val="124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herbnexus-frontend.onrender.com/"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hyperlink" Target="https://herbnexus-frontend.onrender.com/"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indiabiodiversity.org/" TargetMode="External"/><Relationship Id="rId2" Type="http://schemas.openxmlformats.org/officeDocument/2006/relationships/hyperlink" Target="https://nmpb.ayush.gov.in/" TargetMode="External"/><Relationship Id="rId1" Type="http://schemas.openxmlformats.org/officeDocument/2006/relationships/slideLayout" Target="../slideLayouts/slideLayout2.xml"/><Relationship Id="rId5" Type="http://schemas.openxmlformats.org/officeDocument/2006/relationships/hyperlink" Target="https://www.inaturalist.org/" TargetMode="External"/><Relationship Id="rId4" Type="http://schemas.openxmlformats.org/officeDocument/2006/relationships/hyperlink" Target="https://docs.plantnet.org/en/understand/how-the-identification-model-works/"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5656770" y="851535"/>
            <a:ext cx="4638675" cy="5155565"/>
            <a:chOff x="5656770" y="851535"/>
            <a:chExt cx="4638675" cy="5155565"/>
          </a:xfrm>
        </p:grpSpPr>
        <p:sp>
          <p:nvSpPr>
            <p:cNvPr id="3" name="object 3"/>
            <p:cNvSpPr/>
            <p:nvPr/>
          </p:nvSpPr>
          <p:spPr>
            <a:xfrm>
              <a:off x="5656770" y="851535"/>
              <a:ext cx="4638675" cy="5155565"/>
            </a:xfrm>
            <a:custGeom>
              <a:avLst/>
              <a:gdLst/>
              <a:ahLst/>
              <a:cxnLst/>
              <a:rect l="l" t="t" r="r" b="b"/>
              <a:pathLst>
                <a:path w="4638675" h="5155565">
                  <a:moveTo>
                    <a:pt x="1873313" y="0"/>
                  </a:moveTo>
                  <a:lnTo>
                    <a:pt x="1180020" y="0"/>
                  </a:lnTo>
                  <a:lnTo>
                    <a:pt x="1147349" y="5788"/>
                  </a:lnTo>
                  <a:lnTo>
                    <a:pt x="1092152" y="48702"/>
                  </a:lnTo>
                  <a:lnTo>
                    <a:pt x="1072197" y="83565"/>
                  </a:lnTo>
                  <a:lnTo>
                    <a:pt x="726249" y="881126"/>
                  </a:lnTo>
                  <a:lnTo>
                    <a:pt x="713605" y="920626"/>
                  </a:lnTo>
                  <a:lnTo>
                    <a:pt x="709390" y="962723"/>
                  </a:lnTo>
                  <a:lnTo>
                    <a:pt x="713605" y="1004820"/>
                  </a:lnTo>
                  <a:lnTo>
                    <a:pt x="726249" y="1044320"/>
                  </a:lnTo>
                  <a:lnTo>
                    <a:pt x="1072197" y="1842007"/>
                  </a:lnTo>
                  <a:lnTo>
                    <a:pt x="1092168" y="1876837"/>
                  </a:lnTo>
                  <a:lnTo>
                    <a:pt x="1118552" y="1903602"/>
                  </a:lnTo>
                  <a:lnTo>
                    <a:pt x="786955" y="2668269"/>
                  </a:lnTo>
                  <a:lnTo>
                    <a:pt x="769411" y="2714122"/>
                  </a:lnTo>
                  <a:lnTo>
                    <a:pt x="756880" y="2762295"/>
                  </a:lnTo>
                  <a:lnTo>
                    <a:pt x="749361" y="2812013"/>
                  </a:lnTo>
                  <a:lnTo>
                    <a:pt x="746855" y="2862500"/>
                  </a:lnTo>
                  <a:lnTo>
                    <a:pt x="749361" y="2912981"/>
                  </a:lnTo>
                  <a:lnTo>
                    <a:pt x="756880" y="2962681"/>
                  </a:lnTo>
                  <a:lnTo>
                    <a:pt x="769411" y="3010824"/>
                  </a:lnTo>
                  <a:lnTo>
                    <a:pt x="786955" y="3056636"/>
                  </a:lnTo>
                  <a:lnTo>
                    <a:pt x="1610550" y="4956022"/>
                  </a:lnTo>
                  <a:lnTo>
                    <a:pt x="1635991" y="5005818"/>
                  </a:lnTo>
                  <a:lnTo>
                    <a:pt x="1666114" y="5049317"/>
                  </a:lnTo>
                  <a:lnTo>
                    <a:pt x="1700357" y="5086022"/>
                  </a:lnTo>
                  <a:lnTo>
                    <a:pt x="1738162" y="5115434"/>
                  </a:lnTo>
                  <a:lnTo>
                    <a:pt x="1778968" y="5137059"/>
                  </a:lnTo>
                  <a:lnTo>
                    <a:pt x="1822215" y="5150398"/>
                  </a:lnTo>
                  <a:lnTo>
                    <a:pt x="1867344" y="5154955"/>
                  </a:lnTo>
                  <a:lnTo>
                    <a:pt x="3518090" y="5154955"/>
                  </a:lnTo>
                  <a:lnTo>
                    <a:pt x="3562089" y="5150398"/>
                  </a:lnTo>
                  <a:lnTo>
                    <a:pt x="3604828" y="5137059"/>
                  </a:lnTo>
                  <a:lnTo>
                    <a:pt x="3645500" y="5115434"/>
                  </a:lnTo>
                  <a:lnTo>
                    <a:pt x="3683294" y="5086022"/>
                  </a:lnTo>
                  <a:lnTo>
                    <a:pt x="3717402" y="5049317"/>
                  </a:lnTo>
                  <a:lnTo>
                    <a:pt x="3747017" y="5005818"/>
                  </a:lnTo>
                  <a:lnTo>
                    <a:pt x="3771328" y="4956022"/>
                  </a:lnTo>
                  <a:lnTo>
                    <a:pt x="4598479" y="3056635"/>
                  </a:lnTo>
                  <a:lnTo>
                    <a:pt x="4616023" y="3010824"/>
                  </a:lnTo>
                  <a:lnTo>
                    <a:pt x="4628554" y="2962681"/>
                  </a:lnTo>
                  <a:lnTo>
                    <a:pt x="4636073" y="2912981"/>
                  </a:lnTo>
                  <a:lnTo>
                    <a:pt x="4638579" y="2862500"/>
                  </a:lnTo>
                  <a:lnTo>
                    <a:pt x="4636073" y="2812013"/>
                  </a:lnTo>
                  <a:lnTo>
                    <a:pt x="4628554" y="2762295"/>
                  </a:lnTo>
                  <a:lnTo>
                    <a:pt x="4616023" y="2714122"/>
                  </a:lnTo>
                  <a:lnTo>
                    <a:pt x="4598479" y="2668269"/>
                  </a:lnTo>
                  <a:lnTo>
                    <a:pt x="4270937" y="1916176"/>
                  </a:lnTo>
                  <a:lnTo>
                    <a:pt x="1176972" y="1916176"/>
                  </a:lnTo>
                  <a:lnTo>
                    <a:pt x="1168640" y="1915798"/>
                  </a:lnTo>
                  <a:lnTo>
                    <a:pt x="1160414" y="1914683"/>
                  </a:lnTo>
                  <a:lnTo>
                    <a:pt x="1152308" y="1912854"/>
                  </a:lnTo>
                  <a:lnTo>
                    <a:pt x="1144503" y="1910387"/>
                  </a:lnTo>
                  <a:lnTo>
                    <a:pt x="1125029" y="1899539"/>
                  </a:lnTo>
                  <a:lnTo>
                    <a:pt x="1143698" y="1856739"/>
                  </a:lnTo>
                  <a:lnTo>
                    <a:pt x="1168717" y="1798954"/>
                  </a:lnTo>
                  <a:lnTo>
                    <a:pt x="1131925" y="1758499"/>
                  </a:lnTo>
                  <a:lnTo>
                    <a:pt x="817054" y="1035050"/>
                  </a:lnTo>
                  <a:lnTo>
                    <a:pt x="802100" y="962723"/>
                  </a:lnTo>
                  <a:lnTo>
                    <a:pt x="805838" y="925393"/>
                  </a:lnTo>
                  <a:lnTo>
                    <a:pt x="1123759" y="183261"/>
                  </a:lnTo>
                  <a:lnTo>
                    <a:pt x="1164034" y="129047"/>
                  </a:lnTo>
                  <a:lnTo>
                    <a:pt x="1219263" y="109219"/>
                  </a:lnTo>
                  <a:lnTo>
                    <a:pt x="1990783" y="109219"/>
                  </a:lnTo>
                  <a:lnTo>
                    <a:pt x="1979612" y="83565"/>
                  </a:lnTo>
                  <a:lnTo>
                    <a:pt x="1960252" y="48702"/>
                  </a:lnTo>
                  <a:lnTo>
                    <a:pt x="1934845" y="22399"/>
                  </a:lnTo>
                  <a:lnTo>
                    <a:pt x="1905246" y="5788"/>
                  </a:lnTo>
                  <a:lnTo>
                    <a:pt x="1873313" y="0"/>
                  </a:lnTo>
                  <a:close/>
                </a:path>
                <a:path w="4638675" h="5155565">
                  <a:moveTo>
                    <a:pt x="673671" y="3125216"/>
                  </a:moveTo>
                  <a:lnTo>
                    <a:pt x="272351" y="3125216"/>
                  </a:lnTo>
                  <a:lnTo>
                    <a:pt x="253499" y="3128559"/>
                  </a:lnTo>
                  <a:lnTo>
                    <a:pt x="221559" y="3153344"/>
                  </a:lnTo>
                  <a:lnTo>
                    <a:pt x="9715" y="3635248"/>
                  </a:lnTo>
                  <a:lnTo>
                    <a:pt x="0" y="3682491"/>
                  </a:lnTo>
                  <a:lnTo>
                    <a:pt x="2428" y="3706864"/>
                  </a:lnTo>
                  <a:lnTo>
                    <a:pt x="209994" y="4191380"/>
                  </a:lnTo>
                  <a:lnTo>
                    <a:pt x="236315" y="4226814"/>
                  </a:lnTo>
                  <a:lnTo>
                    <a:pt x="272351" y="4239768"/>
                  </a:lnTo>
                  <a:lnTo>
                    <a:pt x="673671" y="4239768"/>
                  </a:lnTo>
                  <a:lnTo>
                    <a:pt x="724034" y="4211585"/>
                  </a:lnTo>
                  <a:lnTo>
                    <a:pt x="936307" y="3729735"/>
                  </a:lnTo>
                  <a:lnTo>
                    <a:pt x="946118" y="3682491"/>
                  </a:lnTo>
                  <a:lnTo>
                    <a:pt x="943665" y="3658119"/>
                  </a:lnTo>
                  <a:lnTo>
                    <a:pt x="735266" y="3173476"/>
                  </a:lnTo>
                  <a:lnTo>
                    <a:pt x="709326" y="3138154"/>
                  </a:lnTo>
                  <a:lnTo>
                    <a:pt x="673671" y="3125216"/>
                  </a:lnTo>
                  <a:close/>
                </a:path>
                <a:path w="4638675" h="5155565">
                  <a:moveTo>
                    <a:pt x="3518090" y="569976"/>
                  </a:moveTo>
                  <a:lnTo>
                    <a:pt x="2192591" y="569976"/>
                  </a:lnTo>
                  <a:lnTo>
                    <a:pt x="2324036" y="871854"/>
                  </a:lnTo>
                  <a:lnTo>
                    <a:pt x="2336680" y="911353"/>
                  </a:lnTo>
                  <a:lnTo>
                    <a:pt x="2340895" y="953436"/>
                  </a:lnTo>
                  <a:lnTo>
                    <a:pt x="2336680" y="995495"/>
                  </a:lnTo>
                  <a:lnTo>
                    <a:pt x="2323981" y="1035050"/>
                  </a:lnTo>
                  <a:lnTo>
                    <a:pt x="1976691" y="1832610"/>
                  </a:lnTo>
                  <a:lnTo>
                    <a:pt x="1957276" y="1867473"/>
                  </a:lnTo>
                  <a:lnTo>
                    <a:pt x="1902253" y="1910387"/>
                  </a:lnTo>
                  <a:lnTo>
                    <a:pt x="1870265" y="1916176"/>
                  </a:lnTo>
                  <a:lnTo>
                    <a:pt x="4270937" y="1916176"/>
                  </a:lnTo>
                  <a:lnTo>
                    <a:pt x="3771328" y="768985"/>
                  </a:lnTo>
                  <a:lnTo>
                    <a:pt x="3747017" y="719172"/>
                  </a:lnTo>
                  <a:lnTo>
                    <a:pt x="3717402" y="675658"/>
                  </a:lnTo>
                  <a:lnTo>
                    <a:pt x="3683294" y="638939"/>
                  </a:lnTo>
                  <a:lnTo>
                    <a:pt x="3645500" y="609514"/>
                  </a:lnTo>
                  <a:lnTo>
                    <a:pt x="3604828" y="587880"/>
                  </a:lnTo>
                  <a:lnTo>
                    <a:pt x="3562089" y="574535"/>
                  </a:lnTo>
                  <a:lnTo>
                    <a:pt x="3518090" y="569976"/>
                  </a:lnTo>
                  <a:close/>
                </a:path>
                <a:path w="4638675" h="5155565">
                  <a:moveTo>
                    <a:pt x="2097722" y="569976"/>
                  </a:moveTo>
                  <a:lnTo>
                    <a:pt x="1867344" y="569976"/>
                  </a:lnTo>
                  <a:lnTo>
                    <a:pt x="1822215" y="574535"/>
                  </a:lnTo>
                  <a:lnTo>
                    <a:pt x="1778968" y="587880"/>
                  </a:lnTo>
                  <a:lnTo>
                    <a:pt x="1738162" y="609514"/>
                  </a:lnTo>
                  <a:lnTo>
                    <a:pt x="1700357" y="638939"/>
                  </a:lnTo>
                  <a:lnTo>
                    <a:pt x="1666114" y="675658"/>
                  </a:lnTo>
                  <a:lnTo>
                    <a:pt x="1635991" y="719172"/>
                  </a:lnTo>
                  <a:lnTo>
                    <a:pt x="1610550" y="768985"/>
                  </a:lnTo>
                  <a:lnTo>
                    <a:pt x="1179639" y="1762632"/>
                  </a:lnTo>
                  <a:lnTo>
                    <a:pt x="1167574" y="1790700"/>
                  </a:lnTo>
                  <a:lnTo>
                    <a:pt x="1187590" y="1801814"/>
                  </a:lnTo>
                  <a:lnTo>
                    <a:pt x="1194429" y="1804009"/>
                  </a:lnTo>
                  <a:lnTo>
                    <a:pt x="1201626" y="1805638"/>
                  </a:lnTo>
                  <a:lnTo>
                    <a:pt x="1208942" y="1806624"/>
                  </a:lnTo>
                  <a:lnTo>
                    <a:pt x="1216342" y="1806955"/>
                  </a:lnTo>
                  <a:lnTo>
                    <a:pt x="1831022" y="1806955"/>
                  </a:lnTo>
                  <a:lnTo>
                    <a:pt x="1885568" y="1787064"/>
                  </a:lnTo>
                  <a:lnTo>
                    <a:pt x="1925256" y="1732788"/>
                  </a:lnTo>
                  <a:lnTo>
                    <a:pt x="2233231" y="1025651"/>
                  </a:lnTo>
                  <a:lnTo>
                    <a:pt x="2248180" y="953436"/>
                  </a:lnTo>
                  <a:lnTo>
                    <a:pt x="2244447" y="916102"/>
                  </a:lnTo>
                  <a:lnTo>
                    <a:pt x="2233231" y="881126"/>
                  </a:lnTo>
                  <a:lnTo>
                    <a:pt x="2097722" y="569976"/>
                  </a:lnTo>
                  <a:close/>
                </a:path>
                <a:path w="4638675" h="5155565">
                  <a:moveTo>
                    <a:pt x="1990783" y="109219"/>
                  </a:moveTo>
                  <a:lnTo>
                    <a:pt x="1833943" y="109219"/>
                  </a:lnTo>
                  <a:lnTo>
                    <a:pt x="1862294" y="114341"/>
                  </a:lnTo>
                  <a:lnTo>
                    <a:pt x="1888537" y="129047"/>
                  </a:lnTo>
                  <a:lnTo>
                    <a:pt x="1911042" y="152350"/>
                  </a:lnTo>
                  <a:lnTo>
                    <a:pt x="1928177" y="183261"/>
                  </a:lnTo>
                  <a:lnTo>
                    <a:pt x="2092134" y="559688"/>
                  </a:lnTo>
                  <a:lnTo>
                    <a:pt x="2187003" y="559688"/>
                  </a:lnTo>
                  <a:lnTo>
                    <a:pt x="1990783" y="109219"/>
                  </a:lnTo>
                  <a:close/>
                </a:path>
              </a:pathLst>
            </a:custGeom>
            <a:solidFill>
              <a:srgbClr val="7E7E7E">
                <a:alpha val="14901"/>
              </a:srgbClr>
            </a:solidFill>
          </p:spPr>
          <p:txBody>
            <a:bodyPr wrap="square" lIns="0" tIns="0" rIns="0" bIns="0" rtlCol="0"/>
            <a:lstStyle/>
            <a:p>
              <a:endParaRPr/>
            </a:p>
          </p:txBody>
        </p:sp>
        <p:pic>
          <p:nvPicPr>
            <p:cNvPr id="4" name="object 4"/>
            <p:cNvPicPr/>
            <p:nvPr/>
          </p:nvPicPr>
          <p:blipFill>
            <a:blip r:embed="rId2" cstate="print"/>
            <a:stretch>
              <a:fillRect/>
            </a:stretch>
          </p:blipFill>
          <p:spPr>
            <a:xfrm>
              <a:off x="6854952" y="1715897"/>
              <a:ext cx="3203448" cy="3426205"/>
            </a:xfrm>
            <a:prstGeom prst="rect">
              <a:avLst/>
            </a:prstGeom>
          </p:spPr>
        </p:pic>
      </p:grpSp>
      <p:sp>
        <p:nvSpPr>
          <p:cNvPr id="5" name="object 5" descr="$PPTXTitle"/>
          <p:cNvSpPr txBox="1">
            <a:spLocks noGrp="1"/>
          </p:cNvSpPr>
          <p:nvPr>
            <p:ph type="title"/>
          </p:nvPr>
        </p:nvSpPr>
        <p:spPr>
          <a:xfrm>
            <a:off x="1472564" y="156210"/>
            <a:ext cx="8096250" cy="635000"/>
          </a:xfrm>
          <a:prstGeom prst="rect">
            <a:avLst/>
          </a:prstGeom>
        </p:spPr>
        <p:txBody>
          <a:bodyPr vert="horz" wrap="square" lIns="0" tIns="12065" rIns="0" bIns="0" rtlCol="0">
            <a:spAutoFit/>
          </a:bodyPr>
          <a:lstStyle/>
          <a:p>
            <a:pPr marL="12700">
              <a:lnSpc>
                <a:spcPct val="100000"/>
              </a:lnSpc>
              <a:spcBef>
                <a:spcPts val="95"/>
              </a:spcBef>
            </a:pPr>
            <a:r>
              <a:rPr sz="4000" spc="-120" dirty="0">
                <a:solidFill>
                  <a:srgbClr val="1F487C"/>
                </a:solidFill>
              </a:rPr>
              <a:t>SMART</a:t>
            </a:r>
            <a:r>
              <a:rPr sz="4000" spc="-25" dirty="0">
                <a:solidFill>
                  <a:srgbClr val="1F487C"/>
                </a:solidFill>
              </a:rPr>
              <a:t> </a:t>
            </a:r>
            <a:r>
              <a:rPr sz="4000" spc="90" dirty="0">
                <a:solidFill>
                  <a:srgbClr val="1F487C"/>
                </a:solidFill>
              </a:rPr>
              <a:t>INDIA</a:t>
            </a:r>
            <a:r>
              <a:rPr sz="4000" spc="-15" dirty="0">
                <a:solidFill>
                  <a:srgbClr val="1F487C"/>
                </a:solidFill>
              </a:rPr>
              <a:t> </a:t>
            </a:r>
            <a:r>
              <a:rPr sz="4000" dirty="0">
                <a:solidFill>
                  <a:srgbClr val="1F487C"/>
                </a:solidFill>
              </a:rPr>
              <a:t>HACKATHON</a:t>
            </a:r>
            <a:r>
              <a:rPr sz="4000" spc="10" dirty="0">
                <a:solidFill>
                  <a:srgbClr val="1F487C"/>
                </a:solidFill>
              </a:rPr>
              <a:t> </a:t>
            </a:r>
            <a:r>
              <a:rPr sz="4000" spc="-35" dirty="0">
                <a:solidFill>
                  <a:srgbClr val="1F487C"/>
                </a:solidFill>
              </a:rPr>
              <a:t>202</a:t>
            </a:r>
            <a:r>
              <a:rPr lang="en-US" sz="4000" spc="-35" dirty="0">
                <a:solidFill>
                  <a:srgbClr val="1F487C"/>
                </a:solidFill>
              </a:rPr>
              <a:t>6</a:t>
            </a:r>
            <a:endParaRPr sz="4000" dirty="0"/>
          </a:p>
        </p:txBody>
      </p:sp>
      <p:sp>
        <p:nvSpPr>
          <p:cNvPr id="6" name="object 6"/>
          <p:cNvSpPr txBox="1"/>
          <p:nvPr/>
        </p:nvSpPr>
        <p:spPr>
          <a:xfrm>
            <a:off x="410057" y="791210"/>
            <a:ext cx="9343543" cy="5286704"/>
          </a:xfrm>
          <a:prstGeom prst="rect">
            <a:avLst/>
          </a:prstGeom>
        </p:spPr>
        <p:txBody>
          <a:bodyPr vert="horz" wrap="square" lIns="0" tIns="239395" rIns="0" bIns="0" rtlCol="0">
            <a:spAutoFit/>
          </a:bodyPr>
          <a:lstStyle/>
          <a:p>
            <a:pPr marL="4095115">
              <a:lnSpc>
                <a:spcPct val="100000"/>
              </a:lnSpc>
              <a:spcBef>
                <a:spcPts val="1885"/>
              </a:spcBef>
            </a:pPr>
            <a:r>
              <a:rPr sz="3200" b="1" dirty="0">
                <a:latin typeface="Times New Roman"/>
                <a:cs typeface="Times New Roman"/>
              </a:rPr>
              <a:t>TITLE</a:t>
            </a:r>
            <a:r>
              <a:rPr sz="3200" b="1" spc="-20" dirty="0">
                <a:latin typeface="Times New Roman"/>
                <a:cs typeface="Times New Roman"/>
              </a:rPr>
              <a:t> PAGE</a:t>
            </a:r>
            <a:endParaRPr sz="3200" dirty="0">
              <a:latin typeface="Times New Roman"/>
              <a:cs typeface="Times New Roman"/>
            </a:endParaRPr>
          </a:p>
          <a:p>
            <a:pPr marL="297815" indent="-285115">
              <a:lnSpc>
                <a:spcPct val="100000"/>
              </a:lnSpc>
              <a:spcBef>
                <a:spcPts val="1335"/>
              </a:spcBef>
              <a:buFont typeface="Arial MT"/>
              <a:buChar char="•"/>
              <a:tabLst>
                <a:tab pos="297815" algn="l"/>
              </a:tabLst>
            </a:pPr>
            <a:r>
              <a:rPr sz="2400" b="1" dirty="0">
                <a:latin typeface="Arial"/>
                <a:cs typeface="Arial"/>
              </a:rPr>
              <a:t>Problem</a:t>
            </a:r>
            <a:r>
              <a:rPr sz="2400" b="1" spc="-55" dirty="0">
                <a:latin typeface="Arial"/>
                <a:cs typeface="Arial"/>
              </a:rPr>
              <a:t> </a:t>
            </a:r>
            <a:r>
              <a:rPr sz="2400" b="1" dirty="0">
                <a:latin typeface="Arial"/>
                <a:cs typeface="Arial"/>
              </a:rPr>
              <a:t>Statement</a:t>
            </a:r>
            <a:r>
              <a:rPr sz="2400" b="1" spc="-45" dirty="0">
                <a:latin typeface="Arial"/>
                <a:cs typeface="Arial"/>
              </a:rPr>
              <a:t> </a:t>
            </a:r>
            <a:r>
              <a:rPr sz="2400" b="1" dirty="0">
                <a:latin typeface="Arial"/>
                <a:cs typeface="Arial"/>
              </a:rPr>
              <a:t>ID</a:t>
            </a:r>
            <a:r>
              <a:rPr sz="2400" b="1" spc="-55" dirty="0">
                <a:latin typeface="Arial"/>
                <a:cs typeface="Arial"/>
              </a:rPr>
              <a:t> </a:t>
            </a:r>
            <a:r>
              <a:rPr sz="2400" b="1" dirty="0">
                <a:latin typeface="Arial"/>
                <a:cs typeface="Arial"/>
              </a:rPr>
              <a:t>–</a:t>
            </a:r>
            <a:r>
              <a:rPr sz="2400" b="1" spc="-50" dirty="0">
                <a:latin typeface="Arial"/>
                <a:cs typeface="Arial"/>
              </a:rPr>
              <a:t> </a:t>
            </a:r>
            <a:r>
              <a:rPr sz="2400" b="1" spc="-10" dirty="0">
                <a:solidFill>
                  <a:srgbClr val="006FC0"/>
                </a:solidFill>
                <a:latin typeface="Arial"/>
                <a:cs typeface="Arial"/>
              </a:rPr>
              <a:t>SIH2</a:t>
            </a:r>
            <a:r>
              <a:rPr lang="en-US" sz="2400" b="1" spc="-10" dirty="0">
                <a:solidFill>
                  <a:srgbClr val="006FC0"/>
                </a:solidFill>
                <a:latin typeface="Arial"/>
                <a:cs typeface="Arial"/>
              </a:rPr>
              <a:t>6</a:t>
            </a:r>
            <a:r>
              <a:rPr sz="2400" b="1" spc="-10" dirty="0">
                <a:solidFill>
                  <a:srgbClr val="006FC0"/>
                </a:solidFill>
                <a:latin typeface="Arial"/>
                <a:cs typeface="Arial"/>
              </a:rPr>
              <a:t>1</a:t>
            </a:r>
            <a:r>
              <a:rPr lang="en-US" sz="2400" b="1" spc="-10" dirty="0">
                <a:solidFill>
                  <a:srgbClr val="006FC0"/>
                </a:solidFill>
                <a:latin typeface="Arial"/>
                <a:cs typeface="Arial"/>
              </a:rPr>
              <a:t>96</a:t>
            </a:r>
            <a:endParaRPr sz="2400" dirty="0">
              <a:latin typeface="Arial"/>
              <a:cs typeface="Arial"/>
            </a:endParaRPr>
          </a:p>
          <a:p>
            <a:pPr marL="297180" marR="2254885" indent="-285115">
              <a:lnSpc>
                <a:spcPct val="100000"/>
              </a:lnSpc>
              <a:spcBef>
                <a:spcPts val="675"/>
              </a:spcBef>
              <a:buFont typeface="Arial MT"/>
              <a:buChar char="•"/>
              <a:tabLst>
                <a:tab pos="350520" algn="l"/>
              </a:tabLst>
            </a:pPr>
            <a:r>
              <a:rPr sz="2400" b="1" dirty="0">
                <a:latin typeface="Arial"/>
                <a:cs typeface="Arial"/>
              </a:rPr>
              <a:t>Problem</a:t>
            </a:r>
            <a:r>
              <a:rPr sz="2400" b="1" spc="-55" dirty="0">
                <a:latin typeface="Arial"/>
                <a:cs typeface="Arial"/>
              </a:rPr>
              <a:t> </a:t>
            </a:r>
            <a:r>
              <a:rPr sz="2400" b="1" dirty="0">
                <a:latin typeface="Arial"/>
                <a:cs typeface="Arial"/>
              </a:rPr>
              <a:t>Statement</a:t>
            </a:r>
            <a:r>
              <a:rPr sz="2400" b="1" spc="-45" dirty="0">
                <a:latin typeface="Arial"/>
                <a:cs typeface="Arial"/>
              </a:rPr>
              <a:t> </a:t>
            </a:r>
            <a:r>
              <a:rPr sz="2400" b="1" dirty="0">
                <a:latin typeface="Arial"/>
                <a:cs typeface="Arial"/>
              </a:rPr>
              <a:t>Title</a:t>
            </a:r>
            <a:r>
              <a:rPr sz="2400" b="1" spc="-60" dirty="0">
                <a:latin typeface="Arial"/>
                <a:cs typeface="Arial"/>
              </a:rPr>
              <a:t> </a:t>
            </a:r>
            <a:r>
              <a:rPr sz="2400" b="1" dirty="0">
                <a:latin typeface="Arial"/>
                <a:cs typeface="Arial"/>
              </a:rPr>
              <a:t>–</a:t>
            </a:r>
            <a:r>
              <a:rPr sz="2400" b="1" spc="-60" dirty="0">
                <a:latin typeface="Arial"/>
                <a:cs typeface="Arial"/>
              </a:rPr>
              <a:t> </a:t>
            </a:r>
            <a:r>
              <a:rPr lang="en-US" sz="2400" b="1" spc="-10" dirty="0">
                <a:solidFill>
                  <a:srgbClr val="006FC0"/>
                </a:solidFill>
                <a:latin typeface="Arial"/>
                <a:cs typeface="Arial"/>
              </a:rPr>
              <a:t>Student Innovation</a:t>
            </a:r>
            <a:endParaRPr sz="2400" dirty="0">
              <a:latin typeface="Arial"/>
              <a:cs typeface="Arial"/>
            </a:endParaRPr>
          </a:p>
          <a:p>
            <a:pPr marL="297815" indent="-285115">
              <a:lnSpc>
                <a:spcPct val="100000"/>
              </a:lnSpc>
              <a:spcBef>
                <a:spcPts val="2210"/>
              </a:spcBef>
              <a:buFont typeface="Arial MT"/>
              <a:buChar char="•"/>
              <a:tabLst>
                <a:tab pos="297815" algn="l"/>
              </a:tabLst>
            </a:pPr>
            <a:r>
              <a:rPr sz="2400" b="1" dirty="0">
                <a:latin typeface="Arial"/>
                <a:cs typeface="Arial"/>
              </a:rPr>
              <a:t>Theme</a:t>
            </a:r>
            <a:r>
              <a:rPr sz="2400" b="1" spc="-60" dirty="0">
                <a:latin typeface="Arial"/>
                <a:cs typeface="Arial"/>
              </a:rPr>
              <a:t> </a:t>
            </a:r>
            <a:r>
              <a:rPr sz="2400" b="1" dirty="0">
                <a:latin typeface="Arial"/>
                <a:cs typeface="Arial"/>
              </a:rPr>
              <a:t>–</a:t>
            </a:r>
            <a:r>
              <a:rPr sz="2400" b="1" spc="-60" dirty="0">
                <a:latin typeface="Arial"/>
                <a:cs typeface="Arial"/>
              </a:rPr>
              <a:t> </a:t>
            </a:r>
            <a:r>
              <a:rPr sz="2400" b="1" dirty="0">
                <a:solidFill>
                  <a:srgbClr val="006FC0"/>
                </a:solidFill>
                <a:latin typeface="Arial"/>
                <a:cs typeface="Arial"/>
              </a:rPr>
              <a:t>Smart</a:t>
            </a:r>
            <a:r>
              <a:rPr lang="en-US" sz="2400" b="1" spc="-55" dirty="0">
                <a:solidFill>
                  <a:srgbClr val="006FC0"/>
                </a:solidFill>
                <a:latin typeface="Arial"/>
                <a:cs typeface="Arial"/>
              </a:rPr>
              <a:t> </a:t>
            </a:r>
            <a:r>
              <a:rPr lang="en-US" sz="2400" b="1" spc="-10" dirty="0">
                <a:solidFill>
                  <a:srgbClr val="006FC0"/>
                </a:solidFill>
                <a:latin typeface="Arial"/>
                <a:cs typeface="Arial"/>
              </a:rPr>
              <a:t>Ed</a:t>
            </a:r>
            <a:r>
              <a:rPr sz="2400" b="1" spc="-10" dirty="0">
                <a:solidFill>
                  <a:srgbClr val="006FC0"/>
                </a:solidFill>
                <a:latin typeface="Arial"/>
                <a:cs typeface="Arial"/>
              </a:rPr>
              <a:t>ucation</a:t>
            </a:r>
            <a:endParaRPr lang="en-US" sz="2400" b="1" spc="-10" dirty="0">
              <a:solidFill>
                <a:srgbClr val="006FC0"/>
              </a:solidFill>
              <a:latin typeface="Arial"/>
              <a:cs typeface="Arial"/>
            </a:endParaRPr>
          </a:p>
          <a:p>
            <a:pPr marL="297815" indent="-285115">
              <a:lnSpc>
                <a:spcPct val="100000"/>
              </a:lnSpc>
              <a:spcBef>
                <a:spcPts val="2210"/>
              </a:spcBef>
              <a:buFont typeface="Arial MT"/>
              <a:buChar char="•"/>
              <a:tabLst>
                <a:tab pos="297815" algn="l"/>
              </a:tabLst>
            </a:pPr>
            <a:r>
              <a:rPr lang="en-US" sz="2400" b="1" dirty="0"/>
              <a:t>Live Demo </a:t>
            </a:r>
            <a:r>
              <a:rPr lang="en-US" sz="2400" b="1" dirty="0">
                <a:latin typeface="Arial"/>
                <a:cs typeface="Arial"/>
              </a:rPr>
              <a:t>–</a:t>
            </a:r>
            <a:r>
              <a:rPr lang="en-US" sz="2400" b="1" spc="-10" dirty="0">
                <a:solidFill>
                  <a:srgbClr val="006FC0"/>
                </a:solidFill>
                <a:latin typeface="Arial"/>
                <a:cs typeface="Arial"/>
              </a:rPr>
              <a:t> </a:t>
            </a:r>
            <a:r>
              <a:rPr lang="en-US" sz="2400" b="1" spc="-10" dirty="0">
                <a:solidFill>
                  <a:srgbClr val="006FC0"/>
                </a:solidFill>
                <a:latin typeface="Arial"/>
                <a:cs typeface="Arial"/>
                <a:hlinkClick r:id="rId3"/>
              </a:rPr>
              <a:t>Herb Nexus</a:t>
            </a:r>
            <a:r>
              <a:rPr lang="en-US" sz="2400" b="1" spc="-10" dirty="0">
                <a:solidFill>
                  <a:srgbClr val="006FC0"/>
                </a:solidFill>
                <a:latin typeface="Arial"/>
                <a:cs typeface="Arial"/>
              </a:rPr>
              <a:t> </a:t>
            </a:r>
            <a:endParaRPr sz="2400" dirty="0">
              <a:latin typeface="Arial"/>
              <a:cs typeface="Arial"/>
            </a:endParaRPr>
          </a:p>
          <a:p>
            <a:pPr>
              <a:lnSpc>
                <a:spcPct val="100000"/>
              </a:lnSpc>
              <a:spcBef>
                <a:spcPts val="120"/>
              </a:spcBef>
              <a:buFont typeface="Arial MT"/>
              <a:buChar char="•"/>
            </a:pPr>
            <a:endParaRPr sz="2400" dirty="0">
              <a:latin typeface="Arial"/>
              <a:cs typeface="Arial"/>
            </a:endParaRPr>
          </a:p>
          <a:p>
            <a:pPr marL="297815" indent="-285115">
              <a:lnSpc>
                <a:spcPct val="100000"/>
              </a:lnSpc>
              <a:buFont typeface="Arial MT"/>
              <a:buChar char="•"/>
              <a:tabLst>
                <a:tab pos="297815" algn="l"/>
              </a:tabLst>
            </a:pPr>
            <a:r>
              <a:rPr sz="2400" b="1" dirty="0">
                <a:latin typeface="Arial"/>
                <a:cs typeface="Arial"/>
              </a:rPr>
              <a:t>PS</a:t>
            </a:r>
            <a:r>
              <a:rPr sz="2400" b="1" spc="-55" dirty="0">
                <a:latin typeface="Arial"/>
                <a:cs typeface="Arial"/>
              </a:rPr>
              <a:t> </a:t>
            </a:r>
            <a:r>
              <a:rPr sz="2400" b="1" dirty="0">
                <a:latin typeface="Arial"/>
                <a:cs typeface="Arial"/>
              </a:rPr>
              <a:t>Category</a:t>
            </a:r>
            <a:r>
              <a:rPr sz="2400" b="1" spc="-40" dirty="0">
                <a:latin typeface="Arial"/>
                <a:cs typeface="Arial"/>
              </a:rPr>
              <a:t> </a:t>
            </a:r>
            <a:r>
              <a:rPr sz="2400" b="1" dirty="0">
                <a:latin typeface="Arial"/>
                <a:cs typeface="Arial"/>
              </a:rPr>
              <a:t>-</a:t>
            </a:r>
            <a:r>
              <a:rPr sz="2400" b="1" spc="-55" dirty="0">
                <a:latin typeface="Arial"/>
                <a:cs typeface="Arial"/>
              </a:rPr>
              <a:t> </a:t>
            </a:r>
            <a:r>
              <a:rPr sz="2400" b="1" spc="-10" dirty="0">
                <a:solidFill>
                  <a:srgbClr val="006FC0"/>
                </a:solidFill>
                <a:latin typeface="Arial"/>
                <a:cs typeface="Arial"/>
              </a:rPr>
              <a:t>Software</a:t>
            </a:r>
            <a:endParaRPr sz="2400" dirty="0">
              <a:latin typeface="Arial"/>
              <a:cs typeface="Arial"/>
            </a:endParaRPr>
          </a:p>
          <a:p>
            <a:pPr>
              <a:lnSpc>
                <a:spcPct val="100000"/>
              </a:lnSpc>
              <a:spcBef>
                <a:spcPts val="120"/>
              </a:spcBef>
              <a:buFont typeface="Arial MT"/>
              <a:buChar char="•"/>
            </a:pPr>
            <a:endParaRPr sz="2400" dirty="0">
              <a:latin typeface="Arial"/>
              <a:cs typeface="Arial"/>
            </a:endParaRPr>
          </a:p>
          <a:p>
            <a:pPr marL="297815" indent="-285115">
              <a:lnSpc>
                <a:spcPct val="100000"/>
              </a:lnSpc>
              <a:buFont typeface="Arial MT"/>
              <a:buChar char="•"/>
              <a:tabLst>
                <a:tab pos="297815" algn="l"/>
              </a:tabLst>
            </a:pPr>
            <a:r>
              <a:rPr sz="2400" b="1" dirty="0">
                <a:latin typeface="Arial"/>
                <a:cs typeface="Arial"/>
              </a:rPr>
              <a:t>Team</a:t>
            </a:r>
            <a:r>
              <a:rPr sz="2400" b="1" spc="-25" dirty="0">
                <a:latin typeface="Arial"/>
                <a:cs typeface="Arial"/>
              </a:rPr>
              <a:t> </a:t>
            </a:r>
            <a:r>
              <a:rPr sz="2400" b="1" dirty="0">
                <a:latin typeface="Arial"/>
                <a:cs typeface="Arial"/>
              </a:rPr>
              <a:t>ID</a:t>
            </a:r>
            <a:r>
              <a:rPr sz="2400" b="1" spc="-45" dirty="0">
                <a:latin typeface="Arial"/>
                <a:cs typeface="Arial"/>
              </a:rPr>
              <a:t> </a:t>
            </a:r>
            <a:r>
              <a:rPr sz="2400" b="1" dirty="0">
                <a:latin typeface="Arial"/>
                <a:cs typeface="Arial"/>
              </a:rPr>
              <a:t>–</a:t>
            </a:r>
            <a:r>
              <a:rPr sz="2400" b="1" spc="-30" dirty="0">
                <a:latin typeface="Arial"/>
                <a:cs typeface="Arial"/>
              </a:rPr>
              <a:t> </a:t>
            </a:r>
            <a:r>
              <a:rPr sz="2400" b="1" spc="-25" dirty="0">
                <a:solidFill>
                  <a:srgbClr val="006FC0"/>
                </a:solidFill>
                <a:latin typeface="Arial"/>
                <a:cs typeface="Arial"/>
              </a:rPr>
              <a:t>N/A</a:t>
            </a:r>
            <a:endParaRPr sz="2400" dirty="0">
              <a:latin typeface="Arial"/>
              <a:cs typeface="Arial"/>
            </a:endParaRPr>
          </a:p>
          <a:p>
            <a:pPr>
              <a:lnSpc>
                <a:spcPct val="100000"/>
              </a:lnSpc>
              <a:spcBef>
                <a:spcPts val="125"/>
              </a:spcBef>
              <a:buFont typeface="Arial MT"/>
              <a:buChar char="•"/>
            </a:pPr>
            <a:endParaRPr sz="2400" dirty="0">
              <a:latin typeface="Arial"/>
              <a:cs typeface="Arial"/>
            </a:endParaRPr>
          </a:p>
          <a:p>
            <a:pPr marL="297815" indent="-285115">
              <a:lnSpc>
                <a:spcPct val="100000"/>
              </a:lnSpc>
              <a:buFont typeface="Arial MT"/>
              <a:buChar char="•"/>
              <a:tabLst>
                <a:tab pos="297815" algn="l"/>
              </a:tabLst>
            </a:pPr>
            <a:r>
              <a:rPr sz="2400" b="1" dirty="0">
                <a:latin typeface="Arial"/>
                <a:cs typeface="Arial"/>
              </a:rPr>
              <a:t>Team</a:t>
            </a:r>
            <a:r>
              <a:rPr sz="2400" b="1" spc="-35" dirty="0">
                <a:latin typeface="Arial"/>
                <a:cs typeface="Arial"/>
              </a:rPr>
              <a:t> </a:t>
            </a:r>
            <a:r>
              <a:rPr sz="2400" b="1" dirty="0">
                <a:latin typeface="Arial"/>
                <a:cs typeface="Arial"/>
              </a:rPr>
              <a:t>Name</a:t>
            </a:r>
            <a:r>
              <a:rPr sz="2400" b="1" spc="-55" dirty="0">
                <a:latin typeface="Arial"/>
                <a:cs typeface="Arial"/>
              </a:rPr>
              <a:t> </a:t>
            </a:r>
            <a:r>
              <a:rPr sz="2400" b="1" dirty="0">
                <a:latin typeface="Arial"/>
                <a:cs typeface="Arial"/>
              </a:rPr>
              <a:t>-</a:t>
            </a:r>
            <a:r>
              <a:rPr sz="2400" b="1" spc="575" dirty="0">
                <a:latin typeface="Arial"/>
                <a:cs typeface="Arial"/>
              </a:rPr>
              <a:t> </a:t>
            </a:r>
            <a:r>
              <a:rPr lang="en-US" sz="2400" b="1" spc="-10" dirty="0">
                <a:solidFill>
                  <a:srgbClr val="006FC0"/>
                </a:solidFill>
                <a:latin typeface="Calibri"/>
                <a:cs typeface="Calibri"/>
              </a:rPr>
              <a:t>Neural Nexus</a:t>
            </a:r>
            <a:endParaRPr sz="2400" dirty="0">
              <a:latin typeface="Calibri"/>
              <a:cs typeface="Calibri"/>
            </a:endParaRPr>
          </a:p>
        </p:txBody>
      </p:sp>
      <p:pic>
        <p:nvPicPr>
          <p:cNvPr id="10" name="Picture 9">
            <a:extLst>
              <a:ext uri="{FF2B5EF4-FFF2-40B4-BE49-F238E27FC236}">
                <a16:creationId xmlns:a16="http://schemas.microsoft.com/office/drawing/2014/main" id="{F6CF87F8-9985-BB1C-2610-4E70C1580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40747" y="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CCE02E6-45C3-8802-94A5-444D705E652A}"/>
            </a:ext>
          </a:extLst>
        </p:cNvPr>
        <p:cNvGrpSpPr/>
        <p:nvPr/>
      </p:nvGrpSpPr>
      <p:grpSpPr>
        <a:xfrm>
          <a:off x="0" y="0"/>
          <a:ext cx="0" cy="0"/>
          <a:chOff x="0" y="0"/>
          <a:chExt cx="0" cy="0"/>
        </a:xfrm>
      </p:grpSpPr>
      <p:sp>
        <p:nvSpPr>
          <p:cNvPr id="15" name="object 15" descr="$PPTXTitle">
            <a:extLst>
              <a:ext uri="{FF2B5EF4-FFF2-40B4-BE49-F238E27FC236}">
                <a16:creationId xmlns:a16="http://schemas.microsoft.com/office/drawing/2014/main" id="{32087D82-095C-1F3B-8C61-6C2CB2378F73}"/>
              </a:ext>
            </a:extLst>
          </p:cNvPr>
          <p:cNvSpPr txBox="1">
            <a:spLocks noGrp="1"/>
          </p:cNvSpPr>
          <p:nvPr>
            <p:ph type="title"/>
          </p:nvPr>
        </p:nvSpPr>
        <p:spPr>
          <a:xfrm>
            <a:off x="3405521" y="-86607"/>
            <a:ext cx="5339633" cy="566822"/>
          </a:xfrm>
          <a:prstGeom prst="rect">
            <a:avLst/>
          </a:prstGeom>
        </p:spPr>
        <p:txBody>
          <a:bodyPr vert="horz" wrap="square" lIns="0" tIns="12700" rIns="0" bIns="0" rtlCol="0">
            <a:spAutoFit/>
          </a:bodyPr>
          <a:lstStyle/>
          <a:p>
            <a:pPr marL="672465">
              <a:lnSpc>
                <a:spcPct val="100000"/>
              </a:lnSpc>
              <a:spcBef>
                <a:spcPts val="100"/>
              </a:spcBef>
            </a:pPr>
            <a:r>
              <a:rPr lang="en-US" spc="-10" dirty="0"/>
              <a:t>Problem and Solution </a:t>
            </a:r>
            <a:endParaRPr spc="-10" dirty="0"/>
          </a:p>
        </p:txBody>
      </p:sp>
      <p:grpSp>
        <p:nvGrpSpPr>
          <p:cNvPr id="50" name="Group 49">
            <a:extLst>
              <a:ext uri="{FF2B5EF4-FFF2-40B4-BE49-F238E27FC236}">
                <a16:creationId xmlns:a16="http://schemas.microsoft.com/office/drawing/2014/main" id="{C4006AB8-71A4-2EDC-4709-1D18790CC2A9}"/>
              </a:ext>
            </a:extLst>
          </p:cNvPr>
          <p:cNvGrpSpPr/>
          <p:nvPr/>
        </p:nvGrpSpPr>
        <p:grpSpPr>
          <a:xfrm>
            <a:off x="7620000" y="609600"/>
            <a:ext cx="4497684" cy="3282322"/>
            <a:chOff x="4297803" y="3193640"/>
            <a:chExt cx="7683246" cy="2432747"/>
          </a:xfrm>
        </p:grpSpPr>
        <p:grpSp>
          <p:nvGrpSpPr>
            <p:cNvPr id="47" name="Group 46">
              <a:extLst>
                <a:ext uri="{FF2B5EF4-FFF2-40B4-BE49-F238E27FC236}">
                  <a16:creationId xmlns:a16="http://schemas.microsoft.com/office/drawing/2014/main" id="{DDC36DF0-F073-1E0E-AE9F-50C2D8162C41}"/>
                </a:ext>
              </a:extLst>
            </p:cNvPr>
            <p:cNvGrpSpPr/>
            <p:nvPr/>
          </p:nvGrpSpPr>
          <p:grpSpPr>
            <a:xfrm>
              <a:off x="4297803" y="3193640"/>
              <a:ext cx="7683246" cy="2432747"/>
              <a:chOff x="4253610" y="4298060"/>
              <a:chExt cx="7683246" cy="2432747"/>
            </a:xfrm>
          </p:grpSpPr>
          <p:sp>
            <p:nvSpPr>
              <p:cNvPr id="5" name="object 5">
                <a:extLst>
                  <a:ext uri="{FF2B5EF4-FFF2-40B4-BE49-F238E27FC236}">
                    <a16:creationId xmlns:a16="http://schemas.microsoft.com/office/drawing/2014/main" id="{91C198C4-B3B6-4601-1895-FA0790F8C1F9}"/>
                  </a:ext>
                </a:extLst>
              </p:cNvPr>
              <p:cNvSpPr/>
              <p:nvPr/>
            </p:nvSpPr>
            <p:spPr>
              <a:xfrm>
                <a:off x="4253610" y="4447666"/>
                <a:ext cx="7683246" cy="2283141"/>
              </a:xfrm>
              <a:custGeom>
                <a:avLst/>
                <a:gdLst/>
                <a:ahLst/>
                <a:cxnLst/>
                <a:rect l="l" t="t" r="r" b="b"/>
                <a:pathLst>
                  <a:path w="4258309" h="1836420">
                    <a:moveTo>
                      <a:pt x="0" y="48259"/>
                    </a:moveTo>
                    <a:lnTo>
                      <a:pt x="3790" y="29467"/>
                    </a:lnTo>
                    <a:lnTo>
                      <a:pt x="14128" y="14128"/>
                    </a:lnTo>
                    <a:lnTo>
                      <a:pt x="29467" y="3790"/>
                    </a:lnTo>
                    <a:lnTo>
                      <a:pt x="48259" y="0"/>
                    </a:lnTo>
                    <a:lnTo>
                      <a:pt x="4209923" y="0"/>
                    </a:lnTo>
                    <a:lnTo>
                      <a:pt x="4228641" y="3790"/>
                    </a:lnTo>
                    <a:lnTo>
                      <a:pt x="4243943" y="14128"/>
                    </a:lnTo>
                    <a:lnTo>
                      <a:pt x="4254267" y="29467"/>
                    </a:lnTo>
                    <a:lnTo>
                      <a:pt x="4258056" y="48259"/>
                    </a:lnTo>
                    <a:lnTo>
                      <a:pt x="4258056" y="1788032"/>
                    </a:lnTo>
                    <a:lnTo>
                      <a:pt x="4254267" y="1806793"/>
                    </a:lnTo>
                    <a:lnTo>
                      <a:pt x="4243943" y="1822113"/>
                    </a:lnTo>
                    <a:lnTo>
                      <a:pt x="4228641" y="1832442"/>
                    </a:lnTo>
                    <a:lnTo>
                      <a:pt x="4209923" y="1836229"/>
                    </a:lnTo>
                    <a:lnTo>
                      <a:pt x="48259" y="1836229"/>
                    </a:lnTo>
                    <a:lnTo>
                      <a:pt x="29467" y="1832442"/>
                    </a:lnTo>
                    <a:lnTo>
                      <a:pt x="14128" y="1822113"/>
                    </a:lnTo>
                    <a:lnTo>
                      <a:pt x="3790" y="1806793"/>
                    </a:lnTo>
                    <a:lnTo>
                      <a:pt x="0" y="1788032"/>
                    </a:lnTo>
                    <a:lnTo>
                      <a:pt x="0" y="48259"/>
                    </a:lnTo>
                    <a:close/>
                  </a:path>
                </a:pathLst>
              </a:custGeom>
              <a:solidFill>
                <a:schemeClr val="bg2"/>
              </a:solidFill>
              <a:ln w="28574">
                <a:solidFill>
                  <a:srgbClr val="000000"/>
                </a:solidFill>
              </a:ln>
            </p:spPr>
            <p:txBody>
              <a:bodyPr wrap="square" lIns="0" tIns="0" rIns="0" bIns="0" rtlCol="0"/>
              <a:lstStyle/>
              <a:p>
                <a:endParaRPr/>
              </a:p>
            </p:txBody>
          </p:sp>
          <p:grpSp>
            <p:nvGrpSpPr>
              <p:cNvPr id="37" name="object 37">
                <a:extLst>
                  <a:ext uri="{FF2B5EF4-FFF2-40B4-BE49-F238E27FC236}">
                    <a16:creationId xmlns:a16="http://schemas.microsoft.com/office/drawing/2014/main" id="{90B27065-82D9-0F2E-F61F-AE17CFC81EBE}"/>
                  </a:ext>
                </a:extLst>
              </p:cNvPr>
              <p:cNvGrpSpPr/>
              <p:nvPr/>
            </p:nvGrpSpPr>
            <p:grpSpPr>
              <a:xfrm>
                <a:off x="6596669" y="4298060"/>
                <a:ext cx="4165439" cy="326390"/>
                <a:chOff x="6596669" y="4298060"/>
                <a:chExt cx="4165439" cy="326390"/>
              </a:xfrm>
            </p:grpSpPr>
            <p:sp>
              <p:nvSpPr>
                <p:cNvPr id="38" name="object 38">
                  <a:extLst>
                    <a:ext uri="{FF2B5EF4-FFF2-40B4-BE49-F238E27FC236}">
                      <a16:creationId xmlns:a16="http://schemas.microsoft.com/office/drawing/2014/main" id="{7D92DDD7-1E0C-2FAA-4FD7-DC4FA03C2C5E}"/>
                    </a:ext>
                  </a:extLst>
                </p:cNvPr>
                <p:cNvSpPr/>
                <p:nvPr/>
              </p:nvSpPr>
              <p:spPr>
                <a:xfrm>
                  <a:off x="6596669" y="4298060"/>
                  <a:ext cx="4165439" cy="326390"/>
                </a:xfrm>
                <a:custGeom>
                  <a:avLst/>
                  <a:gdLst/>
                  <a:ahLst/>
                  <a:cxnLst/>
                  <a:rect l="l" t="t" r="r" b="b"/>
                  <a:pathLst>
                    <a:path w="2494279" h="326389">
                      <a:moveTo>
                        <a:pt x="2401697" y="0"/>
                      </a:moveTo>
                      <a:lnTo>
                        <a:pt x="92455" y="0"/>
                      </a:lnTo>
                      <a:lnTo>
                        <a:pt x="56471" y="7266"/>
                      </a:lnTo>
                      <a:lnTo>
                        <a:pt x="27082" y="27082"/>
                      </a:lnTo>
                      <a:lnTo>
                        <a:pt x="7266" y="56471"/>
                      </a:lnTo>
                      <a:lnTo>
                        <a:pt x="0" y="92456"/>
                      </a:lnTo>
                      <a:lnTo>
                        <a:pt x="0" y="233806"/>
                      </a:lnTo>
                      <a:lnTo>
                        <a:pt x="7266" y="269791"/>
                      </a:lnTo>
                      <a:lnTo>
                        <a:pt x="27082" y="299180"/>
                      </a:lnTo>
                      <a:lnTo>
                        <a:pt x="56471" y="318996"/>
                      </a:lnTo>
                      <a:lnTo>
                        <a:pt x="92455" y="326263"/>
                      </a:lnTo>
                      <a:lnTo>
                        <a:pt x="2401697" y="326263"/>
                      </a:lnTo>
                      <a:lnTo>
                        <a:pt x="2437735" y="318996"/>
                      </a:lnTo>
                      <a:lnTo>
                        <a:pt x="2467117" y="299180"/>
                      </a:lnTo>
                      <a:lnTo>
                        <a:pt x="2486904" y="269791"/>
                      </a:lnTo>
                      <a:lnTo>
                        <a:pt x="2494153" y="233806"/>
                      </a:lnTo>
                      <a:lnTo>
                        <a:pt x="2494153" y="92456"/>
                      </a:lnTo>
                      <a:lnTo>
                        <a:pt x="2486904" y="56471"/>
                      </a:lnTo>
                      <a:lnTo>
                        <a:pt x="2467117" y="27082"/>
                      </a:lnTo>
                      <a:lnTo>
                        <a:pt x="2437735" y="7266"/>
                      </a:lnTo>
                      <a:lnTo>
                        <a:pt x="2401697" y="0"/>
                      </a:lnTo>
                      <a:close/>
                    </a:path>
                  </a:pathLst>
                </a:custGeom>
                <a:solidFill>
                  <a:srgbClr val="F1F1F1"/>
                </a:solidFill>
              </p:spPr>
              <p:txBody>
                <a:bodyPr wrap="square" lIns="0" tIns="0" rIns="0" bIns="0" rtlCol="0"/>
                <a:lstStyle/>
                <a:p>
                  <a:endParaRPr dirty="0"/>
                </a:p>
              </p:txBody>
            </p:sp>
            <p:sp>
              <p:nvSpPr>
                <p:cNvPr id="39" name="object 39">
                  <a:extLst>
                    <a:ext uri="{FF2B5EF4-FFF2-40B4-BE49-F238E27FC236}">
                      <a16:creationId xmlns:a16="http://schemas.microsoft.com/office/drawing/2014/main" id="{BAA5E200-7B6E-95E5-F058-404BF0B5FB24}"/>
                    </a:ext>
                  </a:extLst>
                </p:cNvPr>
                <p:cNvSpPr/>
                <p:nvPr/>
              </p:nvSpPr>
              <p:spPr>
                <a:xfrm>
                  <a:off x="6733313" y="4298060"/>
                  <a:ext cx="4028795" cy="326390"/>
                </a:xfrm>
                <a:custGeom>
                  <a:avLst/>
                  <a:gdLst/>
                  <a:ahLst/>
                  <a:cxnLst/>
                  <a:rect l="l" t="t" r="r" b="b"/>
                  <a:pathLst>
                    <a:path w="2494279" h="326389">
                      <a:moveTo>
                        <a:pt x="0" y="92456"/>
                      </a:moveTo>
                      <a:lnTo>
                        <a:pt x="7266" y="56471"/>
                      </a:lnTo>
                      <a:lnTo>
                        <a:pt x="27082" y="27082"/>
                      </a:lnTo>
                      <a:lnTo>
                        <a:pt x="56471" y="7266"/>
                      </a:lnTo>
                      <a:lnTo>
                        <a:pt x="92455" y="0"/>
                      </a:lnTo>
                      <a:lnTo>
                        <a:pt x="2401697" y="0"/>
                      </a:lnTo>
                      <a:lnTo>
                        <a:pt x="2437735" y="7266"/>
                      </a:lnTo>
                      <a:lnTo>
                        <a:pt x="2467117" y="27082"/>
                      </a:lnTo>
                      <a:lnTo>
                        <a:pt x="2486904" y="56471"/>
                      </a:lnTo>
                      <a:lnTo>
                        <a:pt x="2494153" y="92456"/>
                      </a:lnTo>
                      <a:lnTo>
                        <a:pt x="2494153" y="233806"/>
                      </a:lnTo>
                      <a:lnTo>
                        <a:pt x="2486904" y="269791"/>
                      </a:lnTo>
                      <a:lnTo>
                        <a:pt x="2467117" y="299180"/>
                      </a:lnTo>
                      <a:lnTo>
                        <a:pt x="2437735" y="318996"/>
                      </a:lnTo>
                      <a:lnTo>
                        <a:pt x="2401697" y="326263"/>
                      </a:lnTo>
                      <a:lnTo>
                        <a:pt x="92455" y="326263"/>
                      </a:lnTo>
                      <a:lnTo>
                        <a:pt x="56471" y="318996"/>
                      </a:lnTo>
                      <a:lnTo>
                        <a:pt x="27082" y="299180"/>
                      </a:lnTo>
                      <a:lnTo>
                        <a:pt x="7266" y="269791"/>
                      </a:lnTo>
                      <a:lnTo>
                        <a:pt x="0" y="233806"/>
                      </a:lnTo>
                      <a:lnTo>
                        <a:pt x="0" y="92456"/>
                      </a:lnTo>
                      <a:close/>
                    </a:path>
                  </a:pathLst>
                </a:custGeom>
                <a:ln w="28575">
                  <a:solidFill>
                    <a:srgbClr val="000000"/>
                  </a:solidFill>
                </a:ln>
              </p:spPr>
              <p:txBody>
                <a:bodyPr wrap="square" lIns="0" tIns="0" rIns="0" bIns="0" rtlCol="0"/>
                <a:lstStyle/>
                <a:p>
                  <a:endParaRPr/>
                </a:p>
              </p:txBody>
            </p:sp>
          </p:grpSp>
        </p:grpSp>
        <p:sp>
          <p:nvSpPr>
            <p:cNvPr id="40" name="object 40">
              <a:extLst>
                <a:ext uri="{FF2B5EF4-FFF2-40B4-BE49-F238E27FC236}">
                  <a16:creationId xmlns:a16="http://schemas.microsoft.com/office/drawing/2014/main" id="{B758009C-600C-5E5F-59F1-A71931540DA4}"/>
                </a:ext>
              </a:extLst>
            </p:cNvPr>
            <p:cNvSpPr txBox="1"/>
            <p:nvPr/>
          </p:nvSpPr>
          <p:spPr>
            <a:xfrm>
              <a:off x="6748898" y="3332256"/>
              <a:ext cx="3964763" cy="111396"/>
            </a:xfrm>
            <a:prstGeom prst="rect">
              <a:avLst/>
            </a:prstGeom>
          </p:spPr>
          <p:txBody>
            <a:bodyPr vert="horz" wrap="square" lIns="0" tIns="0" rIns="0" bIns="0" rtlCol="0">
              <a:spAutoFit/>
            </a:bodyPr>
            <a:lstStyle/>
            <a:p>
              <a:pPr marL="180975">
                <a:lnSpc>
                  <a:spcPts val="975"/>
                </a:lnSpc>
              </a:pPr>
              <a:r>
                <a:rPr sz="1600" b="1" dirty="0">
                  <a:latin typeface="Calibri"/>
                  <a:cs typeface="Calibri"/>
                </a:rPr>
                <a:t>Innovation</a:t>
              </a:r>
              <a:r>
                <a:rPr sz="1600" b="1" spc="-20" dirty="0">
                  <a:latin typeface="Calibri"/>
                  <a:cs typeface="Calibri"/>
                </a:rPr>
                <a:t> </a:t>
              </a:r>
              <a:r>
                <a:rPr sz="1600" b="1" dirty="0">
                  <a:latin typeface="Calibri"/>
                  <a:cs typeface="Calibri"/>
                </a:rPr>
                <a:t>&amp;</a:t>
              </a:r>
              <a:r>
                <a:rPr sz="1600" b="1" spc="-35" dirty="0">
                  <a:latin typeface="Calibri"/>
                  <a:cs typeface="Calibri"/>
                </a:rPr>
                <a:t> </a:t>
              </a:r>
              <a:r>
                <a:rPr sz="1600" b="1" spc="-10" dirty="0">
                  <a:latin typeface="Calibri"/>
                  <a:cs typeface="Calibri"/>
                </a:rPr>
                <a:t>Uniqueness</a:t>
              </a:r>
              <a:endParaRPr sz="1600" dirty="0">
                <a:latin typeface="Calibri"/>
                <a:cs typeface="Calibri"/>
              </a:endParaRPr>
            </a:p>
          </p:txBody>
        </p:sp>
      </p:grpSp>
      <p:sp>
        <p:nvSpPr>
          <p:cNvPr id="43" name="object 43">
            <a:extLst>
              <a:ext uri="{FF2B5EF4-FFF2-40B4-BE49-F238E27FC236}">
                <a16:creationId xmlns:a16="http://schemas.microsoft.com/office/drawing/2014/main" id="{2535DC4A-0DC7-AD0C-F85F-091EE468EF3D}"/>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2</a:t>
            </a:fld>
            <a:endParaRPr spc="-50" dirty="0"/>
          </a:p>
        </p:txBody>
      </p:sp>
      <p:grpSp>
        <p:nvGrpSpPr>
          <p:cNvPr id="56" name="Group 55">
            <a:extLst>
              <a:ext uri="{FF2B5EF4-FFF2-40B4-BE49-F238E27FC236}">
                <a16:creationId xmlns:a16="http://schemas.microsoft.com/office/drawing/2014/main" id="{33269076-596D-2943-B8B5-1ED3F4D71A9F}"/>
              </a:ext>
            </a:extLst>
          </p:cNvPr>
          <p:cNvGrpSpPr/>
          <p:nvPr/>
        </p:nvGrpSpPr>
        <p:grpSpPr>
          <a:xfrm>
            <a:off x="247869" y="597819"/>
            <a:ext cx="7219731" cy="3286527"/>
            <a:chOff x="247870" y="679132"/>
            <a:chExt cx="3808729" cy="2820665"/>
          </a:xfrm>
        </p:grpSpPr>
        <p:sp>
          <p:nvSpPr>
            <p:cNvPr id="11" name="object 11">
              <a:extLst>
                <a:ext uri="{FF2B5EF4-FFF2-40B4-BE49-F238E27FC236}">
                  <a16:creationId xmlns:a16="http://schemas.microsoft.com/office/drawing/2014/main" id="{BAB9197D-E03B-340C-16DC-894AC40C0FCF}"/>
                </a:ext>
              </a:extLst>
            </p:cNvPr>
            <p:cNvSpPr/>
            <p:nvPr/>
          </p:nvSpPr>
          <p:spPr>
            <a:xfrm>
              <a:off x="247870" y="888366"/>
              <a:ext cx="3808729" cy="2611431"/>
            </a:xfrm>
            <a:custGeom>
              <a:avLst/>
              <a:gdLst/>
              <a:ahLst/>
              <a:cxnLst/>
              <a:rect l="l" t="t" r="r" b="b"/>
              <a:pathLst>
                <a:path w="3808729" h="3331210">
                  <a:moveTo>
                    <a:pt x="0" y="60833"/>
                  </a:moveTo>
                  <a:lnTo>
                    <a:pt x="4776" y="37129"/>
                  </a:lnTo>
                  <a:lnTo>
                    <a:pt x="17803" y="17795"/>
                  </a:lnTo>
                  <a:lnTo>
                    <a:pt x="37124" y="4772"/>
                  </a:lnTo>
                  <a:lnTo>
                    <a:pt x="60782" y="0"/>
                  </a:lnTo>
                  <a:lnTo>
                    <a:pt x="3747287" y="0"/>
                  </a:lnTo>
                  <a:lnTo>
                    <a:pt x="3770937" y="4772"/>
                  </a:lnTo>
                  <a:lnTo>
                    <a:pt x="3790276" y="17795"/>
                  </a:lnTo>
                  <a:lnTo>
                    <a:pt x="3803330" y="37129"/>
                  </a:lnTo>
                  <a:lnTo>
                    <a:pt x="3808120" y="60833"/>
                  </a:lnTo>
                  <a:lnTo>
                    <a:pt x="3808120" y="3269996"/>
                  </a:lnTo>
                  <a:lnTo>
                    <a:pt x="3803330" y="3293645"/>
                  </a:lnTo>
                  <a:lnTo>
                    <a:pt x="3790276" y="3312985"/>
                  </a:lnTo>
                  <a:lnTo>
                    <a:pt x="3770937" y="3326038"/>
                  </a:lnTo>
                  <a:lnTo>
                    <a:pt x="3747287" y="3330829"/>
                  </a:lnTo>
                  <a:lnTo>
                    <a:pt x="60782" y="3330829"/>
                  </a:lnTo>
                  <a:lnTo>
                    <a:pt x="37124" y="3326038"/>
                  </a:lnTo>
                  <a:lnTo>
                    <a:pt x="17803" y="3312985"/>
                  </a:lnTo>
                  <a:lnTo>
                    <a:pt x="4776" y="3293645"/>
                  </a:lnTo>
                  <a:lnTo>
                    <a:pt x="0" y="3269996"/>
                  </a:lnTo>
                  <a:lnTo>
                    <a:pt x="0" y="60833"/>
                  </a:lnTo>
                  <a:close/>
                </a:path>
              </a:pathLst>
            </a:custGeom>
            <a:ln w="28575">
              <a:solidFill>
                <a:srgbClr val="000000"/>
              </a:solidFill>
            </a:ln>
          </p:spPr>
          <p:txBody>
            <a:bodyPr wrap="square" lIns="0" tIns="0" rIns="0" bIns="0" rtlCol="0"/>
            <a:lstStyle/>
            <a:p>
              <a:endParaRPr/>
            </a:p>
          </p:txBody>
        </p:sp>
        <p:grpSp>
          <p:nvGrpSpPr>
            <p:cNvPr id="29" name="object 29">
              <a:extLst>
                <a:ext uri="{FF2B5EF4-FFF2-40B4-BE49-F238E27FC236}">
                  <a16:creationId xmlns:a16="http://schemas.microsoft.com/office/drawing/2014/main" id="{1F38FC95-2EE7-6C83-9EC3-517DC1D54849}"/>
                </a:ext>
              </a:extLst>
            </p:cNvPr>
            <p:cNvGrpSpPr/>
            <p:nvPr/>
          </p:nvGrpSpPr>
          <p:grpSpPr>
            <a:xfrm>
              <a:off x="2403919" y="679132"/>
              <a:ext cx="1355090" cy="403225"/>
              <a:chOff x="2403919" y="679132"/>
              <a:chExt cx="1355090" cy="403225"/>
            </a:xfrm>
          </p:grpSpPr>
          <p:sp>
            <p:nvSpPr>
              <p:cNvPr id="30" name="object 30">
                <a:extLst>
                  <a:ext uri="{FF2B5EF4-FFF2-40B4-BE49-F238E27FC236}">
                    <a16:creationId xmlns:a16="http://schemas.microsoft.com/office/drawing/2014/main" id="{C55EF8FF-9A5B-9836-B0C2-65B75A71FAF7}"/>
                  </a:ext>
                </a:extLst>
              </p:cNvPr>
              <p:cNvSpPr/>
              <p:nvPr/>
            </p:nvSpPr>
            <p:spPr>
              <a:xfrm>
                <a:off x="2418207" y="693419"/>
                <a:ext cx="1326515" cy="374650"/>
              </a:xfrm>
              <a:custGeom>
                <a:avLst/>
                <a:gdLst/>
                <a:ahLst/>
                <a:cxnLst/>
                <a:rect l="l" t="t" r="r" b="b"/>
                <a:pathLst>
                  <a:path w="1326514" h="374650">
                    <a:moveTo>
                      <a:pt x="1220216" y="0"/>
                    </a:moveTo>
                    <a:lnTo>
                      <a:pt x="106044" y="0"/>
                    </a:lnTo>
                    <a:lnTo>
                      <a:pt x="64775" y="8336"/>
                    </a:lnTo>
                    <a:lnTo>
                      <a:pt x="31067" y="31067"/>
                    </a:lnTo>
                    <a:lnTo>
                      <a:pt x="8336" y="64775"/>
                    </a:lnTo>
                    <a:lnTo>
                      <a:pt x="0" y="106044"/>
                    </a:lnTo>
                    <a:lnTo>
                      <a:pt x="0" y="268096"/>
                    </a:lnTo>
                    <a:lnTo>
                      <a:pt x="8336" y="309366"/>
                    </a:lnTo>
                    <a:lnTo>
                      <a:pt x="31067" y="343074"/>
                    </a:lnTo>
                    <a:lnTo>
                      <a:pt x="64775" y="365805"/>
                    </a:lnTo>
                    <a:lnTo>
                      <a:pt x="106044" y="374141"/>
                    </a:lnTo>
                    <a:lnTo>
                      <a:pt x="1220216" y="374141"/>
                    </a:lnTo>
                    <a:lnTo>
                      <a:pt x="1261485" y="365805"/>
                    </a:lnTo>
                    <a:lnTo>
                      <a:pt x="1295193" y="343074"/>
                    </a:lnTo>
                    <a:lnTo>
                      <a:pt x="1317924" y="309366"/>
                    </a:lnTo>
                    <a:lnTo>
                      <a:pt x="1326260" y="268096"/>
                    </a:lnTo>
                    <a:lnTo>
                      <a:pt x="1326260" y="106044"/>
                    </a:lnTo>
                    <a:lnTo>
                      <a:pt x="1317924" y="64775"/>
                    </a:lnTo>
                    <a:lnTo>
                      <a:pt x="1295193" y="31067"/>
                    </a:lnTo>
                    <a:lnTo>
                      <a:pt x="1261485" y="8336"/>
                    </a:lnTo>
                    <a:lnTo>
                      <a:pt x="1220216" y="0"/>
                    </a:lnTo>
                    <a:close/>
                  </a:path>
                </a:pathLst>
              </a:custGeom>
              <a:solidFill>
                <a:srgbClr val="F1F1F1"/>
              </a:solidFill>
            </p:spPr>
            <p:txBody>
              <a:bodyPr wrap="square" lIns="0" tIns="0" rIns="0" bIns="0" rtlCol="0"/>
              <a:lstStyle/>
              <a:p>
                <a:endParaRPr dirty="0"/>
              </a:p>
            </p:txBody>
          </p:sp>
          <p:sp>
            <p:nvSpPr>
              <p:cNvPr id="31" name="object 31">
                <a:extLst>
                  <a:ext uri="{FF2B5EF4-FFF2-40B4-BE49-F238E27FC236}">
                    <a16:creationId xmlns:a16="http://schemas.microsoft.com/office/drawing/2014/main" id="{40538468-EB40-3EE7-BFCF-9CD071DD96D8}"/>
                  </a:ext>
                </a:extLst>
              </p:cNvPr>
              <p:cNvSpPr/>
              <p:nvPr/>
            </p:nvSpPr>
            <p:spPr>
              <a:xfrm>
                <a:off x="2418207" y="693419"/>
                <a:ext cx="1326515" cy="374650"/>
              </a:xfrm>
              <a:custGeom>
                <a:avLst/>
                <a:gdLst/>
                <a:ahLst/>
                <a:cxnLst/>
                <a:rect l="l" t="t" r="r" b="b"/>
                <a:pathLst>
                  <a:path w="1326514" h="374650">
                    <a:moveTo>
                      <a:pt x="0" y="106044"/>
                    </a:moveTo>
                    <a:lnTo>
                      <a:pt x="8336" y="64775"/>
                    </a:lnTo>
                    <a:lnTo>
                      <a:pt x="31067" y="31067"/>
                    </a:lnTo>
                    <a:lnTo>
                      <a:pt x="64775" y="8336"/>
                    </a:lnTo>
                    <a:lnTo>
                      <a:pt x="106044" y="0"/>
                    </a:lnTo>
                    <a:lnTo>
                      <a:pt x="1220216" y="0"/>
                    </a:lnTo>
                    <a:lnTo>
                      <a:pt x="1261485" y="8336"/>
                    </a:lnTo>
                    <a:lnTo>
                      <a:pt x="1295193" y="31067"/>
                    </a:lnTo>
                    <a:lnTo>
                      <a:pt x="1317924" y="64775"/>
                    </a:lnTo>
                    <a:lnTo>
                      <a:pt x="1326260" y="106044"/>
                    </a:lnTo>
                    <a:lnTo>
                      <a:pt x="1326260" y="268096"/>
                    </a:lnTo>
                    <a:lnTo>
                      <a:pt x="1317924" y="309366"/>
                    </a:lnTo>
                    <a:lnTo>
                      <a:pt x="1295193" y="343074"/>
                    </a:lnTo>
                    <a:lnTo>
                      <a:pt x="1261485" y="365805"/>
                    </a:lnTo>
                    <a:lnTo>
                      <a:pt x="1220216" y="374141"/>
                    </a:lnTo>
                    <a:lnTo>
                      <a:pt x="106044" y="374141"/>
                    </a:lnTo>
                    <a:lnTo>
                      <a:pt x="64775" y="365805"/>
                    </a:lnTo>
                    <a:lnTo>
                      <a:pt x="31067" y="343074"/>
                    </a:lnTo>
                    <a:lnTo>
                      <a:pt x="8336" y="309366"/>
                    </a:lnTo>
                    <a:lnTo>
                      <a:pt x="0" y="268096"/>
                    </a:lnTo>
                    <a:lnTo>
                      <a:pt x="0" y="106044"/>
                    </a:lnTo>
                    <a:close/>
                  </a:path>
                </a:pathLst>
              </a:custGeom>
              <a:ln w="28575">
                <a:solidFill>
                  <a:srgbClr val="000000"/>
                </a:solidFill>
              </a:ln>
            </p:spPr>
            <p:txBody>
              <a:bodyPr wrap="square" lIns="0" tIns="0" rIns="0" bIns="0" rtlCol="0"/>
              <a:lstStyle/>
              <a:p>
                <a:endParaRPr/>
              </a:p>
            </p:txBody>
          </p:sp>
        </p:grpSp>
        <p:sp>
          <p:nvSpPr>
            <p:cNvPr id="32" name="object 32">
              <a:extLst>
                <a:ext uri="{FF2B5EF4-FFF2-40B4-BE49-F238E27FC236}">
                  <a16:creationId xmlns:a16="http://schemas.microsoft.com/office/drawing/2014/main" id="{D9B1108A-0013-3928-8588-3FF68E88F65F}"/>
                </a:ext>
              </a:extLst>
            </p:cNvPr>
            <p:cNvSpPr txBox="1"/>
            <p:nvPr/>
          </p:nvSpPr>
          <p:spPr>
            <a:xfrm>
              <a:off x="2533014" y="733501"/>
              <a:ext cx="1095375"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Calibri"/>
                  <a:cs typeface="Calibri"/>
                </a:rPr>
                <a:t>Our</a:t>
              </a:r>
              <a:r>
                <a:rPr sz="1600" b="1" spc="-20" dirty="0">
                  <a:latin typeface="Calibri"/>
                  <a:cs typeface="Calibri"/>
                </a:rPr>
                <a:t> </a:t>
              </a:r>
              <a:r>
                <a:rPr lang="en-US" sz="1600" b="1" spc="-10" dirty="0">
                  <a:latin typeface="Calibri"/>
                  <a:cs typeface="Calibri"/>
                </a:rPr>
                <a:t>Problem</a:t>
              </a:r>
              <a:endParaRPr sz="1600" dirty="0">
                <a:latin typeface="Calibri"/>
                <a:cs typeface="Calibri"/>
              </a:endParaRPr>
            </a:p>
          </p:txBody>
        </p:sp>
      </p:grpSp>
      <p:grpSp>
        <p:nvGrpSpPr>
          <p:cNvPr id="55" name="Group 54">
            <a:extLst>
              <a:ext uri="{FF2B5EF4-FFF2-40B4-BE49-F238E27FC236}">
                <a16:creationId xmlns:a16="http://schemas.microsoft.com/office/drawing/2014/main" id="{A6B24D8F-7D7A-02D6-762F-DE2E4BAC2FB1}"/>
              </a:ext>
            </a:extLst>
          </p:cNvPr>
          <p:cNvGrpSpPr/>
          <p:nvPr/>
        </p:nvGrpSpPr>
        <p:grpSpPr>
          <a:xfrm>
            <a:off x="217365" y="3931525"/>
            <a:ext cx="11953750" cy="2838540"/>
            <a:chOff x="4137786" y="715098"/>
            <a:chExt cx="6093587" cy="3804149"/>
          </a:xfrm>
          <a:solidFill>
            <a:schemeClr val="bg1">
              <a:lumMod val="85000"/>
            </a:schemeClr>
          </a:solidFill>
        </p:grpSpPr>
        <p:sp>
          <p:nvSpPr>
            <p:cNvPr id="2" name="object 2">
              <a:extLst>
                <a:ext uri="{FF2B5EF4-FFF2-40B4-BE49-F238E27FC236}">
                  <a16:creationId xmlns:a16="http://schemas.microsoft.com/office/drawing/2014/main" id="{1CC7F33B-C68F-A911-268E-05CD100448CD}"/>
                </a:ext>
              </a:extLst>
            </p:cNvPr>
            <p:cNvSpPr/>
            <p:nvPr/>
          </p:nvSpPr>
          <p:spPr>
            <a:xfrm>
              <a:off x="4137786" y="907161"/>
              <a:ext cx="6093587" cy="3612086"/>
            </a:xfrm>
            <a:custGeom>
              <a:avLst/>
              <a:gdLst/>
              <a:ahLst/>
              <a:cxnLst/>
              <a:rect l="l" t="t" r="r" b="b"/>
              <a:pathLst>
                <a:path w="7799070" h="3331210">
                  <a:moveTo>
                    <a:pt x="0" y="60833"/>
                  </a:moveTo>
                  <a:lnTo>
                    <a:pt x="4790" y="37183"/>
                  </a:lnTo>
                  <a:lnTo>
                    <a:pt x="17843" y="17843"/>
                  </a:lnTo>
                  <a:lnTo>
                    <a:pt x="37183" y="4790"/>
                  </a:lnTo>
                  <a:lnTo>
                    <a:pt x="60833" y="0"/>
                  </a:lnTo>
                  <a:lnTo>
                    <a:pt x="7738109" y="0"/>
                  </a:lnTo>
                  <a:lnTo>
                    <a:pt x="7761739" y="4790"/>
                  </a:lnTo>
                  <a:lnTo>
                    <a:pt x="7781036" y="17843"/>
                  </a:lnTo>
                  <a:lnTo>
                    <a:pt x="7794045" y="37183"/>
                  </a:lnTo>
                  <a:lnTo>
                    <a:pt x="7798815" y="60833"/>
                  </a:lnTo>
                  <a:lnTo>
                    <a:pt x="7798815" y="3269996"/>
                  </a:lnTo>
                  <a:lnTo>
                    <a:pt x="7794045" y="3293699"/>
                  </a:lnTo>
                  <a:lnTo>
                    <a:pt x="7781036" y="3313033"/>
                  </a:lnTo>
                  <a:lnTo>
                    <a:pt x="7761739" y="3326056"/>
                  </a:lnTo>
                  <a:lnTo>
                    <a:pt x="7738109" y="3330829"/>
                  </a:lnTo>
                  <a:lnTo>
                    <a:pt x="60833" y="3330829"/>
                  </a:lnTo>
                  <a:lnTo>
                    <a:pt x="37183" y="3326056"/>
                  </a:lnTo>
                  <a:lnTo>
                    <a:pt x="17843" y="3313033"/>
                  </a:lnTo>
                  <a:lnTo>
                    <a:pt x="4790" y="3293699"/>
                  </a:lnTo>
                  <a:lnTo>
                    <a:pt x="0" y="3269996"/>
                  </a:lnTo>
                  <a:lnTo>
                    <a:pt x="0" y="60833"/>
                  </a:lnTo>
                  <a:close/>
                </a:path>
              </a:pathLst>
            </a:custGeom>
            <a:solidFill>
              <a:srgbClr val="F4F4F6"/>
            </a:solidFill>
            <a:ln w="28575">
              <a:solidFill>
                <a:srgbClr val="0D0D0D"/>
              </a:solidFill>
            </a:ln>
          </p:spPr>
          <p:txBody>
            <a:bodyPr wrap="square" lIns="0" tIns="0" rIns="0" bIns="0" rtlCol="0"/>
            <a:lstStyle/>
            <a:p>
              <a:endParaRPr dirty="0"/>
            </a:p>
          </p:txBody>
        </p:sp>
        <p:grpSp>
          <p:nvGrpSpPr>
            <p:cNvPr id="25" name="object 25">
              <a:extLst>
                <a:ext uri="{FF2B5EF4-FFF2-40B4-BE49-F238E27FC236}">
                  <a16:creationId xmlns:a16="http://schemas.microsoft.com/office/drawing/2014/main" id="{F3ED12FB-F241-F00A-CE52-D0AC0DC60D99}"/>
                </a:ext>
              </a:extLst>
            </p:cNvPr>
            <p:cNvGrpSpPr/>
            <p:nvPr/>
          </p:nvGrpSpPr>
          <p:grpSpPr>
            <a:xfrm>
              <a:off x="4250863" y="715098"/>
              <a:ext cx="1337384" cy="446912"/>
              <a:chOff x="4253610" y="712343"/>
              <a:chExt cx="1656071" cy="374650"/>
            </a:xfrm>
            <a:grpFill/>
          </p:grpSpPr>
          <p:sp>
            <p:nvSpPr>
              <p:cNvPr id="26" name="object 26">
                <a:extLst>
                  <a:ext uri="{FF2B5EF4-FFF2-40B4-BE49-F238E27FC236}">
                    <a16:creationId xmlns:a16="http://schemas.microsoft.com/office/drawing/2014/main" id="{F843CF25-136F-D990-1EE9-98A5C1F5006A}"/>
                  </a:ext>
                </a:extLst>
              </p:cNvPr>
              <p:cNvSpPr/>
              <p:nvPr/>
            </p:nvSpPr>
            <p:spPr>
              <a:xfrm>
                <a:off x="4253610" y="712343"/>
                <a:ext cx="1656071" cy="374650"/>
              </a:xfrm>
              <a:custGeom>
                <a:avLst/>
                <a:gdLst/>
                <a:ahLst/>
                <a:cxnLst/>
                <a:rect l="l" t="t" r="r" b="b"/>
                <a:pathLst>
                  <a:path w="3119754" h="374650">
                    <a:moveTo>
                      <a:pt x="2932430" y="0"/>
                    </a:moveTo>
                    <a:lnTo>
                      <a:pt x="187071" y="0"/>
                    </a:lnTo>
                    <a:lnTo>
                      <a:pt x="137318" y="6686"/>
                    </a:lnTo>
                    <a:lnTo>
                      <a:pt x="92625" y="25555"/>
                    </a:lnTo>
                    <a:lnTo>
                      <a:pt x="54768" y="54816"/>
                    </a:lnTo>
                    <a:lnTo>
                      <a:pt x="25526" y="92681"/>
                    </a:lnTo>
                    <a:lnTo>
                      <a:pt x="6678" y="137362"/>
                    </a:lnTo>
                    <a:lnTo>
                      <a:pt x="0" y="187071"/>
                    </a:lnTo>
                    <a:lnTo>
                      <a:pt x="6696" y="236823"/>
                    </a:lnTo>
                    <a:lnTo>
                      <a:pt x="25570" y="281516"/>
                    </a:lnTo>
                    <a:lnTo>
                      <a:pt x="54830" y="319373"/>
                    </a:lnTo>
                    <a:lnTo>
                      <a:pt x="92692" y="348615"/>
                    </a:lnTo>
                    <a:lnTo>
                      <a:pt x="137384" y="367463"/>
                    </a:lnTo>
                    <a:lnTo>
                      <a:pt x="187071" y="374142"/>
                    </a:lnTo>
                    <a:lnTo>
                      <a:pt x="2932430" y="374142"/>
                    </a:lnTo>
                    <a:lnTo>
                      <a:pt x="2982138" y="367463"/>
                    </a:lnTo>
                    <a:lnTo>
                      <a:pt x="3026819" y="348615"/>
                    </a:lnTo>
                    <a:lnTo>
                      <a:pt x="3064684" y="319373"/>
                    </a:lnTo>
                    <a:lnTo>
                      <a:pt x="3093945" y="281516"/>
                    </a:lnTo>
                    <a:lnTo>
                      <a:pt x="3112814" y="236823"/>
                    </a:lnTo>
                    <a:lnTo>
                      <a:pt x="3119500" y="187071"/>
                    </a:lnTo>
                    <a:lnTo>
                      <a:pt x="3112814" y="137362"/>
                    </a:lnTo>
                    <a:lnTo>
                      <a:pt x="3093945" y="92681"/>
                    </a:lnTo>
                    <a:lnTo>
                      <a:pt x="3064684" y="54816"/>
                    </a:lnTo>
                    <a:lnTo>
                      <a:pt x="3026819" y="25555"/>
                    </a:lnTo>
                    <a:lnTo>
                      <a:pt x="2982138" y="6686"/>
                    </a:lnTo>
                    <a:lnTo>
                      <a:pt x="2932430" y="0"/>
                    </a:lnTo>
                    <a:close/>
                  </a:path>
                </a:pathLst>
              </a:custGeom>
              <a:grpFill/>
            </p:spPr>
            <p:txBody>
              <a:bodyPr wrap="square" lIns="0" tIns="0" rIns="0" bIns="0" rtlCol="0"/>
              <a:lstStyle/>
              <a:p>
                <a:endParaRPr dirty="0"/>
              </a:p>
            </p:txBody>
          </p:sp>
          <p:sp>
            <p:nvSpPr>
              <p:cNvPr id="27" name="object 27">
                <a:extLst>
                  <a:ext uri="{FF2B5EF4-FFF2-40B4-BE49-F238E27FC236}">
                    <a16:creationId xmlns:a16="http://schemas.microsoft.com/office/drawing/2014/main" id="{13F786C5-248F-CB7A-8E8E-210C787EB480}"/>
                  </a:ext>
                </a:extLst>
              </p:cNvPr>
              <p:cNvSpPr/>
              <p:nvPr/>
            </p:nvSpPr>
            <p:spPr>
              <a:xfrm>
                <a:off x="4253610" y="712343"/>
                <a:ext cx="1656071" cy="326728"/>
              </a:xfrm>
              <a:custGeom>
                <a:avLst/>
                <a:gdLst/>
                <a:ahLst/>
                <a:cxnLst/>
                <a:rect l="l" t="t" r="r" b="b"/>
                <a:pathLst>
                  <a:path w="3119754" h="374650">
                    <a:moveTo>
                      <a:pt x="0" y="187071"/>
                    </a:moveTo>
                    <a:lnTo>
                      <a:pt x="6678" y="137362"/>
                    </a:lnTo>
                    <a:lnTo>
                      <a:pt x="25526" y="92681"/>
                    </a:lnTo>
                    <a:lnTo>
                      <a:pt x="54768" y="54816"/>
                    </a:lnTo>
                    <a:lnTo>
                      <a:pt x="92625" y="25555"/>
                    </a:lnTo>
                    <a:lnTo>
                      <a:pt x="137318" y="6686"/>
                    </a:lnTo>
                    <a:lnTo>
                      <a:pt x="187071" y="0"/>
                    </a:lnTo>
                    <a:lnTo>
                      <a:pt x="2932430" y="0"/>
                    </a:lnTo>
                    <a:lnTo>
                      <a:pt x="2982138" y="6686"/>
                    </a:lnTo>
                    <a:lnTo>
                      <a:pt x="3026819" y="25555"/>
                    </a:lnTo>
                    <a:lnTo>
                      <a:pt x="3064684" y="54816"/>
                    </a:lnTo>
                    <a:lnTo>
                      <a:pt x="3093945" y="92681"/>
                    </a:lnTo>
                    <a:lnTo>
                      <a:pt x="3112814" y="137362"/>
                    </a:lnTo>
                    <a:lnTo>
                      <a:pt x="3119500" y="187071"/>
                    </a:lnTo>
                    <a:lnTo>
                      <a:pt x="3112814" y="236823"/>
                    </a:lnTo>
                    <a:lnTo>
                      <a:pt x="3093945" y="281516"/>
                    </a:lnTo>
                    <a:lnTo>
                      <a:pt x="3064684" y="319373"/>
                    </a:lnTo>
                    <a:lnTo>
                      <a:pt x="3026819" y="348615"/>
                    </a:lnTo>
                    <a:lnTo>
                      <a:pt x="2982138" y="367463"/>
                    </a:lnTo>
                    <a:lnTo>
                      <a:pt x="2932430" y="374142"/>
                    </a:lnTo>
                    <a:lnTo>
                      <a:pt x="187071" y="374142"/>
                    </a:lnTo>
                    <a:lnTo>
                      <a:pt x="137318" y="367455"/>
                    </a:lnTo>
                    <a:lnTo>
                      <a:pt x="92625" y="348586"/>
                    </a:lnTo>
                    <a:lnTo>
                      <a:pt x="54768" y="319325"/>
                    </a:lnTo>
                    <a:lnTo>
                      <a:pt x="25526" y="281460"/>
                    </a:lnTo>
                    <a:lnTo>
                      <a:pt x="6678" y="236779"/>
                    </a:lnTo>
                    <a:lnTo>
                      <a:pt x="0" y="187071"/>
                    </a:lnTo>
                    <a:close/>
                  </a:path>
                </a:pathLst>
              </a:custGeom>
              <a:grpFill/>
              <a:ln w="28575">
                <a:solidFill>
                  <a:srgbClr val="000000"/>
                </a:solidFill>
              </a:ln>
            </p:spPr>
            <p:txBody>
              <a:bodyPr wrap="square" lIns="0" tIns="0" rIns="0" bIns="0" rtlCol="0"/>
              <a:lstStyle/>
              <a:p>
                <a:endParaRPr/>
              </a:p>
            </p:txBody>
          </p:sp>
        </p:grpSp>
        <p:sp>
          <p:nvSpPr>
            <p:cNvPr id="28" name="object 28">
              <a:extLst>
                <a:ext uri="{FF2B5EF4-FFF2-40B4-BE49-F238E27FC236}">
                  <a16:creationId xmlns:a16="http://schemas.microsoft.com/office/drawing/2014/main" id="{07336799-9643-791C-1E85-539612E83B25}"/>
                </a:ext>
              </a:extLst>
            </p:cNvPr>
            <p:cNvSpPr txBox="1"/>
            <p:nvPr/>
          </p:nvSpPr>
          <p:spPr>
            <a:xfrm>
              <a:off x="4458052" y="732666"/>
              <a:ext cx="1030826" cy="368970"/>
            </a:xfrm>
            <a:prstGeom prst="rect">
              <a:avLst/>
            </a:prstGeom>
            <a:grpFill/>
          </p:spPr>
          <p:txBody>
            <a:bodyPr vert="horz" wrap="square" lIns="0" tIns="12065" rIns="0" bIns="0" rtlCol="0">
              <a:spAutoFit/>
            </a:bodyPr>
            <a:lstStyle/>
            <a:p>
              <a:pPr marL="12700">
                <a:lnSpc>
                  <a:spcPct val="100000"/>
                </a:lnSpc>
                <a:spcBef>
                  <a:spcPts val="95"/>
                </a:spcBef>
              </a:pPr>
              <a:r>
                <a:rPr lang="en-US" sz="2000" dirty="0">
                  <a:latin typeface="Calibri"/>
                  <a:cs typeface="Calibri"/>
                </a:rPr>
                <a:t>Our Solution</a:t>
              </a:r>
              <a:endParaRPr sz="2000" dirty="0">
                <a:latin typeface="Calibri"/>
                <a:cs typeface="Calibri"/>
              </a:endParaRPr>
            </a:p>
          </p:txBody>
        </p:sp>
      </p:grpSp>
      <p:sp>
        <p:nvSpPr>
          <p:cNvPr id="13" name="Rectangle: Rounded Corners 12">
            <a:extLst>
              <a:ext uri="{FF2B5EF4-FFF2-40B4-BE49-F238E27FC236}">
                <a16:creationId xmlns:a16="http://schemas.microsoft.com/office/drawing/2014/main" id="{38466D75-3132-7946-39B9-EB4F3A2404E4}"/>
              </a:ext>
            </a:extLst>
          </p:cNvPr>
          <p:cNvSpPr/>
          <p:nvPr/>
        </p:nvSpPr>
        <p:spPr>
          <a:xfrm>
            <a:off x="247870" y="91878"/>
            <a:ext cx="1702688" cy="473610"/>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a:solidFill>
                  <a:schemeClr val="accent3"/>
                </a:solidFill>
              </a:rPr>
              <a:t>Neural Nexus</a:t>
            </a:r>
            <a:endParaRPr lang="en-IN" b="1" dirty="0">
              <a:ln/>
              <a:solidFill>
                <a:schemeClr val="accent3"/>
              </a:solidFill>
            </a:endParaRPr>
          </a:p>
        </p:txBody>
      </p:sp>
      <p:pic>
        <p:nvPicPr>
          <p:cNvPr id="4" name="Picture 3">
            <a:extLst>
              <a:ext uri="{FF2B5EF4-FFF2-40B4-BE49-F238E27FC236}">
                <a16:creationId xmlns:a16="http://schemas.microsoft.com/office/drawing/2014/main" id="{96F98421-1CA6-67EA-EF66-8E5007E4D2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69425" y="1"/>
            <a:ext cx="1702688" cy="629190"/>
          </a:xfrm>
          <a:prstGeom prst="rect">
            <a:avLst/>
          </a:prstGeom>
        </p:spPr>
      </p:pic>
      <p:sp>
        <p:nvSpPr>
          <p:cNvPr id="21" name="object 14">
            <a:extLst>
              <a:ext uri="{FF2B5EF4-FFF2-40B4-BE49-F238E27FC236}">
                <a16:creationId xmlns:a16="http://schemas.microsoft.com/office/drawing/2014/main" id="{14FE7B2F-2961-400F-9F49-B278238D0333}"/>
              </a:ext>
            </a:extLst>
          </p:cNvPr>
          <p:cNvSpPr txBox="1"/>
          <p:nvPr/>
        </p:nvSpPr>
        <p:spPr>
          <a:xfrm>
            <a:off x="393012" y="1045237"/>
            <a:ext cx="6929444" cy="2821285"/>
          </a:xfrm>
          <a:prstGeom prst="rect">
            <a:avLst/>
          </a:prstGeom>
          <a:ln>
            <a:noFill/>
          </a:ln>
        </p:spPr>
        <p:txBody>
          <a:bodyPr vert="horz" wrap="square" lIns="0" tIns="12700" rIns="0" bIns="0" rtlCol="0">
            <a:spAutoFit/>
          </a:bodyPr>
          <a:lstStyle/>
          <a:p>
            <a:pPr marL="355600" indent="-342900">
              <a:lnSpc>
                <a:spcPct val="100000"/>
              </a:lnSpc>
              <a:spcBef>
                <a:spcPts val="100"/>
              </a:spcBef>
              <a:buFont typeface="Wingdings" panose="05000000000000000000" pitchFamily="2" charset="2"/>
              <a:buChar char="Ø"/>
              <a:tabLst>
                <a:tab pos="353695" algn="l"/>
              </a:tabLst>
            </a:pPr>
            <a:r>
              <a:rPr lang="en-US" sz="2000" dirty="0"/>
              <a:t>🌿</a:t>
            </a:r>
            <a:r>
              <a:rPr lang="en-US" sz="2000" dirty="0">
                <a:latin typeface="Calibri"/>
                <a:cs typeface="Calibri"/>
              </a:rPr>
              <a:t>India loses 20% of medicinal plant species to illegal wild harvesting annually</a:t>
            </a:r>
          </a:p>
          <a:p>
            <a:pPr marL="355600" indent="-342900">
              <a:lnSpc>
                <a:spcPct val="100000"/>
              </a:lnSpc>
              <a:spcBef>
                <a:spcPts val="100"/>
              </a:spcBef>
              <a:buFont typeface="Wingdings" panose="05000000000000000000" pitchFamily="2" charset="2"/>
              <a:buChar char="Ø"/>
              <a:tabLst>
                <a:tab pos="353695" algn="l"/>
              </a:tabLst>
            </a:pPr>
            <a:r>
              <a:rPr lang="en-US" sz="1800" dirty="0"/>
              <a:t>📍</a:t>
            </a:r>
            <a:r>
              <a:rPr lang="en-US" sz="2000" dirty="0">
                <a:latin typeface="Calibri"/>
                <a:cs typeface="Calibri"/>
              </a:rPr>
              <a:t>No centralized system to track, verify, or monitor rare botanical species</a:t>
            </a:r>
          </a:p>
          <a:p>
            <a:pPr marL="355600" indent="-342900">
              <a:lnSpc>
                <a:spcPct val="100000"/>
              </a:lnSpc>
              <a:spcBef>
                <a:spcPts val="100"/>
              </a:spcBef>
              <a:buFont typeface="Wingdings" panose="05000000000000000000" pitchFamily="2" charset="2"/>
              <a:buChar char="Ø"/>
              <a:tabLst>
                <a:tab pos="353695" algn="l"/>
              </a:tabLst>
            </a:pPr>
            <a:r>
              <a:rPr lang="en-US" sz="2000" b="1" dirty="0">
                <a:latin typeface="+mj-lt"/>
              </a:rPr>
              <a:t>⚖️ </a:t>
            </a:r>
            <a:r>
              <a:rPr lang="en-US" sz="2000" dirty="0">
                <a:latin typeface="+mj-lt"/>
              </a:rPr>
              <a:t>Medicinal-plant sourcing lacks end-to-end traceability, increasing the risk of adulteration and illegal trade</a:t>
            </a:r>
          </a:p>
          <a:p>
            <a:pPr marL="355600" indent="-342900">
              <a:lnSpc>
                <a:spcPct val="100000"/>
              </a:lnSpc>
              <a:spcBef>
                <a:spcPts val="100"/>
              </a:spcBef>
              <a:buFont typeface="Wingdings" panose="05000000000000000000" pitchFamily="2" charset="2"/>
              <a:buChar char="Ø"/>
              <a:tabLst>
                <a:tab pos="353695" algn="l"/>
              </a:tabLst>
            </a:pPr>
            <a:r>
              <a:rPr lang="en-US" sz="2000" dirty="0"/>
              <a:t>🚜 Existing platforms help farmers sell medicinal plants, but do not verify the plant, assess its conservation risk, or track it from source to final batch.</a:t>
            </a:r>
            <a:endParaRPr sz="2000" dirty="0">
              <a:latin typeface="Calibri"/>
              <a:cs typeface="Calibri"/>
            </a:endParaRPr>
          </a:p>
        </p:txBody>
      </p:sp>
      <p:sp>
        <p:nvSpPr>
          <p:cNvPr id="6" name="TextBox 5">
            <a:extLst>
              <a:ext uri="{FF2B5EF4-FFF2-40B4-BE49-F238E27FC236}">
                <a16:creationId xmlns:a16="http://schemas.microsoft.com/office/drawing/2014/main" id="{391A5E5C-6F21-1DA6-76BC-EBF3B016E9A4}"/>
              </a:ext>
            </a:extLst>
          </p:cNvPr>
          <p:cNvSpPr txBox="1"/>
          <p:nvPr/>
        </p:nvSpPr>
        <p:spPr>
          <a:xfrm>
            <a:off x="247869" y="4256444"/>
            <a:ext cx="6096000" cy="2593018"/>
          </a:xfrm>
          <a:prstGeom prst="rect">
            <a:avLst/>
          </a:prstGeom>
          <a:noFill/>
        </p:spPr>
        <p:txBody>
          <a:bodyPr wrap="square">
            <a:spAutoFit/>
          </a:bodyPr>
          <a:lstStyle/>
          <a:p>
            <a:pPr marL="355600" indent="-342900">
              <a:lnSpc>
                <a:spcPct val="100000"/>
              </a:lnSpc>
              <a:spcBef>
                <a:spcPts val="100"/>
              </a:spcBef>
              <a:buFont typeface="Wingdings" panose="05000000000000000000" pitchFamily="2" charset="2"/>
              <a:buChar char="q"/>
              <a:tabLst>
                <a:tab pos="353695" algn="l"/>
              </a:tabLst>
            </a:pPr>
            <a:r>
              <a:rPr lang="en-US" sz="2000" dirty="0"/>
              <a:t>📸AI-assisted plant identification from photo + field data</a:t>
            </a:r>
          </a:p>
          <a:p>
            <a:pPr marL="355600" indent="-342900">
              <a:lnSpc>
                <a:spcPct val="100000"/>
              </a:lnSpc>
              <a:spcBef>
                <a:spcPts val="100"/>
              </a:spcBef>
              <a:buFont typeface="Wingdings" panose="05000000000000000000" pitchFamily="2" charset="2"/>
              <a:buChar char="q"/>
              <a:tabLst>
                <a:tab pos="353695" algn="l"/>
              </a:tabLst>
            </a:pPr>
            <a:r>
              <a:rPr lang="en-US" sz="2000" dirty="0"/>
              <a:t>✅Expert validation converts predictions into verified records</a:t>
            </a:r>
          </a:p>
          <a:p>
            <a:pPr marL="355600" indent="-342900">
              <a:lnSpc>
                <a:spcPct val="100000"/>
              </a:lnSpc>
              <a:spcBef>
                <a:spcPts val="100"/>
              </a:spcBef>
              <a:buFont typeface="Wingdings" panose="05000000000000000000" pitchFamily="2" charset="2"/>
              <a:buChar char="q"/>
              <a:tabLst>
                <a:tab pos="353695" algn="l"/>
              </a:tabLst>
            </a:pPr>
            <a:r>
              <a:rPr lang="en-US" sz="2000" dirty="0"/>
              <a:t>🗺️GIS maps verified observations and analyzes distribution, history and threats</a:t>
            </a:r>
          </a:p>
          <a:p>
            <a:pPr marL="355600" indent="-342900">
              <a:lnSpc>
                <a:spcPct val="100000"/>
              </a:lnSpc>
              <a:spcBef>
                <a:spcPts val="100"/>
              </a:spcBef>
              <a:buFont typeface="Wingdings" panose="05000000000000000000" pitchFamily="2" charset="2"/>
              <a:buChar char="q"/>
              <a:tabLst>
                <a:tab pos="353695" algn="l"/>
              </a:tabLst>
            </a:pPr>
            <a:r>
              <a:rPr lang="en-US" sz="2000" dirty="0"/>
              <a:t>⚠️Conservation-risk assessment prioritizes species for action</a:t>
            </a:r>
            <a:endParaRPr lang="en-US" sz="2000" dirty="0">
              <a:latin typeface="Calibri"/>
              <a:cs typeface="Calibri"/>
            </a:endParaRPr>
          </a:p>
        </p:txBody>
      </p:sp>
      <p:sp>
        <p:nvSpPr>
          <p:cNvPr id="7" name="TextBox 6">
            <a:extLst>
              <a:ext uri="{FF2B5EF4-FFF2-40B4-BE49-F238E27FC236}">
                <a16:creationId xmlns:a16="http://schemas.microsoft.com/office/drawing/2014/main" id="{82C31394-D75B-BB9D-6FA2-18CB3C00C063}"/>
              </a:ext>
            </a:extLst>
          </p:cNvPr>
          <p:cNvSpPr txBox="1"/>
          <p:nvPr/>
        </p:nvSpPr>
        <p:spPr>
          <a:xfrm>
            <a:off x="5996061" y="4168044"/>
            <a:ext cx="6266433" cy="2926442"/>
          </a:xfrm>
          <a:prstGeom prst="rect">
            <a:avLst/>
          </a:prstGeom>
          <a:noFill/>
        </p:spPr>
        <p:txBody>
          <a:bodyPr wrap="square">
            <a:spAutoFit/>
          </a:bodyPr>
          <a:lstStyle/>
          <a:p>
            <a:pPr marL="355600" indent="-342900">
              <a:lnSpc>
                <a:spcPct val="100000"/>
              </a:lnSpc>
              <a:spcBef>
                <a:spcPts val="100"/>
              </a:spcBef>
              <a:buFont typeface="Wingdings" panose="05000000000000000000" pitchFamily="2" charset="2"/>
              <a:buChar char="q"/>
              <a:tabLst>
                <a:tab pos="353695" algn="l"/>
              </a:tabLst>
            </a:pPr>
            <a:r>
              <a:rPr lang="en-US" sz="2000" dirty="0"/>
              <a:t>🔍Normal-risk species → routine monitoring</a:t>
            </a:r>
          </a:p>
          <a:p>
            <a:pPr marL="355600" indent="-342900">
              <a:lnSpc>
                <a:spcPct val="100000"/>
              </a:lnSpc>
              <a:spcBef>
                <a:spcPts val="100"/>
              </a:spcBef>
              <a:buFont typeface="Wingdings" panose="05000000000000000000" pitchFamily="2" charset="2"/>
              <a:buChar char="q"/>
              <a:tabLst>
                <a:tab pos="353695" algn="l"/>
              </a:tabLst>
            </a:pPr>
            <a:r>
              <a:rPr lang="en-US" sz="2000" b="1" dirty="0"/>
              <a:t>🚨Rare/high-risk species </a:t>
            </a:r>
            <a:r>
              <a:rPr lang="en-US" sz="2000" dirty="0"/>
              <a:t>→ conservation &amp; research assessment</a:t>
            </a:r>
          </a:p>
          <a:p>
            <a:pPr marL="355600" indent="-342900">
              <a:lnSpc>
                <a:spcPct val="100000"/>
              </a:lnSpc>
              <a:spcBef>
                <a:spcPts val="100"/>
              </a:spcBef>
              <a:buFont typeface="Wingdings" panose="05000000000000000000" pitchFamily="2" charset="2"/>
              <a:buChar char="q"/>
              <a:tabLst>
                <a:tab pos="353695" algn="l"/>
              </a:tabLst>
            </a:pPr>
            <a:r>
              <a:rPr lang="en-US" sz="2000" dirty="0"/>
              <a:t>🌱Permitted species → propagation and controlled cultivation</a:t>
            </a:r>
          </a:p>
          <a:p>
            <a:pPr marL="355600" indent="-342900">
              <a:lnSpc>
                <a:spcPct val="100000"/>
              </a:lnSpc>
              <a:spcBef>
                <a:spcPts val="100"/>
              </a:spcBef>
              <a:buFont typeface="Wingdings" panose="05000000000000000000" pitchFamily="2" charset="2"/>
              <a:buChar char="q"/>
              <a:tabLst>
                <a:tab pos="353695" algn="l"/>
              </a:tabLst>
            </a:pPr>
            <a:r>
              <a:rPr lang="en-US" sz="2000" dirty="0"/>
              <a:t>🔗Cultivated material → source-to-batch traceability</a:t>
            </a:r>
          </a:p>
          <a:p>
            <a:pPr marL="355600" indent="-342900">
              <a:lnSpc>
                <a:spcPct val="100000"/>
              </a:lnSpc>
              <a:spcBef>
                <a:spcPts val="100"/>
              </a:spcBef>
              <a:buFont typeface="Wingdings" panose="05000000000000000000" pitchFamily="2" charset="2"/>
              <a:buChar char="q"/>
              <a:tabLst>
                <a:tab pos="353695" algn="l"/>
              </a:tabLst>
            </a:pPr>
            <a:r>
              <a:rPr lang="en-US" sz="2000" dirty="0"/>
              <a:t>📦Verified cultivated supply → legitimate sourcing</a:t>
            </a:r>
          </a:p>
          <a:p>
            <a:pPr marL="355600" indent="-342900">
              <a:lnSpc>
                <a:spcPct val="100000"/>
              </a:lnSpc>
              <a:spcBef>
                <a:spcPts val="100"/>
              </a:spcBef>
              <a:buFont typeface="Wingdings" panose="05000000000000000000" pitchFamily="2" charset="2"/>
              <a:buChar char="q"/>
              <a:tabLst>
                <a:tab pos="353695" algn="l"/>
              </a:tabLst>
            </a:pPr>
            <a:endParaRPr lang="en-US" sz="2000" dirty="0">
              <a:latin typeface="Calibri"/>
              <a:cs typeface="Calibri"/>
            </a:endParaRPr>
          </a:p>
        </p:txBody>
      </p:sp>
      <p:sp>
        <p:nvSpPr>
          <p:cNvPr id="9" name="object 24">
            <a:extLst>
              <a:ext uri="{FF2B5EF4-FFF2-40B4-BE49-F238E27FC236}">
                <a16:creationId xmlns:a16="http://schemas.microsoft.com/office/drawing/2014/main" id="{AC691BD9-0EDD-3FF8-D577-022A102BC782}"/>
              </a:ext>
            </a:extLst>
          </p:cNvPr>
          <p:cNvSpPr txBox="1"/>
          <p:nvPr/>
        </p:nvSpPr>
        <p:spPr>
          <a:xfrm>
            <a:off x="7714046" y="1044662"/>
            <a:ext cx="4343270" cy="2721258"/>
          </a:xfrm>
          <a:prstGeom prst="rect">
            <a:avLst/>
          </a:prstGeom>
          <a:solidFill>
            <a:schemeClr val="bg2"/>
          </a:solidFill>
        </p:spPr>
        <p:txBody>
          <a:bodyPr vert="horz" wrap="square" lIns="0" tIns="12700" rIns="0" bIns="0" rtlCol="0">
            <a:spAutoFit/>
          </a:bodyPr>
          <a:lstStyle/>
          <a:p>
            <a:pPr lvl="0"/>
            <a:r>
              <a:rPr lang="en-US" sz="1600" dirty="0"/>
              <a:t>◆ </a:t>
            </a:r>
            <a:r>
              <a:rPr lang="en-US" sz="1600" b="1" dirty="0"/>
              <a:t>Conservation-First AI</a:t>
            </a:r>
            <a:br>
              <a:rPr lang="en-US" sz="1600" dirty="0"/>
            </a:br>
            <a:r>
              <a:rPr lang="en-US" sz="1600" dirty="0" err="1"/>
              <a:t>AI</a:t>
            </a:r>
            <a:r>
              <a:rPr lang="en-US" sz="1600" dirty="0"/>
              <a:t> prediction is validated before conservation decisions </a:t>
            </a:r>
          </a:p>
          <a:p>
            <a:pPr lvl="0"/>
            <a:r>
              <a:rPr lang="en-US" sz="1600" dirty="0"/>
              <a:t>◆ </a:t>
            </a:r>
            <a:r>
              <a:rPr lang="en-US" sz="1600" b="1" dirty="0"/>
              <a:t>Risk-Based Intervention</a:t>
            </a:r>
            <a:br>
              <a:rPr lang="en-US" sz="1600" dirty="0"/>
            </a:br>
            <a:r>
              <a:rPr lang="en-US" sz="1600" dirty="0"/>
              <a:t>GIS + threat data prioritize vulnerable species </a:t>
            </a:r>
          </a:p>
          <a:p>
            <a:pPr lvl="0"/>
            <a:r>
              <a:rPr lang="en-US" sz="1600" dirty="0"/>
              <a:t>◆ </a:t>
            </a:r>
            <a:r>
              <a:rPr lang="en-US" sz="1600" b="1" dirty="0"/>
              <a:t>Conservation-to-Cultivation Model</a:t>
            </a:r>
            <a:br>
              <a:rPr lang="en-US" sz="1600" dirty="0"/>
            </a:br>
            <a:r>
              <a:rPr lang="en-US" sz="1600" dirty="0"/>
              <a:t>Permitted species can shift from wild collection to cultivation </a:t>
            </a:r>
          </a:p>
          <a:p>
            <a:pPr lvl="0"/>
            <a:r>
              <a:rPr lang="en-US" sz="1600" dirty="0"/>
              <a:t>◆ </a:t>
            </a:r>
            <a:r>
              <a:rPr lang="en-US" sz="1600" b="1" dirty="0"/>
              <a:t>Source-to-Batch Traceability</a:t>
            </a:r>
            <a:br>
              <a:rPr lang="en-US" sz="1600" dirty="0"/>
            </a:br>
            <a:r>
              <a:rPr lang="en-US" sz="1600" dirty="0"/>
              <a:t>Cultivated material remains linked to its verified source</a:t>
            </a:r>
          </a:p>
        </p:txBody>
      </p:sp>
    </p:spTree>
    <p:extLst>
      <p:ext uri="{BB962C8B-B14F-4D97-AF65-F5344CB8AC3E}">
        <p14:creationId xmlns:p14="http://schemas.microsoft.com/office/powerpoint/2010/main" val="4046442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4058F36-7047-6D17-E256-75341718DB23}"/>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704BD3F5-09A0-E9C0-4F9C-ECFC6F80EC56}"/>
              </a:ext>
            </a:extLst>
          </p:cNvPr>
          <p:cNvGrpSpPr/>
          <p:nvPr/>
        </p:nvGrpSpPr>
        <p:grpSpPr>
          <a:xfrm>
            <a:off x="163932" y="661125"/>
            <a:ext cx="7608467" cy="5282475"/>
            <a:chOff x="4137786" y="715100"/>
            <a:chExt cx="6093587" cy="3804147"/>
          </a:xfrm>
          <a:solidFill>
            <a:schemeClr val="bg1">
              <a:lumMod val="85000"/>
            </a:schemeClr>
          </a:solidFill>
        </p:grpSpPr>
        <p:sp>
          <p:nvSpPr>
            <p:cNvPr id="9" name="object 2">
              <a:extLst>
                <a:ext uri="{FF2B5EF4-FFF2-40B4-BE49-F238E27FC236}">
                  <a16:creationId xmlns:a16="http://schemas.microsoft.com/office/drawing/2014/main" id="{D23B47A7-320A-7D26-0675-8E9146E52653}"/>
                </a:ext>
              </a:extLst>
            </p:cNvPr>
            <p:cNvSpPr/>
            <p:nvPr/>
          </p:nvSpPr>
          <p:spPr>
            <a:xfrm>
              <a:off x="4137786" y="907161"/>
              <a:ext cx="6093587" cy="3612086"/>
            </a:xfrm>
            <a:custGeom>
              <a:avLst/>
              <a:gdLst/>
              <a:ahLst/>
              <a:cxnLst/>
              <a:rect l="l" t="t" r="r" b="b"/>
              <a:pathLst>
                <a:path w="7799070" h="3331210">
                  <a:moveTo>
                    <a:pt x="0" y="60833"/>
                  </a:moveTo>
                  <a:lnTo>
                    <a:pt x="4790" y="37183"/>
                  </a:lnTo>
                  <a:lnTo>
                    <a:pt x="17843" y="17843"/>
                  </a:lnTo>
                  <a:lnTo>
                    <a:pt x="37183" y="4790"/>
                  </a:lnTo>
                  <a:lnTo>
                    <a:pt x="60833" y="0"/>
                  </a:lnTo>
                  <a:lnTo>
                    <a:pt x="7738109" y="0"/>
                  </a:lnTo>
                  <a:lnTo>
                    <a:pt x="7761739" y="4790"/>
                  </a:lnTo>
                  <a:lnTo>
                    <a:pt x="7781036" y="17843"/>
                  </a:lnTo>
                  <a:lnTo>
                    <a:pt x="7794045" y="37183"/>
                  </a:lnTo>
                  <a:lnTo>
                    <a:pt x="7798815" y="60833"/>
                  </a:lnTo>
                  <a:lnTo>
                    <a:pt x="7798815" y="3269996"/>
                  </a:lnTo>
                  <a:lnTo>
                    <a:pt x="7794045" y="3293699"/>
                  </a:lnTo>
                  <a:lnTo>
                    <a:pt x="7781036" y="3313033"/>
                  </a:lnTo>
                  <a:lnTo>
                    <a:pt x="7761739" y="3326056"/>
                  </a:lnTo>
                  <a:lnTo>
                    <a:pt x="7738109" y="3330829"/>
                  </a:lnTo>
                  <a:lnTo>
                    <a:pt x="60833" y="3330829"/>
                  </a:lnTo>
                  <a:lnTo>
                    <a:pt x="37183" y="3326056"/>
                  </a:lnTo>
                  <a:lnTo>
                    <a:pt x="17843" y="3313033"/>
                  </a:lnTo>
                  <a:lnTo>
                    <a:pt x="4790" y="3293699"/>
                  </a:lnTo>
                  <a:lnTo>
                    <a:pt x="0" y="3269996"/>
                  </a:lnTo>
                  <a:lnTo>
                    <a:pt x="0" y="60833"/>
                  </a:lnTo>
                  <a:close/>
                </a:path>
              </a:pathLst>
            </a:custGeom>
            <a:solidFill>
              <a:srgbClr val="F4F4F6"/>
            </a:solidFill>
            <a:ln w="28575">
              <a:solidFill>
                <a:srgbClr val="0D0D0D"/>
              </a:solidFill>
            </a:ln>
          </p:spPr>
          <p:txBody>
            <a:bodyPr wrap="square" lIns="0" tIns="0" rIns="0" bIns="0" rtlCol="0"/>
            <a:lstStyle/>
            <a:p>
              <a:endParaRPr dirty="0"/>
            </a:p>
          </p:txBody>
        </p:sp>
        <p:grpSp>
          <p:nvGrpSpPr>
            <p:cNvPr id="10" name="object 25">
              <a:extLst>
                <a:ext uri="{FF2B5EF4-FFF2-40B4-BE49-F238E27FC236}">
                  <a16:creationId xmlns:a16="http://schemas.microsoft.com/office/drawing/2014/main" id="{E49A5B83-7458-163D-CDCB-394E4D4F28CE}"/>
                </a:ext>
              </a:extLst>
            </p:cNvPr>
            <p:cNvGrpSpPr/>
            <p:nvPr/>
          </p:nvGrpSpPr>
          <p:grpSpPr>
            <a:xfrm>
              <a:off x="4250862" y="715100"/>
              <a:ext cx="1952646" cy="315864"/>
              <a:chOff x="4253610" y="712344"/>
              <a:chExt cx="2417945" cy="264791"/>
            </a:xfrm>
            <a:grpFill/>
          </p:grpSpPr>
          <p:sp>
            <p:nvSpPr>
              <p:cNvPr id="15" name="object 26">
                <a:extLst>
                  <a:ext uri="{FF2B5EF4-FFF2-40B4-BE49-F238E27FC236}">
                    <a16:creationId xmlns:a16="http://schemas.microsoft.com/office/drawing/2014/main" id="{5E1BD973-CDD7-A4CD-2F65-563143066323}"/>
                  </a:ext>
                </a:extLst>
              </p:cNvPr>
              <p:cNvSpPr/>
              <p:nvPr/>
            </p:nvSpPr>
            <p:spPr>
              <a:xfrm>
                <a:off x="4253610" y="712344"/>
                <a:ext cx="2417945" cy="264791"/>
              </a:xfrm>
              <a:custGeom>
                <a:avLst/>
                <a:gdLst/>
                <a:ahLst/>
                <a:cxnLst/>
                <a:rect l="l" t="t" r="r" b="b"/>
                <a:pathLst>
                  <a:path w="3119754" h="374650">
                    <a:moveTo>
                      <a:pt x="2932430" y="0"/>
                    </a:moveTo>
                    <a:lnTo>
                      <a:pt x="187071" y="0"/>
                    </a:lnTo>
                    <a:lnTo>
                      <a:pt x="137318" y="6686"/>
                    </a:lnTo>
                    <a:lnTo>
                      <a:pt x="92625" y="25555"/>
                    </a:lnTo>
                    <a:lnTo>
                      <a:pt x="54768" y="54816"/>
                    </a:lnTo>
                    <a:lnTo>
                      <a:pt x="25526" y="92681"/>
                    </a:lnTo>
                    <a:lnTo>
                      <a:pt x="6678" y="137362"/>
                    </a:lnTo>
                    <a:lnTo>
                      <a:pt x="0" y="187071"/>
                    </a:lnTo>
                    <a:lnTo>
                      <a:pt x="6696" y="236823"/>
                    </a:lnTo>
                    <a:lnTo>
                      <a:pt x="25570" y="281516"/>
                    </a:lnTo>
                    <a:lnTo>
                      <a:pt x="54830" y="319373"/>
                    </a:lnTo>
                    <a:lnTo>
                      <a:pt x="92692" y="348615"/>
                    </a:lnTo>
                    <a:lnTo>
                      <a:pt x="137384" y="367463"/>
                    </a:lnTo>
                    <a:lnTo>
                      <a:pt x="187071" y="374142"/>
                    </a:lnTo>
                    <a:lnTo>
                      <a:pt x="2932430" y="374142"/>
                    </a:lnTo>
                    <a:lnTo>
                      <a:pt x="2982138" y="367463"/>
                    </a:lnTo>
                    <a:lnTo>
                      <a:pt x="3026819" y="348615"/>
                    </a:lnTo>
                    <a:lnTo>
                      <a:pt x="3064684" y="319373"/>
                    </a:lnTo>
                    <a:lnTo>
                      <a:pt x="3093945" y="281516"/>
                    </a:lnTo>
                    <a:lnTo>
                      <a:pt x="3112814" y="236823"/>
                    </a:lnTo>
                    <a:lnTo>
                      <a:pt x="3119500" y="187071"/>
                    </a:lnTo>
                    <a:lnTo>
                      <a:pt x="3112814" y="137362"/>
                    </a:lnTo>
                    <a:lnTo>
                      <a:pt x="3093945" y="92681"/>
                    </a:lnTo>
                    <a:lnTo>
                      <a:pt x="3064684" y="54816"/>
                    </a:lnTo>
                    <a:lnTo>
                      <a:pt x="3026819" y="25555"/>
                    </a:lnTo>
                    <a:lnTo>
                      <a:pt x="2982138" y="6686"/>
                    </a:lnTo>
                    <a:lnTo>
                      <a:pt x="2932430" y="0"/>
                    </a:lnTo>
                    <a:close/>
                  </a:path>
                </a:pathLst>
              </a:custGeom>
              <a:grpFill/>
            </p:spPr>
            <p:txBody>
              <a:bodyPr wrap="square" lIns="0" tIns="0" rIns="0" bIns="0" rtlCol="0"/>
              <a:lstStyle/>
              <a:p>
                <a:endParaRPr dirty="0"/>
              </a:p>
            </p:txBody>
          </p:sp>
          <p:sp>
            <p:nvSpPr>
              <p:cNvPr id="16" name="object 27">
                <a:extLst>
                  <a:ext uri="{FF2B5EF4-FFF2-40B4-BE49-F238E27FC236}">
                    <a16:creationId xmlns:a16="http://schemas.microsoft.com/office/drawing/2014/main" id="{320133E3-6956-D413-01FB-859E1F3203C5}"/>
                  </a:ext>
                </a:extLst>
              </p:cNvPr>
              <p:cNvSpPr/>
              <p:nvPr/>
            </p:nvSpPr>
            <p:spPr>
              <a:xfrm>
                <a:off x="4253610" y="712344"/>
                <a:ext cx="2417945" cy="264791"/>
              </a:xfrm>
              <a:custGeom>
                <a:avLst/>
                <a:gdLst/>
                <a:ahLst/>
                <a:cxnLst/>
                <a:rect l="l" t="t" r="r" b="b"/>
                <a:pathLst>
                  <a:path w="3119754" h="374650">
                    <a:moveTo>
                      <a:pt x="0" y="187071"/>
                    </a:moveTo>
                    <a:lnTo>
                      <a:pt x="6678" y="137362"/>
                    </a:lnTo>
                    <a:lnTo>
                      <a:pt x="25526" y="92681"/>
                    </a:lnTo>
                    <a:lnTo>
                      <a:pt x="54768" y="54816"/>
                    </a:lnTo>
                    <a:lnTo>
                      <a:pt x="92625" y="25555"/>
                    </a:lnTo>
                    <a:lnTo>
                      <a:pt x="137318" y="6686"/>
                    </a:lnTo>
                    <a:lnTo>
                      <a:pt x="187071" y="0"/>
                    </a:lnTo>
                    <a:lnTo>
                      <a:pt x="2932430" y="0"/>
                    </a:lnTo>
                    <a:lnTo>
                      <a:pt x="2982138" y="6686"/>
                    </a:lnTo>
                    <a:lnTo>
                      <a:pt x="3026819" y="25555"/>
                    </a:lnTo>
                    <a:lnTo>
                      <a:pt x="3064684" y="54816"/>
                    </a:lnTo>
                    <a:lnTo>
                      <a:pt x="3093945" y="92681"/>
                    </a:lnTo>
                    <a:lnTo>
                      <a:pt x="3112814" y="137362"/>
                    </a:lnTo>
                    <a:lnTo>
                      <a:pt x="3119500" y="187071"/>
                    </a:lnTo>
                    <a:lnTo>
                      <a:pt x="3112814" y="236823"/>
                    </a:lnTo>
                    <a:lnTo>
                      <a:pt x="3093945" y="281516"/>
                    </a:lnTo>
                    <a:lnTo>
                      <a:pt x="3064684" y="319373"/>
                    </a:lnTo>
                    <a:lnTo>
                      <a:pt x="3026819" y="348615"/>
                    </a:lnTo>
                    <a:lnTo>
                      <a:pt x="2982138" y="367463"/>
                    </a:lnTo>
                    <a:lnTo>
                      <a:pt x="2932430" y="374142"/>
                    </a:lnTo>
                    <a:lnTo>
                      <a:pt x="187071" y="374142"/>
                    </a:lnTo>
                    <a:lnTo>
                      <a:pt x="137318" y="367455"/>
                    </a:lnTo>
                    <a:lnTo>
                      <a:pt x="92625" y="348586"/>
                    </a:lnTo>
                    <a:lnTo>
                      <a:pt x="54768" y="319325"/>
                    </a:lnTo>
                    <a:lnTo>
                      <a:pt x="25526" y="281460"/>
                    </a:lnTo>
                    <a:lnTo>
                      <a:pt x="6678" y="236779"/>
                    </a:lnTo>
                    <a:lnTo>
                      <a:pt x="0" y="187071"/>
                    </a:lnTo>
                    <a:close/>
                  </a:path>
                </a:pathLst>
              </a:custGeom>
              <a:grpFill/>
              <a:ln w="28575">
                <a:solidFill>
                  <a:srgbClr val="000000"/>
                </a:solidFill>
              </a:ln>
            </p:spPr>
            <p:txBody>
              <a:bodyPr wrap="square" lIns="0" tIns="0" rIns="0" bIns="0" rtlCol="0"/>
              <a:lstStyle/>
              <a:p>
                <a:endParaRPr/>
              </a:p>
            </p:txBody>
          </p:sp>
        </p:grpSp>
        <p:sp>
          <p:nvSpPr>
            <p:cNvPr id="13" name="object 28">
              <a:extLst>
                <a:ext uri="{FF2B5EF4-FFF2-40B4-BE49-F238E27FC236}">
                  <a16:creationId xmlns:a16="http://schemas.microsoft.com/office/drawing/2014/main" id="{2E25D1B7-848D-19EC-71E2-CD0210D964FE}"/>
                </a:ext>
              </a:extLst>
            </p:cNvPr>
            <p:cNvSpPr txBox="1"/>
            <p:nvPr/>
          </p:nvSpPr>
          <p:spPr>
            <a:xfrm>
              <a:off x="4440388" y="768462"/>
              <a:ext cx="1573595" cy="209140"/>
            </a:xfrm>
            <a:prstGeom prst="rect">
              <a:avLst/>
            </a:prstGeom>
            <a:grpFill/>
          </p:spPr>
          <p:txBody>
            <a:bodyPr vert="horz" wrap="square" lIns="0" tIns="12065" rIns="0" bIns="0" rtlCol="0">
              <a:spAutoFit/>
            </a:bodyPr>
            <a:lstStyle/>
            <a:p>
              <a:pPr marL="12700">
                <a:lnSpc>
                  <a:spcPct val="100000"/>
                </a:lnSpc>
                <a:spcBef>
                  <a:spcPts val="95"/>
                </a:spcBef>
              </a:pPr>
              <a:r>
                <a:rPr lang="en-US" sz="2000" b="1" dirty="0">
                  <a:latin typeface="Calibri"/>
                  <a:cs typeface="Calibri"/>
                </a:rPr>
                <a:t>C</a:t>
              </a:r>
              <a:r>
                <a:rPr lang="en-IN" sz="2000" b="1" dirty="0" err="1">
                  <a:latin typeface="Calibri"/>
                  <a:cs typeface="Calibri"/>
                </a:rPr>
                <a:t>entral</a:t>
              </a:r>
              <a:r>
                <a:rPr lang="en-IN" sz="2000" b="1" dirty="0">
                  <a:latin typeface="Calibri"/>
                  <a:cs typeface="Calibri"/>
                </a:rPr>
                <a:t> Workflow</a:t>
              </a:r>
              <a:endParaRPr sz="2000" dirty="0">
                <a:latin typeface="Calibri"/>
                <a:cs typeface="Calibri"/>
              </a:endParaRPr>
            </a:p>
          </p:txBody>
        </p:sp>
      </p:grpSp>
      <p:sp>
        <p:nvSpPr>
          <p:cNvPr id="11" name="object 11" descr="$PPTXTitle">
            <a:extLst>
              <a:ext uri="{FF2B5EF4-FFF2-40B4-BE49-F238E27FC236}">
                <a16:creationId xmlns:a16="http://schemas.microsoft.com/office/drawing/2014/main" id="{05770D3F-1044-3BBC-C105-F421B8842653}"/>
              </a:ext>
            </a:extLst>
          </p:cNvPr>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TECHNICAL</a:t>
            </a:r>
            <a:r>
              <a:rPr spc="-40" dirty="0"/>
              <a:t> </a:t>
            </a:r>
            <a:r>
              <a:rPr spc="-10" dirty="0"/>
              <a:t>APPROACH</a:t>
            </a:r>
          </a:p>
        </p:txBody>
      </p:sp>
      <p:grpSp>
        <p:nvGrpSpPr>
          <p:cNvPr id="48" name="Group 47">
            <a:extLst>
              <a:ext uri="{FF2B5EF4-FFF2-40B4-BE49-F238E27FC236}">
                <a16:creationId xmlns:a16="http://schemas.microsoft.com/office/drawing/2014/main" id="{D19688BD-6F33-6A26-CB9D-CEB8D494FCFA}"/>
              </a:ext>
            </a:extLst>
          </p:cNvPr>
          <p:cNvGrpSpPr/>
          <p:nvPr/>
        </p:nvGrpSpPr>
        <p:grpSpPr>
          <a:xfrm>
            <a:off x="7913586" y="613826"/>
            <a:ext cx="4243333" cy="5710774"/>
            <a:chOff x="7895805" y="1025372"/>
            <a:chExt cx="4280371" cy="5834188"/>
          </a:xfrm>
        </p:grpSpPr>
        <p:grpSp>
          <p:nvGrpSpPr>
            <p:cNvPr id="47" name="Group 46">
              <a:extLst>
                <a:ext uri="{FF2B5EF4-FFF2-40B4-BE49-F238E27FC236}">
                  <a16:creationId xmlns:a16="http://schemas.microsoft.com/office/drawing/2014/main" id="{2031D258-684D-17D9-599F-8E8BE79F4BB8}"/>
                </a:ext>
              </a:extLst>
            </p:cNvPr>
            <p:cNvGrpSpPr/>
            <p:nvPr/>
          </p:nvGrpSpPr>
          <p:grpSpPr>
            <a:xfrm>
              <a:off x="7895805" y="1376934"/>
              <a:ext cx="4280371" cy="5482626"/>
              <a:chOff x="8305800" y="1393806"/>
              <a:chExt cx="3870376" cy="5465367"/>
            </a:xfrm>
          </p:grpSpPr>
          <p:sp>
            <p:nvSpPr>
              <p:cNvPr id="4" name="object 4">
                <a:extLst>
                  <a:ext uri="{FF2B5EF4-FFF2-40B4-BE49-F238E27FC236}">
                    <a16:creationId xmlns:a16="http://schemas.microsoft.com/office/drawing/2014/main" id="{DA22C0D8-1E81-1A90-4F95-D2D3499511C3}"/>
                  </a:ext>
                </a:extLst>
              </p:cNvPr>
              <p:cNvSpPr/>
              <p:nvPr/>
            </p:nvSpPr>
            <p:spPr>
              <a:xfrm>
                <a:off x="8305800" y="1393806"/>
                <a:ext cx="3870376" cy="5465367"/>
              </a:xfrm>
              <a:custGeom>
                <a:avLst/>
                <a:gdLst/>
                <a:ahLst/>
                <a:cxnLst/>
                <a:rect l="l" t="t" r="r" b="b"/>
                <a:pathLst>
                  <a:path w="3350259" h="4524375">
                    <a:moveTo>
                      <a:pt x="0" y="62991"/>
                    </a:moveTo>
                    <a:lnTo>
                      <a:pt x="4968" y="38469"/>
                    </a:lnTo>
                    <a:lnTo>
                      <a:pt x="18510" y="18446"/>
                    </a:lnTo>
                    <a:lnTo>
                      <a:pt x="38576" y="4949"/>
                    </a:lnTo>
                    <a:lnTo>
                      <a:pt x="63119" y="0"/>
                    </a:lnTo>
                    <a:lnTo>
                      <a:pt x="3287014" y="0"/>
                    </a:lnTo>
                    <a:lnTo>
                      <a:pt x="3311536" y="4949"/>
                    </a:lnTo>
                    <a:lnTo>
                      <a:pt x="3331559" y="18446"/>
                    </a:lnTo>
                    <a:lnTo>
                      <a:pt x="3345056" y="38469"/>
                    </a:lnTo>
                    <a:lnTo>
                      <a:pt x="3350005" y="62991"/>
                    </a:lnTo>
                    <a:lnTo>
                      <a:pt x="3350005" y="4460836"/>
                    </a:lnTo>
                    <a:lnTo>
                      <a:pt x="3345056" y="4485369"/>
                    </a:lnTo>
                    <a:lnTo>
                      <a:pt x="3331559" y="4505399"/>
                    </a:lnTo>
                    <a:lnTo>
                      <a:pt x="3311536" y="4518903"/>
                    </a:lnTo>
                    <a:lnTo>
                      <a:pt x="3287014" y="4523854"/>
                    </a:lnTo>
                    <a:lnTo>
                      <a:pt x="63119" y="4523854"/>
                    </a:lnTo>
                    <a:lnTo>
                      <a:pt x="38576" y="4518903"/>
                    </a:lnTo>
                    <a:lnTo>
                      <a:pt x="18510" y="4505399"/>
                    </a:lnTo>
                    <a:lnTo>
                      <a:pt x="4968" y="4485369"/>
                    </a:lnTo>
                    <a:lnTo>
                      <a:pt x="0" y="4460836"/>
                    </a:lnTo>
                    <a:lnTo>
                      <a:pt x="0" y="62991"/>
                    </a:lnTo>
                    <a:close/>
                  </a:path>
                </a:pathLst>
              </a:custGeom>
              <a:solidFill>
                <a:schemeClr val="accent2">
                  <a:lumMod val="20000"/>
                  <a:lumOff val="80000"/>
                </a:schemeClr>
              </a:solidFill>
              <a:ln w="28575">
                <a:solidFill>
                  <a:srgbClr val="497DBA"/>
                </a:solidFill>
              </a:ln>
            </p:spPr>
            <p:txBody>
              <a:bodyPr wrap="square" lIns="0" tIns="0" rIns="0" bIns="0" rtlCol="0"/>
              <a:lstStyle/>
              <a:p>
                <a:endParaRPr/>
              </a:p>
            </p:txBody>
          </p:sp>
          <p:sp>
            <p:nvSpPr>
              <p:cNvPr id="3" name="object 3">
                <a:extLst>
                  <a:ext uri="{FF2B5EF4-FFF2-40B4-BE49-F238E27FC236}">
                    <a16:creationId xmlns:a16="http://schemas.microsoft.com/office/drawing/2014/main" id="{DB4B03E0-082B-66F5-A3B3-2B5DF391B5F9}"/>
                  </a:ext>
                </a:extLst>
              </p:cNvPr>
              <p:cNvSpPr/>
              <p:nvPr/>
            </p:nvSpPr>
            <p:spPr>
              <a:xfrm>
                <a:off x="8402273" y="1610264"/>
                <a:ext cx="3677429" cy="5136465"/>
              </a:xfrm>
              <a:custGeom>
                <a:avLst/>
                <a:gdLst/>
                <a:ahLst/>
                <a:cxnLst/>
                <a:rect l="l" t="t" r="r" b="b"/>
                <a:pathLst>
                  <a:path w="3350259" h="4524375">
                    <a:moveTo>
                      <a:pt x="3287014" y="0"/>
                    </a:moveTo>
                    <a:lnTo>
                      <a:pt x="63119" y="0"/>
                    </a:lnTo>
                    <a:lnTo>
                      <a:pt x="38576" y="4949"/>
                    </a:lnTo>
                    <a:lnTo>
                      <a:pt x="18510" y="18446"/>
                    </a:lnTo>
                    <a:lnTo>
                      <a:pt x="4968" y="38469"/>
                    </a:lnTo>
                    <a:lnTo>
                      <a:pt x="0" y="62991"/>
                    </a:lnTo>
                    <a:lnTo>
                      <a:pt x="0" y="4460836"/>
                    </a:lnTo>
                    <a:lnTo>
                      <a:pt x="4968" y="4485369"/>
                    </a:lnTo>
                    <a:lnTo>
                      <a:pt x="18510" y="4505399"/>
                    </a:lnTo>
                    <a:lnTo>
                      <a:pt x="38576" y="4518903"/>
                    </a:lnTo>
                    <a:lnTo>
                      <a:pt x="63119" y="4523854"/>
                    </a:lnTo>
                    <a:lnTo>
                      <a:pt x="3287014" y="4523854"/>
                    </a:lnTo>
                    <a:lnTo>
                      <a:pt x="3311536" y="4518903"/>
                    </a:lnTo>
                    <a:lnTo>
                      <a:pt x="3331559" y="4505399"/>
                    </a:lnTo>
                    <a:lnTo>
                      <a:pt x="3345056" y="4485369"/>
                    </a:lnTo>
                    <a:lnTo>
                      <a:pt x="3350005" y="4460836"/>
                    </a:lnTo>
                    <a:lnTo>
                      <a:pt x="3350005" y="62991"/>
                    </a:lnTo>
                    <a:lnTo>
                      <a:pt x="3345056" y="38469"/>
                    </a:lnTo>
                    <a:lnTo>
                      <a:pt x="3331559" y="18446"/>
                    </a:lnTo>
                    <a:lnTo>
                      <a:pt x="3311536" y="4949"/>
                    </a:lnTo>
                    <a:lnTo>
                      <a:pt x="3287014" y="0"/>
                    </a:lnTo>
                    <a:close/>
                  </a:path>
                </a:pathLst>
              </a:custGeom>
              <a:noFill/>
            </p:spPr>
            <p:txBody>
              <a:bodyPr wrap="square" lIns="0" tIns="0" rIns="0" bIns="0" rtlCol="0"/>
              <a:lstStyle/>
              <a:p>
                <a:pPr marL="285750" indent="-285750">
                  <a:buFont typeface="Wingdings" panose="05000000000000000000" pitchFamily="2" charset="2"/>
                  <a:buChar char="v"/>
                </a:pPr>
                <a:r>
                  <a:rPr lang="en-IN" b="1" dirty="0"/>
                  <a:t>Frontend -</a:t>
                </a:r>
              </a:p>
              <a:p>
                <a:r>
                  <a:rPr lang="en-IN" dirty="0"/>
                  <a:t>    Next.js + TypeScript + Tailwind CSS</a:t>
                </a:r>
              </a:p>
              <a:p>
                <a:pPr marL="285750" indent="-285750">
                  <a:buFont typeface="Wingdings" panose="05000000000000000000" pitchFamily="2" charset="2"/>
                  <a:buChar char="v"/>
                </a:pPr>
                <a:endParaRPr lang="en-IN" dirty="0"/>
              </a:p>
              <a:p>
                <a:pPr marL="285750" indent="-285750">
                  <a:buFont typeface="Wingdings" panose="05000000000000000000" pitchFamily="2" charset="2"/>
                  <a:buChar char="v"/>
                </a:pPr>
                <a:r>
                  <a:rPr lang="en-IN" b="1" dirty="0"/>
                  <a:t>Backend - </a:t>
                </a:r>
                <a:r>
                  <a:rPr lang="en-IN" dirty="0" err="1"/>
                  <a:t>FastAPI</a:t>
                </a:r>
                <a:r>
                  <a:rPr lang="en-IN" dirty="0"/>
                  <a:t> + Python</a:t>
                </a:r>
              </a:p>
              <a:p>
                <a:pPr marL="285750" indent="-285750">
                  <a:buFont typeface="Wingdings" panose="05000000000000000000" pitchFamily="2" charset="2"/>
                  <a:buChar char="v"/>
                </a:pPr>
                <a:endParaRPr lang="en-IN" dirty="0"/>
              </a:p>
              <a:p>
                <a:pPr marL="285750" indent="-285750">
                  <a:buFont typeface="Wingdings" panose="05000000000000000000" pitchFamily="2" charset="2"/>
                  <a:buChar char="v"/>
                </a:pPr>
                <a:r>
                  <a:rPr lang="en-IN" b="1" dirty="0"/>
                  <a:t>Database- </a:t>
                </a:r>
                <a:r>
                  <a:rPr lang="en-IN" dirty="0"/>
                  <a:t>PostgreSQL + </a:t>
                </a:r>
                <a:r>
                  <a:rPr lang="en-IN" dirty="0" err="1"/>
                  <a:t>PostGIS</a:t>
                </a:r>
                <a:endParaRPr lang="en-IN" dirty="0"/>
              </a:p>
              <a:p>
                <a:pPr marL="285750" indent="-285750">
                  <a:buFont typeface="Wingdings" panose="05000000000000000000" pitchFamily="2" charset="2"/>
                  <a:buChar char="v"/>
                </a:pPr>
                <a:endParaRPr lang="en-IN" dirty="0"/>
              </a:p>
              <a:p>
                <a:pPr marL="285750" indent="-285750">
                  <a:buFont typeface="Wingdings" panose="05000000000000000000" pitchFamily="2" charset="2"/>
                  <a:buChar char="v"/>
                </a:pPr>
                <a:r>
                  <a:rPr lang="en-IN" b="1" dirty="0"/>
                  <a:t>AI / ML-</a:t>
                </a:r>
              </a:p>
              <a:p>
                <a:r>
                  <a:rPr lang="en-IN" dirty="0"/>
                  <a:t>      </a:t>
                </a:r>
                <a:r>
                  <a:rPr lang="en-IN" dirty="0" err="1"/>
                  <a:t>PyTorch</a:t>
                </a:r>
                <a:r>
                  <a:rPr lang="en-IN" dirty="0"/>
                  <a:t> + </a:t>
                </a:r>
                <a:r>
                  <a:rPr lang="en-IN" dirty="0" err="1"/>
                  <a:t>EfficientNet</a:t>
                </a:r>
                <a:r>
                  <a:rPr lang="en-IN" dirty="0"/>
                  <a:t>/ResNet50 (</a:t>
                </a:r>
                <a:r>
                  <a:rPr lang="en-IN" dirty="0" err="1"/>
                  <a:t>PlantNet</a:t>
                </a:r>
                <a:r>
                  <a:rPr lang="en-IN" dirty="0"/>
                  <a:t> dataset)</a:t>
                </a:r>
              </a:p>
              <a:p>
                <a:pPr marL="285750" indent="-285750">
                  <a:buFont typeface="Wingdings" panose="05000000000000000000" pitchFamily="2" charset="2"/>
                  <a:buChar char="v"/>
                </a:pPr>
                <a:endParaRPr lang="en-IN" dirty="0"/>
              </a:p>
              <a:p>
                <a:pPr marL="285750" indent="-285750">
                  <a:buFont typeface="Wingdings" panose="05000000000000000000" pitchFamily="2" charset="2"/>
                  <a:buChar char="v"/>
                </a:pPr>
                <a:r>
                  <a:rPr lang="en-IN" b="1" dirty="0"/>
                  <a:t>GIS - </a:t>
                </a:r>
                <a:r>
                  <a:rPr lang="en-IN" dirty="0" err="1"/>
                  <a:t>MapLibre</a:t>
                </a:r>
                <a:r>
                  <a:rPr lang="en-IN" dirty="0"/>
                  <a:t> GL JS</a:t>
                </a:r>
              </a:p>
              <a:p>
                <a:endParaRPr lang="en-IN" dirty="0"/>
              </a:p>
              <a:p>
                <a:pPr marL="285750" indent="-285750">
                  <a:buFont typeface="Wingdings" panose="05000000000000000000" pitchFamily="2" charset="2"/>
                  <a:buChar char="v"/>
                </a:pPr>
                <a:r>
                  <a:rPr lang="en-IN" b="1" dirty="0"/>
                  <a:t>Charts - </a:t>
                </a:r>
                <a:r>
                  <a:rPr lang="en-IN" dirty="0"/>
                  <a:t>Recharts</a:t>
                </a:r>
              </a:p>
              <a:p>
                <a:pPr marL="285750" indent="-285750">
                  <a:buFont typeface="Wingdings" panose="05000000000000000000" pitchFamily="2" charset="2"/>
                  <a:buChar char="v"/>
                </a:pPr>
                <a:endParaRPr lang="en-IN" dirty="0"/>
              </a:p>
              <a:p>
                <a:pPr marL="285750" indent="-285750">
                  <a:buFont typeface="Wingdings" panose="05000000000000000000" pitchFamily="2" charset="2"/>
                  <a:buChar char="v"/>
                </a:pPr>
                <a:r>
                  <a:rPr lang="en-IN" b="1" dirty="0"/>
                  <a:t>Authentication - </a:t>
                </a:r>
                <a:r>
                  <a:rPr lang="en-IN" dirty="0"/>
                  <a:t>JWT</a:t>
                </a:r>
              </a:p>
              <a:p>
                <a:pPr marL="285750" indent="-285750">
                  <a:buFont typeface="Wingdings" panose="05000000000000000000" pitchFamily="2" charset="2"/>
                  <a:buChar char="v"/>
                </a:pPr>
                <a:endParaRPr lang="en-IN" dirty="0"/>
              </a:p>
              <a:p>
                <a:pPr marL="285750" indent="-285750">
                  <a:buFont typeface="Wingdings" panose="05000000000000000000" pitchFamily="2" charset="2"/>
                  <a:buChar char="v"/>
                </a:pPr>
                <a:r>
                  <a:rPr lang="en-IN" b="1" dirty="0"/>
                  <a:t>Deployment -</a:t>
                </a:r>
                <a:r>
                  <a:rPr lang="en-IN" dirty="0"/>
                  <a:t>  Docker + Render</a:t>
                </a:r>
              </a:p>
              <a:p>
                <a:pPr marL="285750" indent="-285750">
                  <a:buFont typeface="Wingdings" panose="05000000000000000000" pitchFamily="2" charset="2"/>
                  <a:buChar char="v"/>
                </a:pPr>
                <a:endParaRPr dirty="0"/>
              </a:p>
            </p:txBody>
          </p:sp>
        </p:grpSp>
        <p:grpSp>
          <p:nvGrpSpPr>
            <p:cNvPr id="46" name="Group 45">
              <a:extLst>
                <a:ext uri="{FF2B5EF4-FFF2-40B4-BE49-F238E27FC236}">
                  <a16:creationId xmlns:a16="http://schemas.microsoft.com/office/drawing/2014/main" id="{A9C48B33-379F-ABA5-7FC3-53C45CF28371}"/>
                </a:ext>
              </a:extLst>
            </p:cNvPr>
            <p:cNvGrpSpPr/>
            <p:nvPr/>
          </p:nvGrpSpPr>
          <p:grpSpPr>
            <a:xfrm>
              <a:off x="10231858" y="1025372"/>
              <a:ext cx="1575409" cy="643255"/>
              <a:chOff x="8637549" y="942530"/>
              <a:chExt cx="1575409" cy="643255"/>
            </a:xfrm>
          </p:grpSpPr>
          <p:grpSp>
            <p:nvGrpSpPr>
              <p:cNvPr id="21" name="object 21">
                <a:extLst>
                  <a:ext uri="{FF2B5EF4-FFF2-40B4-BE49-F238E27FC236}">
                    <a16:creationId xmlns:a16="http://schemas.microsoft.com/office/drawing/2014/main" id="{9641F4DA-8395-0422-1DC7-0CED4189F3E4}"/>
                  </a:ext>
                </a:extLst>
              </p:cNvPr>
              <p:cNvGrpSpPr/>
              <p:nvPr/>
            </p:nvGrpSpPr>
            <p:grpSpPr>
              <a:xfrm>
                <a:off x="8637549" y="942530"/>
                <a:ext cx="1575409" cy="643255"/>
                <a:chOff x="8586025" y="942530"/>
                <a:chExt cx="1776095" cy="643255"/>
              </a:xfrm>
            </p:grpSpPr>
            <p:sp>
              <p:nvSpPr>
                <p:cNvPr id="22" name="object 22">
                  <a:extLst>
                    <a:ext uri="{FF2B5EF4-FFF2-40B4-BE49-F238E27FC236}">
                      <a16:creationId xmlns:a16="http://schemas.microsoft.com/office/drawing/2014/main" id="{54936590-803E-5B7C-3D94-3399B39EF9B7}"/>
                    </a:ext>
                  </a:extLst>
                </p:cNvPr>
                <p:cNvSpPr/>
                <p:nvPr/>
              </p:nvSpPr>
              <p:spPr>
                <a:xfrm>
                  <a:off x="8600313" y="956817"/>
                  <a:ext cx="1747520" cy="614680"/>
                </a:xfrm>
                <a:custGeom>
                  <a:avLst/>
                  <a:gdLst/>
                  <a:ahLst/>
                  <a:cxnLst/>
                  <a:rect l="l" t="t" r="r" b="b"/>
                  <a:pathLst>
                    <a:path w="1747520" h="614680">
                      <a:moveTo>
                        <a:pt x="1573276" y="0"/>
                      </a:moveTo>
                      <a:lnTo>
                        <a:pt x="174116" y="0"/>
                      </a:lnTo>
                      <a:lnTo>
                        <a:pt x="127837" y="6221"/>
                      </a:lnTo>
                      <a:lnTo>
                        <a:pt x="86247" y="23777"/>
                      </a:lnTo>
                      <a:lnTo>
                        <a:pt x="51006" y="51006"/>
                      </a:lnTo>
                      <a:lnTo>
                        <a:pt x="23777" y="86247"/>
                      </a:lnTo>
                      <a:lnTo>
                        <a:pt x="6221" y="127837"/>
                      </a:lnTo>
                      <a:lnTo>
                        <a:pt x="0" y="174117"/>
                      </a:lnTo>
                      <a:lnTo>
                        <a:pt x="0" y="440182"/>
                      </a:lnTo>
                      <a:lnTo>
                        <a:pt x="6221" y="486461"/>
                      </a:lnTo>
                      <a:lnTo>
                        <a:pt x="23777" y="528051"/>
                      </a:lnTo>
                      <a:lnTo>
                        <a:pt x="51006" y="563292"/>
                      </a:lnTo>
                      <a:lnTo>
                        <a:pt x="86247" y="590521"/>
                      </a:lnTo>
                      <a:lnTo>
                        <a:pt x="127837" y="608077"/>
                      </a:lnTo>
                      <a:lnTo>
                        <a:pt x="174116" y="614299"/>
                      </a:lnTo>
                      <a:lnTo>
                        <a:pt x="1573276" y="614299"/>
                      </a:lnTo>
                      <a:lnTo>
                        <a:pt x="1619599" y="608077"/>
                      </a:lnTo>
                      <a:lnTo>
                        <a:pt x="1661202" y="590521"/>
                      </a:lnTo>
                      <a:lnTo>
                        <a:pt x="1696434" y="563292"/>
                      </a:lnTo>
                      <a:lnTo>
                        <a:pt x="1723643" y="528051"/>
                      </a:lnTo>
                      <a:lnTo>
                        <a:pt x="1741180" y="486461"/>
                      </a:lnTo>
                      <a:lnTo>
                        <a:pt x="1747392" y="440182"/>
                      </a:lnTo>
                      <a:lnTo>
                        <a:pt x="1747392" y="174117"/>
                      </a:lnTo>
                      <a:lnTo>
                        <a:pt x="1741180" y="127837"/>
                      </a:lnTo>
                      <a:lnTo>
                        <a:pt x="1723644" y="86247"/>
                      </a:lnTo>
                      <a:lnTo>
                        <a:pt x="1696434" y="51006"/>
                      </a:lnTo>
                      <a:lnTo>
                        <a:pt x="1661202" y="23777"/>
                      </a:lnTo>
                      <a:lnTo>
                        <a:pt x="1619599" y="6221"/>
                      </a:lnTo>
                      <a:lnTo>
                        <a:pt x="1573276" y="0"/>
                      </a:lnTo>
                      <a:close/>
                    </a:path>
                  </a:pathLst>
                </a:custGeom>
                <a:solidFill>
                  <a:srgbClr val="F1F1F1"/>
                </a:solidFill>
              </p:spPr>
              <p:txBody>
                <a:bodyPr wrap="square" lIns="0" tIns="0" rIns="0" bIns="0" rtlCol="0"/>
                <a:lstStyle/>
                <a:p>
                  <a:endParaRPr/>
                </a:p>
              </p:txBody>
            </p:sp>
            <p:sp>
              <p:nvSpPr>
                <p:cNvPr id="23" name="object 23">
                  <a:extLst>
                    <a:ext uri="{FF2B5EF4-FFF2-40B4-BE49-F238E27FC236}">
                      <a16:creationId xmlns:a16="http://schemas.microsoft.com/office/drawing/2014/main" id="{F884D67F-4C56-291F-7763-DA94DC738E89}"/>
                    </a:ext>
                  </a:extLst>
                </p:cNvPr>
                <p:cNvSpPr/>
                <p:nvPr/>
              </p:nvSpPr>
              <p:spPr>
                <a:xfrm>
                  <a:off x="8600313" y="956817"/>
                  <a:ext cx="1747520" cy="614680"/>
                </a:xfrm>
                <a:custGeom>
                  <a:avLst/>
                  <a:gdLst/>
                  <a:ahLst/>
                  <a:cxnLst/>
                  <a:rect l="l" t="t" r="r" b="b"/>
                  <a:pathLst>
                    <a:path w="1747520" h="614680">
                      <a:moveTo>
                        <a:pt x="0" y="174117"/>
                      </a:moveTo>
                      <a:lnTo>
                        <a:pt x="6221" y="127837"/>
                      </a:lnTo>
                      <a:lnTo>
                        <a:pt x="23777" y="86247"/>
                      </a:lnTo>
                      <a:lnTo>
                        <a:pt x="51006" y="51006"/>
                      </a:lnTo>
                      <a:lnTo>
                        <a:pt x="86247" y="23777"/>
                      </a:lnTo>
                      <a:lnTo>
                        <a:pt x="127837" y="6221"/>
                      </a:lnTo>
                      <a:lnTo>
                        <a:pt x="174116" y="0"/>
                      </a:lnTo>
                      <a:lnTo>
                        <a:pt x="1573276" y="0"/>
                      </a:lnTo>
                      <a:lnTo>
                        <a:pt x="1619599" y="6221"/>
                      </a:lnTo>
                      <a:lnTo>
                        <a:pt x="1661202" y="23777"/>
                      </a:lnTo>
                      <a:lnTo>
                        <a:pt x="1696434" y="51006"/>
                      </a:lnTo>
                      <a:lnTo>
                        <a:pt x="1723644" y="86247"/>
                      </a:lnTo>
                      <a:lnTo>
                        <a:pt x="1741180" y="127837"/>
                      </a:lnTo>
                      <a:lnTo>
                        <a:pt x="1747392" y="174117"/>
                      </a:lnTo>
                      <a:lnTo>
                        <a:pt x="1747392" y="440182"/>
                      </a:lnTo>
                      <a:lnTo>
                        <a:pt x="1741180" y="486461"/>
                      </a:lnTo>
                      <a:lnTo>
                        <a:pt x="1723643" y="528051"/>
                      </a:lnTo>
                      <a:lnTo>
                        <a:pt x="1696434" y="563292"/>
                      </a:lnTo>
                      <a:lnTo>
                        <a:pt x="1661202" y="590521"/>
                      </a:lnTo>
                      <a:lnTo>
                        <a:pt x="1619599" y="608077"/>
                      </a:lnTo>
                      <a:lnTo>
                        <a:pt x="1573276" y="614299"/>
                      </a:lnTo>
                      <a:lnTo>
                        <a:pt x="174116" y="614299"/>
                      </a:lnTo>
                      <a:lnTo>
                        <a:pt x="127837" y="608077"/>
                      </a:lnTo>
                      <a:lnTo>
                        <a:pt x="86247" y="590521"/>
                      </a:lnTo>
                      <a:lnTo>
                        <a:pt x="51006" y="563292"/>
                      </a:lnTo>
                      <a:lnTo>
                        <a:pt x="23777" y="528051"/>
                      </a:lnTo>
                      <a:lnTo>
                        <a:pt x="6221" y="486461"/>
                      </a:lnTo>
                      <a:lnTo>
                        <a:pt x="0" y="440182"/>
                      </a:lnTo>
                      <a:lnTo>
                        <a:pt x="0" y="174117"/>
                      </a:lnTo>
                      <a:close/>
                    </a:path>
                  </a:pathLst>
                </a:custGeom>
                <a:ln w="28574">
                  <a:solidFill>
                    <a:srgbClr val="006FC0"/>
                  </a:solidFill>
                </a:ln>
              </p:spPr>
              <p:txBody>
                <a:bodyPr wrap="square" lIns="0" tIns="0" rIns="0" bIns="0" rtlCol="0"/>
                <a:lstStyle/>
                <a:p>
                  <a:endParaRPr/>
                </a:p>
              </p:txBody>
            </p:sp>
          </p:grpSp>
          <p:sp>
            <p:nvSpPr>
              <p:cNvPr id="24" name="object 24">
                <a:extLst>
                  <a:ext uri="{FF2B5EF4-FFF2-40B4-BE49-F238E27FC236}">
                    <a16:creationId xmlns:a16="http://schemas.microsoft.com/office/drawing/2014/main" id="{524C112E-D8B0-09B0-0946-02B68CF03683}"/>
                  </a:ext>
                </a:extLst>
              </p:cNvPr>
              <p:cNvSpPr txBox="1"/>
              <p:nvPr/>
            </p:nvSpPr>
            <p:spPr>
              <a:xfrm>
                <a:off x="8735948" y="1048892"/>
                <a:ext cx="1398652" cy="391160"/>
              </a:xfrm>
              <a:prstGeom prst="rect">
                <a:avLst/>
              </a:prstGeom>
            </p:spPr>
            <p:txBody>
              <a:bodyPr vert="horz" wrap="square" lIns="0" tIns="12700" rIns="0" bIns="0" rtlCol="0">
                <a:spAutoFit/>
              </a:bodyPr>
              <a:lstStyle/>
              <a:p>
                <a:pPr marL="12700">
                  <a:lnSpc>
                    <a:spcPct val="100000"/>
                  </a:lnSpc>
                  <a:spcBef>
                    <a:spcPts val="100"/>
                  </a:spcBef>
                </a:pPr>
                <a:r>
                  <a:rPr sz="2400" b="1" spc="-10" dirty="0" err="1">
                    <a:solidFill>
                      <a:srgbClr val="006FC0"/>
                    </a:solidFill>
                    <a:latin typeface="Calibri"/>
                    <a:cs typeface="Calibri"/>
                  </a:rPr>
                  <a:t>Tech</a:t>
                </a:r>
                <a:r>
                  <a:rPr lang="en-US" sz="2400" b="1" spc="-10" dirty="0" err="1">
                    <a:solidFill>
                      <a:srgbClr val="006FC0"/>
                    </a:solidFill>
                    <a:latin typeface="Calibri"/>
                    <a:cs typeface="Calibri"/>
                  </a:rPr>
                  <a:t>stack</a:t>
                </a:r>
                <a:endParaRPr sz="2400" dirty="0">
                  <a:latin typeface="Calibri"/>
                  <a:cs typeface="Calibri"/>
                </a:endParaRPr>
              </a:p>
            </p:txBody>
          </p:sp>
        </p:grpSp>
      </p:grpSp>
      <p:sp>
        <p:nvSpPr>
          <p:cNvPr id="45" name="object 45">
            <a:extLst>
              <a:ext uri="{FF2B5EF4-FFF2-40B4-BE49-F238E27FC236}">
                <a16:creationId xmlns:a16="http://schemas.microsoft.com/office/drawing/2014/main" id="{A8017D3D-9F3A-CFBD-9248-5D3C53D32AFE}"/>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3</a:t>
            </a:fld>
            <a:endParaRPr spc="-50" dirty="0"/>
          </a:p>
        </p:txBody>
      </p:sp>
      <p:sp>
        <p:nvSpPr>
          <p:cNvPr id="12" name="Rectangle: Rounded Corners 11">
            <a:extLst>
              <a:ext uri="{FF2B5EF4-FFF2-40B4-BE49-F238E27FC236}">
                <a16:creationId xmlns:a16="http://schemas.microsoft.com/office/drawing/2014/main" id="{F32614DD-5F6D-6B70-3D54-58B82F8E6786}"/>
              </a:ext>
            </a:extLst>
          </p:cNvPr>
          <p:cNvSpPr/>
          <p:nvPr/>
        </p:nvSpPr>
        <p:spPr>
          <a:xfrm>
            <a:off x="247870" y="138495"/>
            <a:ext cx="1702688" cy="473610"/>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a:solidFill>
                  <a:schemeClr val="accent3"/>
                </a:solidFill>
              </a:rPr>
              <a:t>Neural Nexus</a:t>
            </a:r>
            <a:endParaRPr lang="en-IN" b="1" dirty="0">
              <a:ln/>
              <a:solidFill>
                <a:schemeClr val="accent3"/>
              </a:solidFill>
            </a:endParaRPr>
          </a:p>
        </p:txBody>
      </p:sp>
      <p:pic>
        <p:nvPicPr>
          <p:cNvPr id="5" name="Picture 4">
            <a:extLst>
              <a:ext uri="{FF2B5EF4-FFF2-40B4-BE49-F238E27FC236}">
                <a16:creationId xmlns:a16="http://schemas.microsoft.com/office/drawing/2014/main" id="{BC3EF1E6-FE33-48BD-4298-1DD29C513CF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69424" y="0"/>
            <a:ext cx="1770175" cy="673225"/>
          </a:xfrm>
          <a:prstGeom prst="rect">
            <a:avLst/>
          </a:prstGeom>
        </p:spPr>
      </p:pic>
      <p:pic>
        <p:nvPicPr>
          <p:cNvPr id="7" name="Picture 6" descr="&quot;Flowchart showing HerbNexus central workflow: User observes plant, submits photo with GPS data, AI identifies species with confidence score, expert reviews and either rejects or verifies. Verified records enter GIS database for distribution, historical and threat analysis. Conservation priority is assessed — normal risk plants are archived, rare high-risk plants trigger advanced research, propagation, cultivation, and final conservation action.&quot;">
            <a:extLst>
              <a:ext uri="{FF2B5EF4-FFF2-40B4-BE49-F238E27FC236}">
                <a16:creationId xmlns:a16="http://schemas.microsoft.com/office/drawing/2014/main" id="{407D93FC-377D-B420-553A-C527550DE39D}"/>
              </a:ext>
            </a:extLst>
          </p:cNvPr>
          <p:cNvPicPr>
            <a:picLocks noChangeAspect="1"/>
          </p:cNvPicPr>
          <p:nvPr/>
        </p:nvPicPr>
        <p:blipFill>
          <a:blip r:embed="rId4"/>
          <a:srcRect l="2782" r="3038" b="4288"/>
          <a:stretch>
            <a:fillRect/>
          </a:stretch>
        </p:blipFill>
        <p:spPr>
          <a:xfrm>
            <a:off x="247870" y="1155084"/>
            <a:ext cx="7448330" cy="4703746"/>
          </a:xfrm>
          <a:prstGeom prst="rect">
            <a:avLst/>
          </a:prstGeom>
        </p:spPr>
      </p:pic>
      <p:pic>
        <p:nvPicPr>
          <p:cNvPr id="19" name="Picture 18">
            <a:extLst>
              <a:ext uri="{FF2B5EF4-FFF2-40B4-BE49-F238E27FC236}">
                <a16:creationId xmlns:a16="http://schemas.microsoft.com/office/drawing/2014/main" id="{010AB660-EEC0-B307-767A-0D47B9F8569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4703893" y="6018372"/>
            <a:ext cx="801230" cy="812538"/>
          </a:xfrm>
          <a:prstGeom prst="rect">
            <a:avLst/>
          </a:prstGeom>
        </p:spPr>
      </p:pic>
      <p:pic>
        <p:nvPicPr>
          <p:cNvPr id="25" name="Picture 24">
            <a:extLst>
              <a:ext uri="{FF2B5EF4-FFF2-40B4-BE49-F238E27FC236}">
                <a16:creationId xmlns:a16="http://schemas.microsoft.com/office/drawing/2014/main" id="{6D82E968-C3BC-D14C-1216-8B3C1384EF45}"/>
              </a:ext>
            </a:extLst>
          </p:cNvPr>
          <p:cNvPicPr>
            <a:picLocks noChangeAspect="1"/>
          </p:cNvPicPr>
          <p:nvPr/>
        </p:nvPicPr>
        <p:blipFill>
          <a:blip r:embed="rId6">
            <a:alphaModFix/>
            <a:extLst>
              <a:ext uri="{28A0092B-C50C-407E-A947-70E740481C1C}">
                <a14:useLocalDpi xmlns:a14="http://schemas.microsoft.com/office/drawing/2010/main" val="0"/>
              </a:ext>
            </a:extLst>
          </a:blip>
          <a:srcRect l="8564" t="35264" r="55401" b="35446"/>
          <a:stretch>
            <a:fillRect/>
          </a:stretch>
        </p:blipFill>
        <p:spPr>
          <a:xfrm>
            <a:off x="6710993" y="6018372"/>
            <a:ext cx="933332" cy="756232"/>
          </a:xfrm>
          <a:prstGeom prst="rect">
            <a:avLst/>
          </a:prstGeom>
        </p:spPr>
      </p:pic>
      <p:pic>
        <p:nvPicPr>
          <p:cNvPr id="27" name="Picture 26">
            <a:extLst>
              <a:ext uri="{FF2B5EF4-FFF2-40B4-BE49-F238E27FC236}">
                <a16:creationId xmlns:a16="http://schemas.microsoft.com/office/drawing/2014/main" id="{79803CAA-6288-CCF0-5A93-E025E849F55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60830" y="6018372"/>
            <a:ext cx="840112" cy="792180"/>
          </a:xfrm>
          <a:prstGeom prst="rect">
            <a:avLst/>
          </a:prstGeom>
        </p:spPr>
      </p:pic>
      <p:pic>
        <p:nvPicPr>
          <p:cNvPr id="29" name="Picture 28">
            <a:extLst>
              <a:ext uri="{FF2B5EF4-FFF2-40B4-BE49-F238E27FC236}">
                <a16:creationId xmlns:a16="http://schemas.microsoft.com/office/drawing/2014/main" id="{1DC6D790-521A-196E-17B4-56A4EFB51EA7}"/>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3847101" y="5994976"/>
            <a:ext cx="828486" cy="835934"/>
          </a:xfrm>
          <a:prstGeom prst="rect">
            <a:avLst/>
          </a:prstGeom>
        </p:spPr>
      </p:pic>
      <p:pic>
        <p:nvPicPr>
          <p:cNvPr id="31" name="Picture 30">
            <a:extLst>
              <a:ext uri="{FF2B5EF4-FFF2-40B4-BE49-F238E27FC236}">
                <a16:creationId xmlns:a16="http://schemas.microsoft.com/office/drawing/2014/main" id="{703BC2ED-472B-71C4-7413-4F78A5D699DC}"/>
              </a:ext>
            </a:extLst>
          </p:cNvPr>
          <p:cNvPicPr>
            <a:picLocks noChangeAspect="1"/>
          </p:cNvPicPr>
          <p:nvPr/>
        </p:nvPicPr>
        <p:blipFill>
          <a:blip r:embed="rId9" cstate="print">
            <a:extLst>
              <a:ext uri="{28A0092B-C50C-407E-A947-70E740481C1C}">
                <a14:useLocalDpi xmlns:a14="http://schemas.microsoft.com/office/drawing/2010/main" val="0"/>
              </a:ext>
            </a:extLst>
          </a:blip>
          <a:srcRect t="38568" b="38568"/>
          <a:stretch/>
        </p:blipFill>
        <p:spPr>
          <a:xfrm>
            <a:off x="9124915" y="6394275"/>
            <a:ext cx="1820672" cy="416277"/>
          </a:xfrm>
          <a:prstGeom prst="rect">
            <a:avLst/>
          </a:prstGeom>
        </p:spPr>
      </p:pic>
      <p:pic>
        <p:nvPicPr>
          <p:cNvPr id="33" name="Picture 32">
            <a:extLst>
              <a:ext uri="{FF2B5EF4-FFF2-40B4-BE49-F238E27FC236}">
                <a16:creationId xmlns:a16="http://schemas.microsoft.com/office/drawing/2014/main" id="{BD7BDD31-1CD0-7074-7C3D-FAD2DCC80AC9}"/>
              </a:ext>
            </a:extLst>
          </p:cNvPr>
          <p:cNvPicPr>
            <a:picLocks noChangeAspect="1"/>
          </p:cNvPicPr>
          <p:nvPr/>
        </p:nvPicPr>
        <p:blipFill>
          <a:blip r:embed="rId10" cstate="print">
            <a:extLst>
              <a:ext uri="{28A0092B-C50C-407E-A947-70E740481C1C}">
                <a14:useLocalDpi xmlns:a14="http://schemas.microsoft.com/office/drawing/2010/main" val="0"/>
              </a:ext>
            </a:extLst>
          </a:blip>
          <a:srcRect/>
          <a:stretch/>
        </p:blipFill>
        <p:spPr>
          <a:xfrm>
            <a:off x="3031687" y="6006674"/>
            <a:ext cx="835934" cy="835934"/>
          </a:xfrm>
          <a:prstGeom prst="rect">
            <a:avLst/>
          </a:prstGeom>
        </p:spPr>
      </p:pic>
      <p:pic>
        <p:nvPicPr>
          <p:cNvPr id="35" name="Picture 34">
            <a:extLst>
              <a:ext uri="{FF2B5EF4-FFF2-40B4-BE49-F238E27FC236}">
                <a16:creationId xmlns:a16="http://schemas.microsoft.com/office/drawing/2014/main" id="{15BB2D00-7F91-5FCD-FDF3-6438CBF330A5}"/>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p:blipFill>
        <p:spPr>
          <a:xfrm>
            <a:off x="1086451" y="6022820"/>
            <a:ext cx="802565" cy="809780"/>
          </a:xfrm>
          <a:prstGeom prst="rect">
            <a:avLst/>
          </a:prstGeom>
        </p:spPr>
      </p:pic>
      <p:pic>
        <p:nvPicPr>
          <p:cNvPr id="37" name="Picture 36">
            <a:extLst>
              <a:ext uri="{FF2B5EF4-FFF2-40B4-BE49-F238E27FC236}">
                <a16:creationId xmlns:a16="http://schemas.microsoft.com/office/drawing/2014/main" id="{F1B10157-ED28-807E-8B9F-4FF771248FF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37710" y="6086091"/>
            <a:ext cx="638825" cy="746509"/>
          </a:xfrm>
          <a:prstGeom prst="rect">
            <a:avLst/>
          </a:prstGeom>
        </p:spPr>
      </p:pic>
      <p:pic>
        <p:nvPicPr>
          <p:cNvPr id="39" name="Picture 38">
            <a:extLst>
              <a:ext uri="{FF2B5EF4-FFF2-40B4-BE49-F238E27FC236}">
                <a16:creationId xmlns:a16="http://schemas.microsoft.com/office/drawing/2014/main" id="{82C4FDBB-31A6-32D8-A30A-E9AC7586AF24}"/>
              </a:ext>
            </a:extLst>
          </p:cNvPr>
          <p:cNvPicPr>
            <a:picLocks noChangeAspect="1"/>
          </p:cNvPicPr>
          <p:nvPr/>
        </p:nvPicPr>
        <p:blipFill>
          <a:blip r:embed="rId13" cstate="print">
            <a:extLst>
              <a:ext uri="{28A0092B-C50C-407E-A947-70E740481C1C}">
                <a14:useLocalDpi xmlns:a14="http://schemas.microsoft.com/office/drawing/2010/main" val="0"/>
              </a:ext>
            </a:extLst>
          </a:blip>
          <a:srcRect t="35859" b="35859"/>
          <a:stretch/>
        </p:blipFill>
        <p:spPr>
          <a:xfrm>
            <a:off x="10596769" y="6414633"/>
            <a:ext cx="1681298" cy="416277"/>
          </a:xfrm>
          <a:prstGeom prst="rect">
            <a:avLst/>
          </a:prstGeom>
        </p:spPr>
      </p:pic>
      <p:pic>
        <p:nvPicPr>
          <p:cNvPr id="41" name="Picture 40">
            <a:extLst>
              <a:ext uri="{FF2B5EF4-FFF2-40B4-BE49-F238E27FC236}">
                <a16:creationId xmlns:a16="http://schemas.microsoft.com/office/drawing/2014/main" id="{6E6F1ACF-BCA5-196F-AD65-F22D4D7047F2}"/>
              </a:ext>
            </a:extLst>
          </p:cNvPr>
          <p:cNvPicPr>
            <a:picLocks noChangeAspect="1"/>
          </p:cNvPicPr>
          <p:nvPr/>
        </p:nvPicPr>
        <p:blipFill>
          <a:blip r:embed="rId14" cstate="print">
            <a:extLst>
              <a:ext uri="{28A0092B-C50C-407E-A947-70E740481C1C}">
                <a14:useLocalDpi xmlns:a14="http://schemas.microsoft.com/office/drawing/2010/main" val="0"/>
              </a:ext>
            </a:extLst>
          </a:blip>
          <a:srcRect l="-518" t="34888" r="518" b="33742"/>
          <a:stretch>
            <a:fillRect/>
          </a:stretch>
        </p:blipFill>
        <p:spPr>
          <a:xfrm>
            <a:off x="7864427" y="6364287"/>
            <a:ext cx="1471854" cy="447101"/>
          </a:xfrm>
          <a:prstGeom prst="rect">
            <a:avLst/>
          </a:prstGeom>
        </p:spPr>
      </p:pic>
    </p:spTree>
    <p:extLst>
      <p:ext uri="{BB962C8B-B14F-4D97-AF65-F5344CB8AC3E}">
        <p14:creationId xmlns:p14="http://schemas.microsoft.com/office/powerpoint/2010/main" val="3651579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object 14" descr="$PPTXTitle"/>
          <p:cNvSpPr txBox="1">
            <a:spLocks noGrp="1"/>
          </p:cNvSpPr>
          <p:nvPr>
            <p:ph type="title"/>
          </p:nvPr>
        </p:nvSpPr>
        <p:spPr>
          <a:xfrm>
            <a:off x="2792983" y="150952"/>
            <a:ext cx="6635750" cy="574675"/>
          </a:xfrm>
          <a:prstGeom prst="rect">
            <a:avLst/>
          </a:prstGeom>
        </p:spPr>
        <p:txBody>
          <a:bodyPr vert="horz" wrap="square" lIns="0" tIns="12700" rIns="0" bIns="0" rtlCol="0">
            <a:spAutoFit/>
          </a:bodyPr>
          <a:lstStyle/>
          <a:p>
            <a:pPr marL="12700">
              <a:lnSpc>
                <a:spcPct val="100000"/>
              </a:lnSpc>
              <a:spcBef>
                <a:spcPts val="100"/>
              </a:spcBef>
            </a:pPr>
            <a:r>
              <a:rPr dirty="0"/>
              <a:t>FEASIBILITY</a:t>
            </a:r>
            <a:r>
              <a:rPr spc="-35" dirty="0"/>
              <a:t> </a:t>
            </a:r>
            <a:r>
              <a:rPr dirty="0"/>
              <a:t>AND</a:t>
            </a:r>
            <a:r>
              <a:rPr spc="-20" dirty="0"/>
              <a:t> </a:t>
            </a:r>
            <a:r>
              <a:rPr spc="-10" dirty="0"/>
              <a:t>VIABILITY</a:t>
            </a:r>
          </a:p>
        </p:txBody>
      </p:sp>
      <p:sp>
        <p:nvSpPr>
          <p:cNvPr id="48" name="object 4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4</a:t>
            </a:fld>
            <a:endParaRPr spc="-50" dirty="0"/>
          </a:p>
        </p:txBody>
      </p:sp>
      <p:grpSp>
        <p:nvGrpSpPr>
          <p:cNvPr id="55" name="Group 54">
            <a:extLst>
              <a:ext uri="{FF2B5EF4-FFF2-40B4-BE49-F238E27FC236}">
                <a16:creationId xmlns:a16="http://schemas.microsoft.com/office/drawing/2014/main" id="{DFAA1652-C78E-E67E-8A60-A95C9EB40FF3}"/>
              </a:ext>
            </a:extLst>
          </p:cNvPr>
          <p:cNvGrpSpPr/>
          <p:nvPr/>
        </p:nvGrpSpPr>
        <p:grpSpPr>
          <a:xfrm>
            <a:off x="264287" y="827353"/>
            <a:ext cx="11661140" cy="2988353"/>
            <a:chOff x="264287" y="894825"/>
            <a:chExt cx="11661140" cy="2988353"/>
          </a:xfrm>
        </p:grpSpPr>
        <p:sp>
          <p:nvSpPr>
            <p:cNvPr id="10" name="object 10"/>
            <p:cNvSpPr/>
            <p:nvPr/>
          </p:nvSpPr>
          <p:spPr>
            <a:xfrm>
              <a:off x="264287" y="1087528"/>
              <a:ext cx="11661140" cy="2795650"/>
            </a:xfrm>
            <a:custGeom>
              <a:avLst/>
              <a:gdLst/>
              <a:ahLst/>
              <a:cxnLst/>
              <a:rect l="l" t="t" r="r" b="b"/>
              <a:pathLst>
                <a:path w="11661140" h="1798955">
                  <a:moveTo>
                    <a:pt x="0" y="33908"/>
                  </a:moveTo>
                  <a:lnTo>
                    <a:pt x="2657" y="20734"/>
                  </a:lnTo>
                  <a:lnTo>
                    <a:pt x="9906" y="9953"/>
                  </a:lnTo>
                  <a:lnTo>
                    <a:pt x="20659" y="2672"/>
                  </a:lnTo>
                  <a:lnTo>
                    <a:pt x="33832" y="0"/>
                  </a:lnTo>
                  <a:lnTo>
                    <a:pt x="11626748" y="0"/>
                  </a:lnTo>
                  <a:lnTo>
                    <a:pt x="11639902" y="2672"/>
                  </a:lnTo>
                  <a:lnTo>
                    <a:pt x="11650640" y="9953"/>
                  </a:lnTo>
                  <a:lnTo>
                    <a:pt x="11657877" y="20734"/>
                  </a:lnTo>
                  <a:lnTo>
                    <a:pt x="11660530" y="33908"/>
                  </a:lnTo>
                  <a:lnTo>
                    <a:pt x="11660530" y="1765045"/>
                  </a:lnTo>
                  <a:lnTo>
                    <a:pt x="11657877" y="1778200"/>
                  </a:lnTo>
                  <a:lnTo>
                    <a:pt x="11650640" y="1788937"/>
                  </a:lnTo>
                  <a:lnTo>
                    <a:pt x="11639902" y="1796174"/>
                  </a:lnTo>
                  <a:lnTo>
                    <a:pt x="11626748" y="1798827"/>
                  </a:lnTo>
                  <a:lnTo>
                    <a:pt x="33832" y="1798827"/>
                  </a:lnTo>
                  <a:lnTo>
                    <a:pt x="20659" y="1796174"/>
                  </a:lnTo>
                  <a:lnTo>
                    <a:pt x="9906" y="1788937"/>
                  </a:lnTo>
                  <a:lnTo>
                    <a:pt x="2657" y="1778200"/>
                  </a:lnTo>
                  <a:lnTo>
                    <a:pt x="0" y="1765045"/>
                  </a:lnTo>
                  <a:lnTo>
                    <a:pt x="0" y="33908"/>
                  </a:lnTo>
                  <a:close/>
                </a:path>
              </a:pathLst>
            </a:custGeom>
            <a:solidFill>
              <a:schemeClr val="accent2">
                <a:lumMod val="20000"/>
                <a:lumOff val="80000"/>
              </a:schemeClr>
            </a:solidFill>
            <a:ln w="28575">
              <a:solidFill>
                <a:srgbClr val="497DBA"/>
              </a:solidFill>
            </a:ln>
          </p:spPr>
          <p:txBody>
            <a:bodyPr wrap="square" lIns="0" tIns="0" rIns="0" bIns="0" rtlCol="0"/>
            <a:lstStyle/>
            <a:p>
              <a:endParaRPr/>
            </a:p>
          </p:txBody>
        </p:sp>
        <p:sp>
          <p:nvSpPr>
            <p:cNvPr id="34" name="object 34"/>
            <p:cNvSpPr txBox="1"/>
            <p:nvPr/>
          </p:nvSpPr>
          <p:spPr>
            <a:xfrm>
              <a:off x="403478" y="1187211"/>
              <a:ext cx="11414760" cy="2581412"/>
            </a:xfrm>
            <a:prstGeom prst="rect">
              <a:avLst/>
            </a:prstGeom>
            <a:noFill/>
          </p:spPr>
          <p:txBody>
            <a:bodyPr vert="horz" wrap="square" lIns="0" tIns="78740" rIns="0" bIns="0" rtlCol="0">
              <a:spAutoFit/>
            </a:bodyPr>
            <a:lstStyle/>
            <a:p>
              <a:pPr marL="12700">
                <a:lnSpc>
                  <a:spcPts val="2840"/>
                </a:lnSpc>
                <a:spcBef>
                  <a:spcPts val="620"/>
                </a:spcBef>
                <a:tabLst>
                  <a:tab pos="354965" algn="l"/>
                </a:tabLst>
              </a:pPr>
              <a:r>
                <a:rPr lang="en-IN" sz="1600" dirty="0">
                  <a:latin typeface="Calibri"/>
                  <a:cs typeface="Calibri"/>
                </a:rPr>
                <a:t>❖ Built using mature open-source technologies: Next.js, </a:t>
              </a:r>
              <a:r>
                <a:rPr lang="en-IN" sz="1600" dirty="0" err="1">
                  <a:latin typeface="Calibri"/>
                  <a:cs typeface="Calibri"/>
                </a:rPr>
                <a:t>FastAPI</a:t>
              </a:r>
              <a:r>
                <a:rPr lang="en-IN" sz="1600" dirty="0">
                  <a:latin typeface="Calibri"/>
                  <a:cs typeface="Calibri"/>
                </a:rPr>
                <a:t>, PostgreSQL/</a:t>
              </a:r>
              <a:r>
                <a:rPr lang="en-IN" sz="1600" dirty="0" err="1">
                  <a:latin typeface="Calibri"/>
                  <a:cs typeface="Calibri"/>
                </a:rPr>
                <a:t>PostGIS</a:t>
              </a:r>
              <a:r>
                <a:rPr lang="en-IN" sz="1600" dirty="0">
                  <a:latin typeface="Calibri"/>
                  <a:cs typeface="Calibri"/>
                </a:rPr>
                <a:t> and </a:t>
              </a:r>
              <a:r>
                <a:rPr lang="en-IN" sz="1600" dirty="0" err="1">
                  <a:latin typeface="Calibri"/>
                  <a:cs typeface="Calibri"/>
                </a:rPr>
                <a:t>PyTorch</a:t>
              </a:r>
              <a:r>
                <a:rPr lang="en-IN" sz="1600" dirty="0">
                  <a:latin typeface="Calibri"/>
                  <a:cs typeface="Calibri"/>
                </a:rPr>
                <a:t>.</a:t>
              </a:r>
            </a:p>
            <a:p>
              <a:pPr marL="12700">
                <a:lnSpc>
                  <a:spcPts val="2840"/>
                </a:lnSpc>
                <a:spcBef>
                  <a:spcPts val="620"/>
                </a:spcBef>
                <a:tabLst>
                  <a:tab pos="354965" algn="l"/>
                </a:tabLst>
              </a:pPr>
              <a:r>
                <a:rPr lang="en-IN" sz="1600" dirty="0">
                  <a:latin typeface="Calibri"/>
                  <a:cs typeface="Calibri"/>
                </a:rPr>
                <a:t>❖ Transfer learning enables development of specialized plant-identification models without requiring a model trained from scratch.</a:t>
              </a:r>
            </a:p>
            <a:p>
              <a:pPr marL="12700">
                <a:lnSpc>
                  <a:spcPts val="2840"/>
                </a:lnSpc>
                <a:spcBef>
                  <a:spcPts val="620"/>
                </a:spcBef>
                <a:tabLst>
                  <a:tab pos="354965" algn="l"/>
                </a:tabLst>
              </a:pPr>
              <a:r>
                <a:rPr lang="en-IN" sz="1600" dirty="0">
                  <a:latin typeface="Calibri"/>
                  <a:cs typeface="Calibri"/>
                </a:rPr>
                <a:t>❖ </a:t>
              </a:r>
              <a:r>
                <a:rPr lang="en-IN" sz="1600" dirty="0" err="1">
                  <a:latin typeface="Calibri"/>
                  <a:cs typeface="Calibri"/>
                </a:rPr>
                <a:t>PostGIS</a:t>
              </a:r>
              <a:r>
                <a:rPr lang="en-IN" sz="1600" dirty="0">
                  <a:latin typeface="Calibri"/>
                  <a:cs typeface="Calibri"/>
                </a:rPr>
                <a:t> provides spatial storage and GIS analysis for plant observations.</a:t>
              </a:r>
            </a:p>
            <a:p>
              <a:pPr marL="12700">
                <a:lnSpc>
                  <a:spcPts val="2840"/>
                </a:lnSpc>
                <a:spcBef>
                  <a:spcPts val="620"/>
                </a:spcBef>
                <a:tabLst>
                  <a:tab pos="354965" algn="l"/>
                </a:tabLst>
              </a:pPr>
              <a:r>
                <a:rPr lang="en-IN" sz="1600" dirty="0">
                  <a:latin typeface="Calibri"/>
                  <a:cs typeface="Calibri"/>
                </a:rPr>
                <a:t>❖ Expert-in-the-loop verification reduces dependence on AI-only identification</a:t>
              </a:r>
            </a:p>
            <a:p>
              <a:pPr marL="12700">
                <a:lnSpc>
                  <a:spcPts val="2840"/>
                </a:lnSpc>
                <a:spcBef>
                  <a:spcPts val="620"/>
                </a:spcBef>
                <a:tabLst>
                  <a:tab pos="354965" algn="l"/>
                </a:tabLst>
              </a:pPr>
              <a:r>
                <a:rPr lang="en-IN" sz="1600" dirty="0">
                  <a:latin typeface="Calibri"/>
                  <a:cs typeface="Calibri"/>
                </a:rPr>
                <a:t>❖ Docker enables reproducible deployment and scaling.</a:t>
              </a:r>
            </a:p>
            <a:p>
              <a:pPr marL="12700">
                <a:lnSpc>
                  <a:spcPts val="2840"/>
                </a:lnSpc>
                <a:spcBef>
                  <a:spcPts val="620"/>
                </a:spcBef>
                <a:tabLst>
                  <a:tab pos="354965" algn="l"/>
                </a:tabLst>
              </a:pPr>
              <a:r>
                <a:rPr lang="en-IN" sz="1600" dirty="0">
                  <a:latin typeface="Calibri"/>
                  <a:cs typeface="Calibri"/>
                </a:rPr>
                <a:t>❖ MVP can be developed incrementally: AI identification → expert review → GIS dashboard → cultivation → traceability.</a:t>
              </a:r>
              <a:endParaRPr sz="1600" dirty="0">
                <a:latin typeface="Calibri"/>
                <a:cs typeface="Calibri"/>
              </a:endParaRPr>
            </a:p>
          </p:txBody>
        </p:sp>
        <p:grpSp>
          <p:nvGrpSpPr>
            <p:cNvPr id="50" name="Group 49">
              <a:extLst>
                <a:ext uri="{FF2B5EF4-FFF2-40B4-BE49-F238E27FC236}">
                  <a16:creationId xmlns:a16="http://schemas.microsoft.com/office/drawing/2014/main" id="{125F8D8F-ECDD-B3F9-F163-FCD7C0062CC8}"/>
                </a:ext>
              </a:extLst>
            </p:cNvPr>
            <p:cNvGrpSpPr/>
            <p:nvPr/>
          </p:nvGrpSpPr>
          <p:grpSpPr>
            <a:xfrm>
              <a:off x="719565" y="894825"/>
              <a:ext cx="1582094" cy="417975"/>
              <a:chOff x="703906" y="888647"/>
              <a:chExt cx="1493193" cy="431800"/>
            </a:xfrm>
          </p:grpSpPr>
          <p:sp>
            <p:nvSpPr>
              <p:cNvPr id="32" name="object 32"/>
              <p:cNvSpPr/>
              <p:nvPr/>
            </p:nvSpPr>
            <p:spPr>
              <a:xfrm>
                <a:off x="703906" y="888647"/>
                <a:ext cx="1493193" cy="431800"/>
              </a:xfrm>
              <a:custGeom>
                <a:avLst/>
                <a:gdLst/>
                <a:ahLst/>
                <a:cxnLst/>
                <a:rect l="l" t="t" r="r" b="b"/>
                <a:pathLst>
                  <a:path w="1323339" h="431800">
                    <a:moveTo>
                      <a:pt x="1200886" y="0"/>
                    </a:moveTo>
                    <a:lnTo>
                      <a:pt x="122237" y="0"/>
                    </a:lnTo>
                    <a:lnTo>
                      <a:pt x="74655" y="9608"/>
                    </a:lnTo>
                    <a:lnTo>
                      <a:pt x="35801" y="35813"/>
                    </a:lnTo>
                    <a:lnTo>
                      <a:pt x="9605" y="74687"/>
                    </a:lnTo>
                    <a:lnTo>
                      <a:pt x="0" y="122300"/>
                    </a:lnTo>
                    <a:lnTo>
                      <a:pt x="0" y="309118"/>
                    </a:lnTo>
                    <a:lnTo>
                      <a:pt x="9605" y="356657"/>
                    </a:lnTo>
                    <a:lnTo>
                      <a:pt x="35801" y="395493"/>
                    </a:lnTo>
                    <a:lnTo>
                      <a:pt x="74655" y="421685"/>
                    </a:lnTo>
                    <a:lnTo>
                      <a:pt x="122237" y="431292"/>
                    </a:lnTo>
                    <a:lnTo>
                      <a:pt x="1200886" y="431292"/>
                    </a:lnTo>
                    <a:lnTo>
                      <a:pt x="1248499" y="421685"/>
                    </a:lnTo>
                    <a:lnTo>
                      <a:pt x="1287373" y="395493"/>
                    </a:lnTo>
                    <a:lnTo>
                      <a:pt x="1313579" y="356657"/>
                    </a:lnTo>
                    <a:lnTo>
                      <a:pt x="1323187" y="309118"/>
                    </a:lnTo>
                    <a:lnTo>
                      <a:pt x="1323187" y="122300"/>
                    </a:lnTo>
                    <a:lnTo>
                      <a:pt x="1313579" y="74687"/>
                    </a:lnTo>
                    <a:lnTo>
                      <a:pt x="1287373" y="35813"/>
                    </a:lnTo>
                    <a:lnTo>
                      <a:pt x="1248499" y="9608"/>
                    </a:lnTo>
                    <a:lnTo>
                      <a:pt x="1200886" y="0"/>
                    </a:lnTo>
                    <a:close/>
                  </a:path>
                </a:pathLst>
              </a:custGeom>
              <a:solidFill>
                <a:schemeClr val="bg2"/>
              </a:solidFill>
              <a:ln w="31750">
                <a:solidFill>
                  <a:srgbClr val="006FC0"/>
                </a:solidFill>
              </a:ln>
            </p:spPr>
            <p:txBody>
              <a:bodyPr wrap="square" lIns="0" tIns="0" rIns="0" bIns="0" rtlCol="0"/>
              <a:lstStyle/>
              <a:p>
                <a:r>
                  <a:rPr lang="en-US" dirty="0"/>
                  <a:t>  </a:t>
                </a:r>
                <a:endParaRPr dirty="0"/>
              </a:p>
            </p:txBody>
          </p:sp>
          <p:sp>
            <p:nvSpPr>
              <p:cNvPr id="49" name="TextBox 48">
                <a:extLst>
                  <a:ext uri="{FF2B5EF4-FFF2-40B4-BE49-F238E27FC236}">
                    <a16:creationId xmlns:a16="http://schemas.microsoft.com/office/drawing/2014/main" id="{E4B2CD67-87A3-B7EF-B804-3F758091D8E4}"/>
                  </a:ext>
                </a:extLst>
              </p:cNvPr>
              <p:cNvSpPr txBox="1"/>
              <p:nvPr/>
            </p:nvSpPr>
            <p:spPr>
              <a:xfrm>
                <a:off x="791589" y="899970"/>
                <a:ext cx="1317826" cy="369332"/>
              </a:xfrm>
              <a:prstGeom prst="rect">
                <a:avLst/>
              </a:prstGeom>
              <a:noFill/>
            </p:spPr>
            <p:txBody>
              <a:bodyPr wrap="square" rtlCol="0">
                <a:spAutoFit/>
              </a:bodyPr>
              <a:lstStyle/>
              <a:p>
                <a:r>
                  <a:rPr lang="en-US" b="1" dirty="0"/>
                  <a:t>Feasibility</a:t>
                </a:r>
                <a:endParaRPr lang="en-IN" b="1" dirty="0"/>
              </a:p>
            </p:txBody>
          </p:sp>
        </p:grpSp>
      </p:grpSp>
      <p:grpSp>
        <p:nvGrpSpPr>
          <p:cNvPr id="60" name="Group 59">
            <a:extLst>
              <a:ext uri="{FF2B5EF4-FFF2-40B4-BE49-F238E27FC236}">
                <a16:creationId xmlns:a16="http://schemas.microsoft.com/office/drawing/2014/main" id="{DED30997-152F-F3C8-2763-2DFD31C5258B}"/>
              </a:ext>
            </a:extLst>
          </p:cNvPr>
          <p:cNvGrpSpPr/>
          <p:nvPr/>
        </p:nvGrpSpPr>
        <p:grpSpPr>
          <a:xfrm>
            <a:off x="294843" y="3911077"/>
            <a:ext cx="4013632" cy="2897729"/>
            <a:chOff x="329768" y="3960271"/>
            <a:chExt cx="4013632" cy="2897729"/>
          </a:xfrm>
        </p:grpSpPr>
        <p:sp>
          <p:nvSpPr>
            <p:cNvPr id="57" name="Rectangle 56">
              <a:extLst>
                <a:ext uri="{FF2B5EF4-FFF2-40B4-BE49-F238E27FC236}">
                  <a16:creationId xmlns:a16="http://schemas.microsoft.com/office/drawing/2014/main" id="{AC42E413-D4BC-ED0E-71BB-FDA09EBC28B1}"/>
                </a:ext>
              </a:extLst>
            </p:cNvPr>
            <p:cNvSpPr/>
            <p:nvPr/>
          </p:nvSpPr>
          <p:spPr>
            <a:xfrm>
              <a:off x="329768" y="4191000"/>
              <a:ext cx="4013632" cy="2667000"/>
            </a:xfrm>
            <a:prstGeom prst="rect">
              <a:avLst/>
            </a:prstGeom>
            <a:solidFill>
              <a:schemeClr val="bg2"/>
            </a:solidFill>
            <a:ln>
              <a:solidFill>
                <a:schemeClr val="accent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wrap="square" tIns="360000" rtlCol="0" anchor="t" anchorCtr="0">
              <a:noAutofit/>
            </a:bodyPr>
            <a:lstStyle/>
            <a:p>
              <a:pPr algn="l"/>
              <a:r>
                <a:rPr lang="en-IN" dirty="0">
                  <a:solidFill>
                    <a:schemeClr val="tx1"/>
                  </a:solidFill>
                </a:rPr>
                <a:t>⚠️ AI misidentification </a:t>
              </a:r>
            </a:p>
            <a:p>
              <a:pPr algn="l"/>
              <a:r>
                <a:rPr lang="en-IN" dirty="0">
                  <a:solidFill>
                    <a:schemeClr val="tx1"/>
                  </a:solidFill>
                </a:rPr>
                <a:t>⚠️ Similar-looking plant species</a:t>
              </a:r>
            </a:p>
            <a:p>
              <a:pPr algn="l"/>
              <a:r>
                <a:rPr lang="en-IN" dirty="0">
                  <a:solidFill>
                    <a:schemeClr val="tx1"/>
                  </a:solidFill>
                </a:rPr>
                <a:t>⚠️ Limited rare-species training data </a:t>
              </a:r>
            </a:p>
            <a:p>
              <a:pPr algn="l"/>
              <a:r>
                <a:rPr lang="en-IN" dirty="0">
                  <a:solidFill>
                    <a:schemeClr val="tx1"/>
                  </a:solidFill>
                </a:rPr>
                <a:t>⚠️ Low-quality user photographs </a:t>
              </a:r>
            </a:p>
            <a:p>
              <a:pPr algn="l"/>
              <a:r>
                <a:rPr lang="en-IN" dirty="0">
                  <a:solidFill>
                    <a:schemeClr val="tx1"/>
                  </a:solidFill>
                </a:rPr>
                <a:t>⚠️ Expert availability </a:t>
              </a:r>
            </a:p>
            <a:p>
              <a:pPr algn="l"/>
              <a:r>
                <a:rPr lang="en-IN" dirty="0">
                  <a:solidFill>
                    <a:schemeClr val="tx1"/>
                  </a:solidFill>
                </a:rPr>
                <a:t>⚠️ Illegal wild collection </a:t>
              </a:r>
            </a:p>
            <a:p>
              <a:pPr algn="l"/>
              <a:r>
                <a:rPr lang="en-IN" dirty="0">
                  <a:solidFill>
                    <a:schemeClr val="tx1"/>
                  </a:solidFill>
                </a:rPr>
                <a:t>⚠️ Sensitive species locations </a:t>
              </a:r>
            </a:p>
            <a:p>
              <a:pPr algn="l"/>
              <a:r>
                <a:rPr lang="en-IN" dirty="0">
                  <a:solidFill>
                    <a:schemeClr val="tx1"/>
                  </a:solidFill>
                </a:rPr>
                <a:t>⚠️ Changing legal requirements</a:t>
              </a:r>
            </a:p>
          </p:txBody>
        </p:sp>
        <p:sp>
          <p:nvSpPr>
            <p:cNvPr id="59" name="object 32">
              <a:extLst>
                <a:ext uri="{FF2B5EF4-FFF2-40B4-BE49-F238E27FC236}">
                  <a16:creationId xmlns:a16="http://schemas.microsoft.com/office/drawing/2014/main" id="{F41C0BC4-5B12-7EE4-1304-2EE591E3E655}"/>
                </a:ext>
              </a:extLst>
            </p:cNvPr>
            <p:cNvSpPr/>
            <p:nvPr/>
          </p:nvSpPr>
          <p:spPr>
            <a:xfrm>
              <a:off x="661072" y="3960271"/>
              <a:ext cx="2386927" cy="459329"/>
            </a:xfrm>
            <a:custGeom>
              <a:avLst/>
              <a:gdLst/>
              <a:ahLst/>
              <a:cxnLst/>
              <a:rect l="l" t="t" r="r" b="b"/>
              <a:pathLst>
                <a:path w="1323339" h="431800">
                  <a:moveTo>
                    <a:pt x="1200886" y="0"/>
                  </a:moveTo>
                  <a:lnTo>
                    <a:pt x="122237" y="0"/>
                  </a:lnTo>
                  <a:lnTo>
                    <a:pt x="74655" y="9608"/>
                  </a:lnTo>
                  <a:lnTo>
                    <a:pt x="35801" y="35813"/>
                  </a:lnTo>
                  <a:lnTo>
                    <a:pt x="9605" y="74687"/>
                  </a:lnTo>
                  <a:lnTo>
                    <a:pt x="0" y="122300"/>
                  </a:lnTo>
                  <a:lnTo>
                    <a:pt x="0" y="309118"/>
                  </a:lnTo>
                  <a:lnTo>
                    <a:pt x="9605" y="356657"/>
                  </a:lnTo>
                  <a:lnTo>
                    <a:pt x="35801" y="395493"/>
                  </a:lnTo>
                  <a:lnTo>
                    <a:pt x="74655" y="421685"/>
                  </a:lnTo>
                  <a:lnTo>
                    <a:pt x="122237" y="431292"/>
                  </a:lnTo>
                  <a:lnTo>
                    <a:pt x="1200886" y="431292"/>
                  </a:lnTo>
                  <a:lnTo>
                    <a:pt x="1248499" y="421685"/>
                  </a:lnTo>
                  <a:lnTo>
                    <a:pt x="1287373" y="395493"/>
                  </a:lnTo>
                  <a:lnTo>
                    <a:pt x="1313579" y="356657"/>
                  </a:lnTo>
                  <a:lnTo>
                    <a:pt x="1323187" y="309118"/>
                  </a:lnTo>
                  <a:lnTo>
                    <a:pt x="1323187" y="122300"/>
                  </a:lnTo>
                  <a:lnTo>
                    <a:pt x="1313579" y="74687"/>
                  </a:lnTo>
                  <a:lnTo>
                    <a:pt x="1287373" y="35813"/>
                  </a:lnTo>
                  <a:lnTo>
                    <a:pt x="1248499" y="9608"/>
                  </a:lnTo>
                  <a:lnTo>
                    <a:pt x="1200886" y="0"/>
                  </a:lnTo>
                  <a:close/>
                </a:path>
              </a:pathLst>
            </a:custGeom>
            <a:solidFill>
              <a:schemeClr val="bg1"/>
            </a:solidFill>
            <a:ln w="31750">
              <a:solidFill>
                <a:srgbClr val="006FC0"/>
              </a:solidFill>
            </a:ln>
          </p:spPr>
          <p:txBody>
            <a:bodyPr wrap="square" lIns="0" tIns="0" rIns="0" bIns="0" rtlCol="0" anchor="ctr" anchorCtr="0"/>
            <a:lstStyle/>
            <a:p>
              <a:r>
                <a:rPr lang="en-US" dirty="0"/>
                <a:t>  Potential Challenges</a:t>
              </a:r>
              <a:endParaRPr dirty="0"/>
            </a:p>
          </p:txBody>
        </p:sp>
      </p:grpSp>
      <p:grpSp>
        <p:nvGrpSpPr>
          <p:cNvPr id="70" name="Group 69">
            <a:extLst>
              <a:ext uri="{FF2B5EF4-FFF2-40B4-BE49-F238E27FC236}">
                <a16:creationId xmlns:a16="http://schemas.microsoft.com/office/drawing/2014/main" id="{B50311A9-0BA4-D692-3E8E-315DD2B78B79}"/>
              </a:ext>
            </a:extLst>
          </p:cNvPr>
          <p:cNvGrpSpPr/>
          <p:nvPr/>
        </p:nvGrpSpPr>
        <p:grpSpPr>
          <a:xfrm>
            <a:off x="4882464" y="3895408"/>
            <a:ext cx="6659676" cy="2897729"/>
            <a:chOff x="5181600" y="3915389"/>
            <a:chExt cx="6659676" cy="2897729"/>
          </a:xfrm>
        </p:grpSpPr>
        <p:grpSp>
          <p:nvGrpSpPr>
            <p:cNvPr id="62" name="Group 61">
              <a:extLst>
                <a:ext uri="{FF2B5EF4-FFF2-40B4-BE49-F238E27FC236}">
                  <a16:creationId xmlns:a16="http://schemas.microsoft.com/office/drawing/2014/main" id="{AD265474-4507-BDA1-1665-D700B9C70B70}"/>
                </a:ext>
              </a:extLst>
            </p:cNvPr>
            <p:cNvGrpSpPr/>
            <p:nvPr/>
          </p:nvGrpSpPr>
          <p:grpSpPr>
            <a:xfrm>
              <a:off x="5181600" y="3915389"/>
              <a:ext cx="6636638" cy="2897729"/>
              <a:chOff x="329768" y="3960271"/>
              <a:chExt cx="6636638" cy="2897729"/>
            </a:xfrm>
          </p:grpSpPr>
          <p:sp>
            <p:nvSpPr>
              <p:cNvPr id="63" name="Rectangle 62">
                <a:extLst>
                  <a:ext uri="{FF2B5EF4-FFF2-40B4-BE49-F238E27FC236}">
                    <a16:creationId xmlns:a16="http://schemas.microsoft.com/office/drawing/2014/main" id="{200F7786-CF94-75FF-AD1A-34B6BA4A4ED1}"/>
                  </a:ext>
                </a:extLst>
              </p:cNvPr>
              <p:cNvSpPr/>
              <p:nvPr/>
            </p:nvSpPr>
            <p:spPr>
              <a:xfrm>
                <a:off x="329768" y="4191000"/>
                <a:ext cx="6636638" cy="2667000"/>
              </a:xfrm>
              <a:prstGeom prst="rect">
                <a:avLst/>
              </a:prstGeom>
              <a:noFill/>
              <a:ln>
                <a:solidFill>
                  <a:schemeClr val="accent1"/>
                </a:solid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wrap="square" tIns="360000" rtlCol="0" anchor="t" anchorCtr="0">
                <a:noAutofit/>
              </a:bodyPr>
              <a:lstStyle/>
              <a:p>
                <a:pPr algn="l"/>
                <a:endParaRPr lang="en-IN" dirty="0">
                  <a:solidFill>
                    <a:schemeClr val="tx1"/>
                  </a:solidFill>
                </a:endParaRPr>
              </a:p>
            </p:txBody>
          </p:sp>
          <p:sp>
            <p:nvSpPr>
              <p:cNvPr id="64" name="object 32">
                <a:extLst>
                  <a:ext uri="{FF2B5EF4-FFF2-40B4-BE49-F238E27FC236}">
                    <a16:creationId xmlns:a16="http://schemas.microsoft.com/office/drawing/2014/main" id="{D4523085-D76A-4378-F361-353E576AC3CF}"/>
                  </a:ext>
                </a:extLst>
              </p:cNvPr>
              <p:cNvSpPr/>
              <p:nvPr/>
            </p:nvSpPr>
            <p:spPr>
              <a:xfrm>
                <a:off x="634568" y="3960271"/>
                <a:ext cx="1066800" cy="459329"/>
              </a:xfrm>
              <a:custGeom>
                <a:avLst/>
                <a:gdLst/>
                <a:ahLst/>
                <a:cxnLst/>
                <a:rect l="l" t="t" r="r" b="b"/>
                <a:pathLst>
                  <a:path w="1323339" h="431800">
                    <a:moveTo>
                      <a:pt x="1200886" y="0"/>
                    </a:moveTo>
                    <a:lnTo>
                      <a:pt x="122237" y="0"/>
                    </a:lnTo>
                    <a:lnTo>
                      <a:pt x="74655" y="9608"/>
                    </a:lnTo>
                    <a:lnTo>
                      <a:pt x="35801" y="35813"/>
                    </a:lnTo>
                    <a:lnTo>
                      <a:pt x="9605" y="74687"/>
                    </a:lnTo>
                    <a:lnTo>
                      <a:pt x="0" y="122300"/>
                    </a:lnTo>
                    <a:lnTo>
                      <a:pt x="0" y="309118"/>
                    </a:lnTo>
                    <a:lnTo>
                      <a:pt x="9605" y="356657"/>
                    </a:lnTo>
                    <a:lnTo>
                      <a:pt x="35801" y="395493"/>
                    </a:lnTo>
                    <a:lnTo>
                      <a:pt x="74655" y="421685"/>
                    </a:lnTo>
                    <a:lnTo>
                      <a:pt x="122237" y="431292"/>
                    </a:lnTo>
                    <a:lnTo>
                      <a:pt x="1200886" y="431292"/>
                    </a:lnTo>
                    <a:lnTo>
                      <a:pt x="1248499" y="421685"/>
                    </a:lnTo>
                    <a:lnTo>
                      <a:pt x="1287373" y="395493"/>
                    </a:lnTo>
                    <a:lnTo>
                      <a:pt x="1313579" y="356657"/>
                    </a:lnTo>
                    <a:lnTo>
                      <a:pt x="1323187" y="309118"/>
                    </a:lnTo>
                    <a:lnTo>
                      <a:pt x="1323187" y="122300"/>
                    </a:lnTo>
                    <a:lnTo>
                      <a:pt x="1313579" y="74687"/>
                    </a:lnTo>
                    <a:lnTo>
                      <a:pt x="1287373" y="35813"/>
                    </a:lnTo>
                    <a:lnTo>
                      <a:pt x="1248499" y="9608"/>
                    </a:lnTo>
                    <a:lnTo>
                      <a:pt x="1200886" y="0"/>
                    </a:lnTo>
                    <a:close/>
                  </a:path>
                </a:pathLst>
              </a:custGeom>
              <a:solidFill>
                <a:schemeClr val="bg1"/>
              </a:solidFill>
              <a:ln w="31750">
                <a:solidFill>
                  <a:schemeClr val="tx1"/>
                </a:solidFill>
              </a:ln>
            </p:spPr>
            <p:txBody>
              <a:bodyPr wrap="square" lIns="0" tIns="0" rIns="0" bIns="0" rtlCol="0" anchor="ctr" anchorCtr="0"/>
              <a:lstStyle/>
              <a:p>
                <a:r>
                  <a:rPr lang="en-US" dirty="0"/>
                  <a:t>  Viability</a:t>
                </a:r>
                <a:endParaRPr dirty="0"/>
              </a:p>
            </p:txBody>
          </p:sp>
        </p:grpSp>
        <p:sp>
          <p:nvSpPr>
            <p:cNvPr id="68" name="TextBox 67">
              <a:extLst>
                <a:ext uri="{FF2B5EF4-FFF2-40B4-BE49-F238E27FC236}">
                  <a16:creationId xmlns:a16="http://schemas.microsoft.com/office/drawing/2014/main" id="{C08D428F-F6EE-F75C-9147-0308D3EDA8F3}"/>
                </a:ext>
              </a:extLst>
            </p:cNvPr>
            <p:cNvSpPr txBox="1"/>
            <p:nvPr/>
          </p:nvSpPr>
          <p:spPr>
            <a:xfrm>
              <a:off x="5417573" y="4473676"/>
              <a:ext cx="3040627" cy="1754326"/>
            </a:xfrm>
            <a:prstGeom prst="rect">
              <a:avLst/>
            </a:prstGeom>
            <a:noFill/>
          </p:spPr>
          <p:txBody>
            <a:bodyPr wrap="square" rtlCol="0">
              <a:spAutoFit/>
            </a:bodyPr>
            <a:lstStyle/>
            <a:p>
              <a:r>
                <a:rPr lang="en-IN" dirty="0"/>
                <a:t>🛡️ Conservation Monitoring</a:t>
              </a:r>
            </a:p>
            <a:p>
              <a:endParaRPr lang="en-IN" dirty="0"/>
            </a:p>
            <a:p>
              <a:r>
                <a:rPr lang="en-IN" dirty="0"/>
                <a:t>🌱 Sustainable Cultivation</a:t>
              </a:r>
            </a:p>
            <a:p>
              <a:endParaRPr lang="en-IN" dirty="0"/>
            </a:p>
            <a:p>
              <a:r>
                <a:rPr lang="en-IN" dirty="0"/>
                <a:t>🔗 Batch Traceability</a:t>
              </a:r>
            </a:p>
            <a:p>
              <a:endParaRPr lang="en-IN" dirty="0"/>
            </a:p>
          </p:txBody>
        </p:sp>
        <p:sp>
          <p:nvSpPr>
            <p:cNvPr id="69" name="TextBox 68">
              <a:extLst>
                <a:ext uri="{FF2B5EF4-FFF2-40B4-BE49-F238E27FC236}">
                  <a16:creationId xmlns:a16="http://schemas.microsoft.com/office/drawing/2014/main" id="{2115F752-EE39-4EF6-F9A4-FE0CCCE04678}"/>
                </a:ext>
              </a:extLst>
            </p:cNvPr>
            <p:cNvSpPr txBox="1"/>
            <p:nvPr/>
          </p:nvSpPr>
          <p:spPr>
            <a:xfrm>
              <a:off x="8800649" y="4431890"/>
              <a:ext cx="3040627" cy="1477297"/>
            </a:xfrm>
            <a:prstGeom prst="rect">
              <a:avLst/>
            </a:prstGeom>
            <a:noFill/>
          </p:spPr>
          <p:txBody>
            <a:bodyPr wrap="square" rtlCol="0">
              <a:spAutoFit/>
            </a:bodyPr>
            <a:lstStyle/>
            <a:p>
              <a:r>
                <a:rPr lang="en-IN"/>
                <a:t>👨‍🌾 Cultivator Support</a:t>
              </a:r>
            </a:p>
            <a:p>
              <a:endParaRPr lang="en-IN"/>
            </a:p>
            <a:p>
              <a:r>
                <a:rPr lang="en-IN"/>
                <a:t>🔬 Research Data</a:t>
              </a:r>
            </a:p>
            <a:p>
              <a:endParaRPr lang="en-IN"/>
            </a:p>
            <a:p>
              <a:r>
                <a:rPr lang="en-IN"/>
                <a:t>🏭 Legitimate B2B Supply</a:t>
              </a:r>
              <a:endParaRPr lang="en-IN" dirty="0"/>
            </a:p>
          </p:txBody>
        </p:sp>
      </p:grpSp>
      <p:sp>
        <p:nvSpPr>
          <p:cNvPr id="8" name="Rectangle: Rounded Corners 7">
            <a:extLst>
              <a:ext uri="{FF2B5EF4-FFF2-40B4-BE49-F238E27FC236}">
                <a16:creationId xmlns:a16="http://schemas.microsoft.com/office/drawing/2014/main" id="{896BF1D9-2E05-ECB5-92C6-BA5888BE5AA7}"/>
              </a:ext>
            </a:extLst>
          </p:cNvPr>
          <p:cNvSpPr/>
          <p:nvPr/>
        </p:nvSpPr>
        <p:spPr>
          <a:xfrm>
            <a:off x="247870" y="138495"/>
            <a:ext cx="1702688" cy="473610"/>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a:solidFill>
                  <a:schemeClr val="accent3"/>
                </a:solidFill>
              </a:rPr>
              <a:t>Neural Nexus</a:t>
            </a:r>
            <a:endParaRPr lang="en-IN" b="1" dirty="0">
              <a:ln/>
              <a:solidFill>
                <a:schemeClr val="accent3"/>
              </a:solidFill>
            </a:endParaRPr>
          </a:p>
        </p:txBody>
      </p:sp>
      <p:pic>
        <p:nvPicPr>
          <p:cNvPr id="5" name="Picture 4">
            <a:extLst>
              <a:ext uri="{FF2B5EF4-FFF2-40B4-BE49-F238E27FC236}">
                <a16:creationId xmlns:a16="http://schemas.microsoft.com/office/drawing/2014/main" id="{1F5BE181-BD78-1CB8-8560-25C08E3E1B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69424" y="0"/>
            <a:ext cx="1770175" cy="8273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3726370" y="999681"/>
            <a:ext cx="4883785" cy="4486720"/>
            <a:chOff x="3726370" y="999680"/>
            <a:chExt cx="4883785" cy="5211445"/>
          </a:xfrm>
        </p:grpSpPr>
        <p:sp>
          <p:nvSpPr>
            <p:cNvPr id="4" name="object 4"/>
            <p:cNvSpPr/>
            <p:nvPr/>
          </p:nvSpPr>
          <p:spPr>
            <a:xfrm>
              <a:off x="3740658" y="1013967"/>
              <a:ext cx="4855210" cy="5182870"/>
            </a:xfrm>
            <a:custGeom>
              <a:avLst/>
              <a:gdLst/>
              <a:ahLst/>
              <a:cxnLst/>
              <a:rect l="l" t="t" r="r" b="b"/>
              <a:pathLst>
                <a:path w="4855209" h="5182870">
                  <a:moveTo>
                    <a:pt x="4763389" y="0"/>
                  </a:moveTo>
                  <a:lnTo>
                    <a:pt x="91312" y="0"/>
                  </a:lnTo>
                  <a:lnTo>
                    <a:pt x="55774" y="7177"/>
                  </a:lnTo>
                  <a:lnTo>
                    <a:pt x="26749" y="26749"/>
                  </a:lnTo>
                  <a:lnTo>
                    <a:pt x="7177" y="55774"/>
                  </a:lnTo>
                  <a:lnTo>
                    <a:pt x="0" y="91312"/>
                  </a:lnTo>
                  <a:lnTo>
                    <a:pt x="0" y="5091290"/>
                  </a:lnTo>
                  <a:lnTo>
                    <a:pt x="7177" y="5126833"/>
                  </a:lnTo>
                  <a:lnTo>
                    <a:pt x="26749" y="5155858"/>
                  </a:lnTo>
                  <a:lnTo>
                    <a:pt x="55774" y="5175427"/>
                  </a:lnTo>
                  <a:lnTo>
                    <a:pt x="91312" y="5182603"/>
                  </a:lnTo>
                  <a:lnTo>
                    <a:pt x="4763389" y="5182603"/>
                  </a:lnTo>
                  <a:lnTo>
                    <a:pt x="4798927" y="5175427"/>
                  </a:lnTo>
                  <a:lnTo>
                    <a:pt x="4827952" y="5155858"/>
                  </a:lnTo>
                  <a:lnTo>
                    <a:pt x="4847524" y="5126833"/>
                  </a:lnTo>
                  <a:lnTo>
                    <a:pt x="4854701" y="5091290"/>
                  </a:lnTo>
                  <a:lnTo>
                    <a:pt x="4854701" y="91312"/>
                  </a:lnTo>
                  <a:lnTo>
                    <a:pt x="4847524" y="55774"/>
                  </a:lnTo>
                  <a:lnTo>
                    <a:pt x="4827952" y="26749"/>
                  </a:lnTo>
                  <a:lnTo>
                    <a:pt x="4798927" y="7177"/>
                  </a:lnTo>
                  <a:lnTo>
                    <a:pt x="4763389" y="0"/>
                  </a:lnTo>
                  <a:close/>
                </a:path>
              </a:pathLst>
            </a:custGeom>
            <a:solidFill>
              <a:srgbClr val="DCE6F1"/>
            </a:solidFill>
          </p:spPr>
          <p:txBody>
            <a:bodyPr wrap="square" lIns="0" tIns="0" rIns="0" bIns="0" rtlCol="0"/>
            <a:lstStyle/>
            <a:p>
              <a:endParaRPr/>
            </a:p>
          </p:txBody>
        </p:sp>
        <p:sp>
          <p:nvSpPr>
            <p:cNvPr id="5" name="object 5"/>
            <p:cNvSpPr/>
            <p:nvPr/>
          </p:nvSpPr>
          <p:spPr>
            <a:xfrm>
              <a:off x="3740658" y="1013967"/>
              <a:ext cx="4855210" cy="5182870"/>
            </a:xfrm>
            <a:custGeom>
              <a:avLst/>
              <a:gdLst/>
              <a:ahLst/>
              <a:cxnLst/>
              <a:rect l="l" t="t" r="r" b="b"/>
              <a:pathLst>
                <a:path w="4855209" h="5182870">
                  <a:moveTo>
                    <a:pt x="0" y="91312"/>
                  </a:moveTo>
                  <a:lnTo>
                    <a:pt x="7177" y="55774"/>
                  </a:lnTo>
                  <a:lnTo>
                    <a:pt x="26749" y="26749"/>
                  </a:lnTo>
                  <a:lnTo>
                    <a:pt x="55774" y="7177"/>
                  </a:lnTo>
                  <a:lnTo>
                    <a:pt x="91312" y="0"/>
                  </a:lnTo>
                  <a:lnTo>
                    <a:pt x="4763389" y="0"/>
                  </a:lnTo>
                  <a:lnTo>
                    <a:pt x="4798927" y="7177"/>
                  </a:lnTo>
                  <a:lnTo>
                    <a:pt x="4827952" y="26749"/>
                  </a:lnTo>
                  <a:lnTo>
                    <a:pt x="4847524" y="55774"/>
                  </a:lnTo>
                  <a:lnTo>
                    <a:pt x="4854701" y="91312"/>
                  </a:lnTo>
                  <a:lnTo>
                    <a:pt x="4854701" y="5091290"/>
                  </a:lnTo>
                  <a:lnTo>
                    <a:pt x="4847524" y="5126833"/>
                  </a:lnTo>
                  <a:lnTo>
                    <a:pt x="4827952" y="5155858"/>
                  </a:lnTo>
                  <a:lnTo>
                    <a:pt x="4798927" y="5175427"/>
                  </a:lnTo>
                  <a:lnTo>
                    <a:pt x="4763389" y="5182603"/>
                  </a:lnTo>
                  <a:lnTo>
                    <a:pt x="91312" y="5182603"/>
                  </a:lnTo>
                  <a:lnTo>
                    <a:pt x="55774" y="5175427"/>
                  </a:lnTo>
                  <a:lnTo>
                    <a:pt x="26749" y="5155858"/>
                  </a:lnTo>
                  <a:lnTo>
                    <a:pt x="7177" y="5126833"/>
                  </a:lnTo>
                  <a:lnTo>
                    <a:pt x="0" y="5091290"/>
                  </a:lnTo>
                  <a:lnTo>
                    <a:pt x="0" y="91312"/>
                  </a:lnTo>
                  <a:close/>
                </a:path>
              </a:pathLst>
            </a:custGeom>
            <a:ln w="28575">
              <a:solidFill>
                <a:srgbClr val="497DBA"/>
              </a:solidFill>
            </a:ln>
          </p:spPr>
          <p:txBody>
            <a:bodyPr wrap="square" lIns="0" tIns="0" rIns="0" bIns="0" rtlCol="0"/>
            <a:lstStyle/>
            <a:p>
              <a:endParaRPr/>
            </a:p>
          </p:txBody>
        </p:sp>
      </p:grpSp>
      <p:sp>
        <p:nvSpPr>
          <p:cNvPr id="9" name="object 9" descr="$PPTXTitle"/>
          <p:cNvSpPr txBox="1">
            <a:spLocks noGrp="1"/>
          </p:cNvSpPr>
          <p:nvPr>
            <p:ph type="title"/>
          </p:nvPr>
        </p:nvSpPr>
        <p:spPr>
          <a:prstGeom prst="rect">
            <a:avLst/>
          </a:prstGeom>
        </p:spPr>
        <p:txBody>
          <a:bodyPr vert="horz" wrap="square" lIns="0" tIns="12700" rIns="0" bIns="0" rtlCol="0">
            <a:spAutoFit/>
          </a:bodyPr>
          <a:lstStyle/>
          <a:p>
            <a:pPr marL="82550">
              <a:lnSpc>
                <a:spcPct val="100000"/>
              </a:lnSpc>
              <a:spcBef>
                <a:spcPts val="100"/>
              </a:spcBef>
            </a:pPr>
            <a:r>
              <a:rPr dirty="0"/>
              <a:t>IMPACT</a:t>
            </a:r>
            <a:r>
              <a:rPr spc="-120" dirty="0"/>
              <a:t> </a:t>
            </a:r>
            <a:r>
              <a:rPr dirty="0"/>
              <a:t>AND</a:t>
            </a:r>
            <a:r>
              <a:rPr spc="-125" dirty="0"/>
              <a:t> </a:t>
            </a:r>
            <a:r>
              <a:rPr spc="-10" dirty="0"/>
              <a:t>BENEFITS</a:t>
            </a:r>
          </a:p>
        </p:txBody>
      </p:sp>
      <p:sp>
        <p:nvSpPr>
          <p:cNvPr id="10" name="object 10"/>
          <p:cNvSpPr txBox="1"/>
          <p:nvPr/>
        </p:nvSpPr>
        <p:spPr>
          <a:xfrm>
            <a:off x="3873500" y="1161188"/>
            <a:ext cx="4608195" cy="4161909"/>
          </a:xfrm>
          <a:prstGeom prst="rect">
            <a:avLst/>
          </a:prstGeom>
        </p:spPr>
        <p:txBody>
          <a:bodyPr vert="horz" wrap="square" lIns="0" tIns="83820" rIns="0" bIns="0" rtlCol="0">
            <a:spAutoFit/>
          </a:bodyPr>
          <a:lstStyle/>
          <a:p>
            <a:pPr marL="355600" indent="-342900">
              <a:lnSpc>
                <a:spcPct val="100000"/>
              </a:lnSpc>
              <a:spcBef>
                <a:spcPts val="660"/>
              </a:spcBef>
              <a:buFont typeface="Wingdings" panose="05000000000000000000" pitchFamily="2" charset="2"/>
              <a:buChar char="q"/>
              <a:tabLst>
                <a:tab pos="354965" algn="l"/>
              </a:tabLst>
            </a:pPr>
            <a:r>
              <a:rPr lang="en-IN" sz="2400" dirty="0"/>
              <a:t>Protects Rare &amp; Medicinal Plants</a:t>
            </a:r>
            <a:endParaRPr sz="2400" dirty="0">
              <a:latin typeface="Calibri"/>
              <a:cs typeface="Calibri"/>
            </a:endParaRPr>
          </a:p>
          <a:p>
            <a:pPr marL="355600" marR="12700" indent="-342900">
              <a:lnSpc>
                <a:spcPts val="3200"/>
              </a:lnSpc>
              <a:spcBef>
                <a:spcPts val="195"/>
              </a:spcBef>
              <a:buFont typeface="Wingdings" panose="05000000000000000000" pitchFamily="2" charset="2"/>
              <a:buChar char="q"/>
              <a:tabLst>
                <a:tab pos="355600" algn="l"/>
              </a:tabLst>
            </a:pPr>
            <a:r>
              <a:rPr lang="en-IN" sz="2400" dirty="0"/>
              <a:t>Promotes Sustainable Cultivation</a:t>
            </a:r>
            <a:endParaRPr sz="2400" dirty="0">
              <a:latin typeface="Calibri"/>
              <a:cs typeface="Calibri"/>
            </a:endParaRPr>
          </a:p>
          <a:p>
            <a:pPr marL="355600" indent="-342900">
              <a:lnSpc>
                <a:spcPct val="100000"/>
              </a:lnSpc>
              <a:spcBef>
                <a:spcPts val="365"/>
              </a:spcBef>
              <a:buFont typeface="Wingdings" panose="05000000000000000000" pitchFamily="2" charset="2"/>
              <a:buChar char="q"/>
              <a:tabLst>
                <a:tab pos="354965" algn="l"/>
              </a:tabLst>
            </a:pPr>
            <a:r>
              <a:rPr lang="en-IN" sz="2400" dirty="0"/>
              <a:t>AI + Expert Verification</a:t>
            </a:r>
          </a:p>
          <a:p>
            <a:pPr marL="355600" indent="-342900">
              <a:lnSpc>
                <a:spcPct val="100000"/>
              </a:lnSpc>
              <a:spcBef>
                <a:spcPts val="365"/>
              </a:spcBef>
              <a:buFont typeface="Wingdings" panose="05000000000000000000" pitchFamily="2" charset="2"/>
              <a:buChar char="q"/>
              <a:tabLst>
                <a:tab pos="354965" algn="l"/>
              </a:tabLst>
            </a:pPr>
            <a:r>
              <a:rPr lang="en-IN" sz="2400" dirty="0"/>
              <a:t>End-to-End Traceability</a:t>
            </a:r>
          </a:p>
          <a:p>
            <a:pPr marL="355600" indent="-342900">
              <a:lnSpc>
                <a:spcPct val="100000"/>
              </a:lnSpc>
              <a:spcBef>
                <a:spcPts val="365"/>
              </a:spcBef>
              <a:buFont typeface="Wingdings" panose="05000000000000000000" pitchFamily="2" charset="2"/>
              <a:buChar char="q"/>
              <a:tabLst>
                <a:tab pos="354965" algn="l"/>
              </a:tabLst>
            </a:pPr>
            <a:r>
              <a:rPr lang="en-IN" sz="2400" dirty="0"/>
              <a:t>Connects Legitimate Buyers &amp; Producers</a:t>
            </a:r>
            <a:endParaRPr sz="2400" dirty="0">
              <a:latin typeface="Calibri"/>
              <a:cs typeface="Calibri"/>
            </a:endParaRPr>
          </a:p>
          <a:p>
            <a:pPr marL="355600" marR="775335" indent="-342900">
              <a:lnSpc>
                <a:spcPct val="121400"/>
              </a:lnSpc>
              <a:buFont typeface="Wingdings" panose="05000000000000000000" pitchFamily="2" charset="2"/>
              <a:buChar char="q"/>
              <a:tabLst>
                <a:tab pos="355600" algn="l"/>
              </a:tabLst>
            </a:pPr>
            <a:r>
              <a:rPr lang="en-IN" sz="2400" dirty="0"/>
              <a:t>Enables Better Conservation Decisions</a:t>
            </a:r>
            <a:endParaRPr sz="2200" dirty="0">
              <a:latin typeface="Calibri"/>
              <a:cs typeface="Calibri"/>
            </a:endParaRPr>
          </a:p>
        </p:txBody>
      </p:sp>
      <p:grpSp>
        <p:nvGrpSpPr>
          <p:cNvPr id="13" name="object 13"/>
          <p:cNvGrpSpPr/>
          <p:nvPr/>
        </p:nvGrpSpPr>
        <p:grpSpPr>
          <a:xfrm>
            <a:off x="171103" y="721487"/>
            <a:ext cx="3312795" cy="3931502"/>
            <a:chOff x="220345" y="1000569"/>
            <a:chExt cx="3312795" cy="2856865"/>
          </a:xfrm>
        </p:grpSpPr>
        <p:sp>
          <p:nvSpPr>
            <p:cNvPr id="14" name="object 14"/>
            <p:cNvSpPr/>
            <p:nvPr/>
          </p:nvSpPr>
          <p:spPr>
            <a:xfrm>
              <a:off x="234632" y="1014857"/>
              <a:ext cx="3284220" cy="2828290"/>
            </a:xfrm>
            <a:custGeom>
              <a:avLst/>
              <a:gdLst/>
              <a:ahLst/>
              <a:cxnLst/>
              <a:rect l="l" t="t" r="r" b="b"/>
              <a:pathLst>
                <a:path w="3284220" h="2828290">
                  <a:moveTo>
                    <a:pt x="3230816" y="0"/>
                  </a:moveTo>
                  <a:lnTo>
                    <a:pt x="53187" y="0"/>
                  </a:lnTo>
                  <a:lnTo>
                    <a:pt x="32484" y="4189"/>
                  </a:lnTo>
                  <a:lnTo>
                    <a:pt x="15578" y="15605"/>
                  </a:lnTo>
                  <a:lnTo>
                    <a:pt x="4179" y="32521"/>
                  </a:lnTo>
                  <a:lnTo>
                    <a:pt x="0" y="53212"/>
                  </a:lnTo>
                  <a:lnTo>
                    <a:pt x="0" y="2774695"/>
                  </a:lnTo>
                  <a:lnTo>
                    <a:pt x="4179" y="2795440"/>
                  </a:lnTo>
                  <a:lnTo>
                    <a:pt x="15578" y="2812351"/>
                  </a:lnTo>
                  <a:lnTo>
                    <a:pt x="32484" y="2823737"/>
                  </a:lnTo>
                  <a:lnTo>
                    <a:pt x="53187" y="2827909"/>
                  </a:lnTo>
                  <a:lnTo>
                    <a:pt x="3230816" y="2827909"/>
                  </a:lnTo>
                  <a:lnTo>
                    <a:pt x="3251561" y="2823737"/>
                  </a:lnTo>
                  <a:lnTo>
                    <a:pt x="3268471" y="2812351"/>
                  </a:lnTo>
                  <a:lnTo>
                    <a:pt x="3279858" y="2795440"/>
                  </a:lnTo>
                  <a:lnTo>
                    <a:pt x="3284029" y="2774695"/>
                  </a:lnTo>
                  <a:lnTo>
                    <a:pt x="3284029" y="53212"/>
                  </a:lnTo>
                  <a:lnTo>
                    <a:pt x="3279858" y="32521"/>
                  </a:lnTo>
                  <a:lnTo>
                    <a:pt x="3268472" y="15605"/>
                  </a:lnTo>
                  <a:lnTo>
                    <a:pt x="3251561" y="4189"/>
                  </a:lnTo>
                  <a:lnTo>
                    <a:pt x="3230816" y="0"/>
                  </a:lnTo>
                  <a:close/>
                </a:path>
              </a:pathLst>
            </a:custGeom>
            <a:solidFill>
              <a:srgbClr val="F1F1F1"/>
            </a:solidFill>
          </p:spPr>
          <p:txBody>
            <a:bodyPr wrap="square" lIns="0" tIns="0" rIns="0" bIns="0" rtlCol="0"/>
            <a:lstStyle/>
            <a:p>
              <a:endParaRPr dirty="0"/>
            </a:p>
          </p:txBody>
        </p:sp>
        <p:sp>
          <p:nvSpPr>
            <p:cNvPr id="15" name="object 15"/>
            <p:cNvSpPr/>
            <p:nvPr/>
          </p:nvSpPr>
          <p:spPr>
            <a:xfrm>
              <a:off x="234632" y="1014857"/>
              <a:ext cx="3284220" cy="2828290"/>
            </a:xfrm>
            <a:custGeom>
              <a:avLst/>
              <a:gdLst/>
              <a:ahLst/>
              <a:cxnLst/>
              <a:rect l="l" t="t" r="r" b="b"/>
              <a:pathLst>
                <a:path w="3284220" h="2828290">
                  <a:moveTo>
                    <a:pt x="0" y="53212"/>
                  </a:moveTo>
                  <a:lnTo>
                    <a:pt x="4179" y="32521"/>
                  </a:lnTo>
                  <a:lnTo>
                    <a:pt x="15578" y="15605"/>
                  </a:lnTo>
                  <a:lnTo>
                    <a:pt x="32484" y="4189"/>
                  </a:lnTo>
                  <a:lnTo>
                    <a:pt x="53187" y="0"/>
                  </a:lnTo>
                  <a:lnTo>
                    <a:pt x="3230816" y="0"/>
                  </a:lnTo>
                  <a:lnTo>
                    <a:pt x="3251561" y="4189"/>
                  </a:lnTo>
                  <a:lnTo>
                    <a:pt x="3268472" y="15605"/>
                  </a:lnTo>
                  <a:lnTo>
                    <a:pt x="3279858" y="32521"/>
                  </a:lnTo>
                  <a:lnTo>
                    <a:pt x="3284029" y="53212"/>
                  </a:lnTo>
                  <a:lnTo>
                    <a:pt x="3284029" y="2774695"/>
                  </a:lnTo>
                  <a:lnTo>
                    <a:pt x="3279858" y="2795440"/>
                  </a:lnTo>
                  <a:lnTo>
                    <a:pt x="3268471" y="2812351"/>
                  </a:lnTo>
                  <a:lnTo>
                    <a:pt x="3251561" y="2823737"/>
                  </a:lnTo>
                  <a:lnTo>
                    <a:pt x="3230816" y="2827909"/>
                  </a:lnTo>
                  <a:lnTo>
                    <a:pt x="53187" y="2827909"/>
                  </a:lnTo>
                  <a:lnTo>
                    <a:pt x="32484" y="2823737"/>
                  </a:lnTo>
                  <a:lnTo>
                    <a:pt x="15578" y="2812351"/>
                  </a:lnTo>
                  <a:lnTo>
                    <a:pt x="4179" y="2795440"/>
                  </a:lnTo>
                  <a:lnTo>
                    <a:pt x="0" y="2774695"/>
                  </a:lnTo>
                  <a:lnTo>
                    <a:pt x="0" y="53212"/>
                  </a:lnTo>
                  <a:close/>
                </a:path>
              </a:pathLst>
            </a:custGeom>
            <a:ln w="28575">
              <a:solidFill>
                <a:srgbClr val="000000"/>
              </a:solidFill>
            </a:ln>
          </p:spPr>
          <p:txBody>
            <a:bodyPr wrap="square" lIns="0" tIns="0" rIns="0" bIns="0" rtlCol="0"/>
            <a:lstStyle/>
            <a:p>
              <a:endParaRPr/>
            </a:p>
          </p:txBody>
        </p:sp>
      </p:grpSp>
      <p:sp>
        <p:nvSpPr>
          <p:cNvPr id="16" name="object 16"/>
          <p:cNvSpPr txBox="1"/>
          <p:nvPr/>
        </p:nvSpPr>
        <p:spPr>
          <a:xfrm>
            <a:off x="303072" y="1268349"/>
            <a:ext cx="3010535" cy="3399007"/>
          </a:xfrm>
          <a:prstGeom prst="rect">
            <a:avLst/>
          </a:prstGeom>
        </p:spPr>
        <p:txBody>
          <a:bodyPr vert="horz" wrap="square" lIns="0" tIns="13335" rIns="0" bIns="0" rtlCol="0">
            <a:spAutoFit/>
          </a:bodyPr>
          <a:lstStyle/>
          <a:p>
            <a:pPr marL="299085" marR="403860" indent="-287020">
              <a:lnSpc>
                <a:spcPct val="100000"/>
              </a:lnSpc>
              <a:spcBef>
                <a:spcPts val="105"/>
              </a:spcBef>
              <a:buFont typeface="Wingdings"/>
              <a:buChar char=""/>
              <a:tabLst>
                <a:tab pos="299085" algn="l"/>
              </a:tabLst>
            </a:pPr>
            <a:r>
              <a:rPr lang="en-IN" dirty="0"/>
              <a:t>Connects farmers with verified buyers and creates opportunities to sell medicinal plants at better market value</a:t>
            </a:r>
          </a:p>
          <a:p>
            <a:pPr marL="299085" indent="-286385">
              <a:lnSpc>
                <a:spcPct val="100000"/>
              </a:lnSpc>
              <a:buFont typeface="Wingdings"/>
              <a:buChar char=""/>
              <a:tabLst>
                <a:tab pos="299085" algn="l"/>
              </a:tabLst>
            </a:pPr>
            <a:r>
              <a:rPr lang="en-IN" dirty="0"/>
              <a:t>Helps farmers identify suitable medicinal plants and supports</a:t>
            </a:r>
            <a:r>
              <a:rPr lang="en-IN" sz="2000" dirty="0"/>
              <a:t> </a:t>
            </a:r>
            <a:r>
              <a:rPr lang="en-IN" dirty="0"/>
              <a:t>scientifically and legally approved cultivation.</a:t>
            </a:r>
          </a:p>
          <a:p>
            <a:pPr marL="299085" indent="-286385">
              <a:lnSpc>
                <a:spcPct val="100000"/>
              </a:lnSpc>
              <a:buFont typeface="Wingdings"/>
              <a:buChar char=""/>
              <a:tabLst>
                <a:tab pos="299085" algn="l"/>
              </a:tabLst>
            </a:pPr>
            <a:r>
              <a:rPr lang="en-IN" dirty="0"/>
              <a:t>Verified &amp; Traceable Produce.</a:t>
            </a:r>
            <a:endParaRPr lang="en-IN" dirty="0">
              <a:latin typeface="Calibri"/>
              <a:cs typeface="Calibri"/>
            </a:endParaRPr>
          </a:p>
        </p:txBody>
      </p:sp>
      <p:grpSp>
        <p:nvGrpSpPr>
          <p:cNvPr id="17" name="object 17"/>
          <p:cNvGrpSpPr/>
          <p:nvPr/>
        </p:nvGrpSpPr>
        <p:grpSpPr>
          <a:xfrm>
            <a:off x="217805" y="4701252"/>
            <a:ext cx="3312795" cy="2113280"/>
            <a:chOff x="220345" y="4101401"/>
            <a:chExt cx="3312795" cy="2113280"/>
          </a:xfrm>
        </p:grpSpPr>
        <p:sp>
          <p:nvSpPr>
            <p:cNvPr id="18" name="object 18"/>
            <p:cNvSpPr/>
            <p:nvPr/>
          </p:nvSpPr>
          <p:spPr>
            <a:xfrm>
              <a:off x="234632" y="4115689"/>
              <a:ext cx="3284220" cy="2084705"/>
            </a:xfrm>
            <a:custGeom>
              <a:avLst/>
              <a:gdLst/>
              <a:ahLst/>
              <a:cxnLst/>
              <a:rect l="l" t="t" r="r" b="b"/>
              <a:pathLst>
                <a:path w="3284220" h="2084704">
                  <a:moveTo>
                    <a:pt x="3244913" y="0"/>
                  </a:moveTo>
                  <a:lnTo>
                    <a:pt x="39204" y="0"/>
                  </a:lnTo>
                  <a:lnTo>
                    <a:pt x="23944" y="3095"/>
                  </a:lnTo>
                  <a:lnTo>
                    <a:pt x="11482" y="11525"/>
                  </a:lnTo>
                  <a:lnTo>
                    <a:pt x="3080" y="24003"/>
                  </a:lnTo>
                  <a:lnTo>
                    <a:pt x="0" y="39243"/>
                  </a:lnTo>
                  <a:lnTo>
                    <a:pt x="0" y="2045081"/>
                  </a:lnTo>
                  <a:lnTo>
                    <a:pt x="3080" y="2060341"/>
                  </a:lnTo>
                  <a:lnTo>
                    <a:pt x="11482" y="2072803"/>
                  </a:lnTo>
                  <a:lnTo>
                    <a:pt x="23944" y="2081205"/>
                  </a:lnTo>
                  <a:lnTo>
                    <a:pt x="39204" y="2084285"/>
                  </a:lnTo>
                  <a:lnTo>
                    <a:pt x="3244913" y="2084285"/>
                  </a:lnTo>
                  <a:lnTo>
                    <a:pt x="3260133" y="2081205"/>
                  </a:lnTo>
                  <a:lnTo>
                    <a:pt x="3272567" y="2072803"/>
                  </a:lnTo>
                  <a:lnTo>
                    <a:pt x="3280953" y="2060341"/>
                  </a:lnTo>
                  <a:lnTo>
                    <a:pt x="3284029" y="2045081"/>
                  </a:lnTo>
                  <a:lnTo>
                    <a:pt x="3284029" y="39243"/>
                  </a:lnTo>
                  <a:lnTo>
                    <a:pt x="3280953" y="24002"/>
                  </a:lnTo>
                  <a:lnTo>
                    <a:pt x="3272567" y="11525"/>
                  </a:lnTo>
                  <a:lnTo>
                    <a:pt x="3260133" y="3095"/>
                  </a:lnTo>
                  <a:lnTo>
                    <a:pt x="3244913" y="0"/>
                  </a:lnTo>
                  <a:close/>
                </a:path>
              </a:pathLst>
            </a:custGeom>
            <a:solidFill>
              <a:srgbClr val="F1F1F1"/>
            </a:solidFill>
          </p:spPr>
          <p:txBody>
            <a:bodyPr wrap="square" lIns="0" tIns="0" rIns="0" bIns="0" rtlCol="0"/>
            <a:lstStyle/>
            <a:p>
              <a:endParaRPr lang="en-IN" dirty="0"/>
            </a:p>
            <a:p>
              <a:pPr marL="285750" indent="-285750">
                <a:buFont typeface="Wingdings" panose="05000000000000000000" pitchFamily="2" charset="2"/>
                <a:buChar char="v"/>
              </a:pPr>
              <a:r>
                <a:rPr lang="en-IN" sz="1600" b="1" dirty="0"/>
                <a:t>Better Conservation &amp; Monitoring</a:t>
              </a:r>
              <a:r>
                <a:rPr lang="en-IN" sz="1600" dirty="0"/>
                <a:t> </a:t>
              </a:r>
            </a:p>
            <a:p>
              <a:pPr marL="285750" indent="-285750">
                <a:buFont typeface="Wingdings" panose="05000000000000000000" pitchFamily="2" charset="2"/>
                <a:buChar char="v"/>
              </a:pPr>
              <a:endParaRPr lang="en-IN" sz="1600" dirty="0"/>
            </a:p>
            <a:p>
              <a:pPr marL="285750" indent="-285750">
                <a:buFont typeface="Wingdings" panose="05000000000000000000" pitchFamily="2" charset="2"/>
                <a:buChar char="v"/>
              </a:pPr>
              <a:r>
                <a:rPr lang="en-IN" sz="1600" b="1" dirty="0"/>
                <a:t>Transparent &amp; Traceable Supply Chain</a:t>
              </a:r>
            </a:p>
            <a:p>
              <a:pPr marL="285750" indent="-285750">
                <a:buFont typeface="Wingdings" panose="05000000000000000000" pitchFamily="2" charset="2"/>
                <a:buChar char="v"/>
              </a:pPr>
              <a:endParaRPr lang="en-IN" sz="1600" dirty="0"/>
            </a:p>
            <a:p>
              <a:pPr marL="285750" indent="-285750">
                <a:buFont typeface="Wingdings" panose="05000000000000000000" pitchFamily="2" charset="2"/>
                <a:buChar char="v"/>
              </a:pPr>
              <a:r>
                <a:rPr lang="en-IN" sz="1600" b="1" dirty="0"/>
                <a:t>Data-Driven Decision Making</a:t>
              </a:r>
            </a:p>
            <a:p>
              <a:endParaRPr lang="en-IN" sz="1600" dirty="0"/>
            </a:p>
            <a:p>
              <a:endParaRPr lang="en-IN" dirty="0"/>
            </a:p>
          </p:txBody>
        </p:sp>
        <p:sp>
          <p:nvSpPr>
            <p:cNvPr id="19" name="object 19"/>
            <p:cNvSpPr/>
            <p:nvPr/>
          </p:nvSpPr>
          <p:spPr>
            <a:xfrm>
              <a:off x="234632" y="4115689"/>
              <a:ext cx="3284220" cy="2084705"/>
            </a:xfrm>
            <a:custGeom>
              <a:avLst/>
              <a:gdLst/>
              <a:ahLst/>
              <a:cxnLst/>
              <a:rect l="l" t="t" r="r" b="b"/>
              <a:pathLst>
                <a:path w="3284220" h="2084704">
                  <a:moveTo>
                    <a:pt x="0" y="39243"/>
                  </a:moveTo>
                  <a:lnTo>
                    <a:pt x="3080" y="24003"/>
                  </a:lnTo>
                  <a:lnTo>
                    <a:pt x="11482" y="11525"/>
                  </a:lnTo>
                  <a:lnTo>
                    <a:pt x="23944" y="3095"/>
                  </a:lnTo>
                  <a:lnTo>
                    <a:pt x="39204" y="0"/>
                  </a:lnTo>
                  <a:lnTo>
                    <a:pt x="3244913" y="0"/>
                  </a:lnTo>
                  <a:lnTo>
                    <a:pt x="3260133" y="3095"/>
                  </a:lnTo>
                  <a:lnTo>
                    <a:pt x="3272567" y="11525"/>
                  </a:lnTo>
                  <a:lnTo>
                    <a:pt x="3280953" y="24002"/>
                  </a:lnTo>
                  <a:lnTo>
                    <a:pt x="3284029" y="39243"/>
                  </a:lnTo>
                  <a:lnTo>
                    <a:pt x="3284029" y="2045081"/>
                  </a:lnTo>
                  <a:lnTo>
                    <a:pt x="3280953" y="2060341"/>
                  </a:lnTo>
                  <a:lnTo>
                    <a:pt x="3272567" y="2072803"/>
                  </a:lnTo>
                  <a:lnTo>
                    <a:pt x="3260133" y="2081205"/>
                  </a:lnTo>
                  <a:lnTo>
                    <a:pt x="3244913" y="2084285"/>
                  </a:lnTo>
                  <a:lnTo>
                    <a:pt x="39204" y="2084285"/>
                  </a:lnTo>
                  <a:lnTo>
                    <a:pt x="23944" y="2081205"/>
                  </a:lnTo>
                  <a:lnTo>
                    <a:pt x="11482" y="2072803"/>
                  </a:lnTo>
                  <a:lnTo>
                    <a:pt x="3080" y="2060341"/>
                  </a:lnTo>
                  <a:lnTo>
                    <a:pt x="0" y="2045081"/>
                  </a:lnTo>
                  <a:lnTo>
                    <a:pt x="0" y="39243"/>
                  </a:lnTo>
                  <a:close/>
                </a:path>
              </a:pathLst>
            </a:custGeom>
            <a:ln w="28575">
              <a:solidFill>
                <a:srgbClr val="000000"/>
              </a:solidFill>
            </a:ln>
          </p:spPr>
          <p:txBody>
            <a:bodyPr wrap="square" lIns="0" tIns="0" rIns="0" bIns="0" rtlCol="0"/>
            <a:lstStyle/>
            <a:p>
              <a:endParaRPr/>
            </a:p>
          </p:txBody>
        </p:sp>
      </p:grpSp>
      <p:grpSp>
        <p:nvGrpSpPr>
          <p:cNvPr id="21" name="object 21"/>
          <p:cNvGrpSpPr/>
          <p:nvPr/>
        </p:nvGrpSpPr>
        <p:grpSpPr>
          <a:xfrm>
            <a:off x="1262668" y="4658140"/>
            <a:ext cx="2181860" cy="356235"/>
            <a:chOff x="714921" y="3947731"/>
            <a:chExt cx="2181860" cy="356235"/>
          </a:xfrm>
        </p:grpSpPr>
        <p:sp>
          <p:nvSpPr>
            <p:cNvPr id="22" name="object 22"/>
            <p:cNvSpPr/>
            <p:nvPr/>
          </p:nvSpPr>
          <p:spPr>
            <a:xfrm>
              <a:off x="729208" y="3962019"/>
              <a:ext cx="2153285" cy="327660"/>
            </a:xfrm>
            <a:custGeom>
              <a:avLst/>
              <a:gdLst/>
              <a:ahLst/>
              <a:cxnLst/>
              <a:rect l="l" t="t" r="r" b="b"/>
              <a:pathLst>
                <a:path w="2153285" h="327660">
                  <a:moveTo>
                    <a:pt x="1989226" y="0"/>
                  </a:moveTo>
                  <a:lnTo>
                    <a:pt x="163614" y="0"/>
                  </a:lnTo>
                  <a:lnTo>
                    <a:pt x="120119" y="5846"/>
                  </a:lnTo>
                  <a:lnTo>
                    <a:pt x="81035" y="22347"/>
                  </a:lnTo>
                  <a:lnTo>
                    <a:pt x="47921" y="47942"/>
                  </a:lnTo>
                  <a:lnTo>
                    <a:pt x="22338" y="81073"/>
                  </a:lnTo>
                  <a:lnTo>
                    <a:pt x="5844" y="120179"/>
                  </a:lnTo>
                  <a:lnTo>
                    <a:pt x="0" y="163702"/>
                  </a:lnTo>
                  <a:lnTo>
                    <a:pt x="5844" y="207172"/>
                  </a:lnTo>
                  <a:lnTo>
                    <a:pt x="22338" y="246243"/>
                  </a:lnTo>
                  <a:lnTo>
                    <a:pt x="47921" y="279352"/>
                  </a:lnTo>
                  <a:lnTo>
                    <a:pt x="81035" y="304936"/>
                  </a:lnTo>
                  <a:lnTo>
                    <a:pt x="120119" y="321432"/>
                  </a:lnTo>
                  <a:lnTo>
                    <a:pt x="163614" y="327278"/>
                  </a:lnTo>
                  <a:lnTo>
                    <a:pt x="1989226" y="327278"/>
                  </a:lnTo>
                  <a:lnTo>
                    <a:pt x="2032749" y="321432"/>
                  </a:lnTo>
                  <a:lnTo>
                    <a:pt x="2071856" y="304936"/>
                  </a:lnTo>
                  <a:lnTo>
                    <a:pt x="2104986" y="279352"/>
                  </a:lnTo>
                  <a:lnTo>
                    <a:pt x="2130582" y="246243"/>
                  </a:lnTo>
                  <a:lnTo>
                    <a:pt x="2147082" y="207172"/>
                  </a:lnTo>
                  <a:lnTo>
                    <a:pt x="2152929" y="163702"/>
                  </a:lnTo>
                  <a:lnTo>
                    <a:pt x="2147082" y="120179"/>
                  </a:lnTo>
                  <a:lnTo>
                    <a:pt x="2130582" y="81073"/>
                  </a:lnTo>
                  <a:lnTo>
                    <a:pt x="2104986" y="47942"/>
                  </a:lnTo>
                  <a:lnTo>
                    <a:pt x="2071856" y="22347"/>
                  </a:lnTo>
                  <a:lnTo>
                    <a:pt x="2032749" y="5846"/>
                  </a:lnTo>
                  <a:lnTo>
                    <a:pt x="1989226" y="0"/>
                  </a:lnTo>
                  <a:close/>
                </a:path>
              </a:pathLst>
            </a:custGeom>
            <a:solidFill>
              <a:srgbClr val="F1F1F1"/>
            </a:solidFill>
          </p:spPr>
          <p:txBody>
            <a:bodyPr wrap="square" lIns="0" tIns="0" rIns="0" bIns="0" rtlCol="0"/>
            <a:lstStyle/>
            <a:p>
              <a:r>
                <a:rPr lang="en-IN" dirty="0"/>
                <a:t>   </a:t>
              </a:r>
              <a:r>
                <a:rPr lang="en-IN" b="1" dirty="0"/>
                <a:t>GOVERNMENT</a:t>
              </a:r>
              <a:endParaRPr b="1" dirty="0"/>
            </a:p>
          </p:txBody>
        </p:sp>
        <p:sp>
          <p:nvSpPr>
            <p:cNvPr id="23" name="object 23"/>
            <p:cNvSpPr/>
            <p:nvPr/>
          </p:nvSpPr>
          <p:spPr>
            <a:xfrm>
              <a:off x="729208" y="3962019"/>
              <a:ext cx="2153285" cy="327660"/>
            </a:xfrm>
            <a:custGeom>
              <a:avLst/>
              <a:gdLst/>
              <a:ahLst/>
              <a:cxnLst/>
              <a:rect l="l" t="t" r="r" b="b"/>
              <a:pathLst>
                <a:path w="2153285" h="327660">
                  <a:moveTo>
                    <a:pt x="0" y="163702"/>
                  </a:moveTo>
                  <a:lnTo>
                    <a:pt x="5844" y="120179"/>
                  </a:lnTo>
                  <a:lnTo>
                    <a:pt x="22338" y="81073"/>
                  </a:lnTo>
                  <a:lnTo>
                    <a:pt x="47921" y="47942"/>
                  </a:lnTo>
                  <a:lnTo>
                    <a:pt x="81035" y="22347"/>
                  </a:lnTo>
                  <a:lnTo>
                    <a:pt x="120119" y="5846"/>
                  </a:lnTo>
                  <a:lnTo>
                    <a:pt x="163614" y="0"/>
                  </a:lnTo>
                  <a:lnTo>
                    <a:pt x="1989226" y="0"/>
                  </a:lnTo>
                  <a:lnTo>
                    <a:pt x="2032749" y="5846"/>
                  </a:lnTo>
                  <a:lnTo>
                    <a:pt x="2071856" y="22347"/>
                  </a:lnTo>
                  <a:lnTo>
                    <a:pt x="2104986" y="47942"/>
                  </a:lnTo>
                  <a:lnTo>
                    <a:pt x="2130582" y="81073"/>
                  </a:lnTo>
                  <a:lnTo>
                    <a:pt x="2147082" y="120179"/>
                  </a:lnTo>
                  <a:lnTo>
                    <a:pt x="2152929" y="163702"/>
                  </a:lnTo>
                  <a:lnTo>
                    <a:pt x="2147082" y="207172"/>
                  </a:lnTo>
                  <a:lnTo>
                    <a:pt x="2130582" y="246243"/>
                  </a:lnTo>
                  <a:lnTo>
                    <a:pt x="2104986" y="279352"/>
                  </a:lnTo>
                  <a:lnTo>
                    <a:pt x="2071856" y="304936"/>
                  </a:lnTo>
                  <a:lnTo>
                    <a:pt x="2032749" y="321432"/>
                  </a:lnTo>
                  <a:lnTo>
                    <a:pt x="1989226" y="327278"/>
                  </a:lnTo>
                  <a:lnTo>
                    <a:pt x="163614" y="327278"/>
                  </a:lnTo>
                  <a:lnTo>
                    <a:pt x="120119" y="321432"/>
                  </a:lnTo>
                  <a:lnTo>
                    <a:pt x="81035" y="304936"/>
                  </a:lnTo>
                  <a:lnTo>
                    <a:pt x="47921" y="279352"/>
                  </a:lnTo>
                  <a:lnTo>
                    <a:pt x="22338" y="246243"/>
                  </a:lnTo>
                  <a:lnTo>
                    <a:pt x="5844" y="207172"/>
                  </a:lnTo>
                  <a:lnTo>
                    <a:pt x="0" y="163702"/>
                  </a:lnTo>
                  <a:close/>
                </a:path>
              </a:pathLst>
            </a:custGeom>
            <a:ln w="28575">
              <a:solidFill>
                <a:srgbClr val="000000"/>
              </a:solidFill>
            </a:ln>
          </p:spPr>
          <p:txBody>
            <a:bodyPr wrap="square" lIns="0" tIns="0" rIns="0" bIns="0" rtlCol="0"/>
            <a:lstStyle/>
            <a:p>
              <a:endParaRPr/>
            </a:p>
          </p:txBody>
        </p:sp>
      </p:grpSp>
      <p:grpSp>
        <p:nvGrpSpPr>
          <p:cNvPr id="25" name="object 25"/>
          <p:cNvGrpSpPr/>
          <p:nvPr/>
        </p:nvGrpSpPr>
        <p:grpSpPr>
          <a:xfrm>
            <a:off x="1151542" y="588798"/>
            <a:ext cx="2303780" cy="329565"/>
            <a:chOff x="636612" y="826008"/>
            <a:chExt cx="2303780" cy="329565"/>
          </a:xfrm>
        </p:grpSpPr>
        <p:sp>
          <p:nvSpPr>
            <p:cNvPr id="26" name="object 26"/>
            <p:cNvSpPr/>
            <p:nvPr/>
          </p:nvSpPr>
          <p:spPr>
            <a:xfrm>
              <a:off x="636612" y="826008"/>
              <a:ext cx="2303780" cy="329565"/>
            </a:xfrm>
            <a:custGeom>
              <a:avLst/>
              <a:gdLst/>
              <a:ahLst/>
              <a:cxnLst/>
              <a:rect l="l" t="t" r="r" b="b"/>
              <a:pathLst>
                <a:path w="2303780" h="329565">
                  <a:moveTo>
                    <a:pt x="2138591" y="0"/>
                  </a:moveTo>
                  <a:lnTo>
                    <a:pt x="164706" y="0"/>
                  </a:lnTo>
                  <a:lnTo>
                    <a:pt x="120918" y="5877"/>
                  </a:lnTo>
                  <a:lnTo>
                    <a:pt x="81573" y="22464"/>
                  </a:lnTo>
                  <a:lnTo>
                    <a:pt x="48239" y="48196"/>
                  </a:lnTo>
                  <a:lnTo>
                    <a:pt x="22486" y="81505"/>
                  </a:lnTo>
                  <a:lnTo>
                    <a:pt x="5883" y="120826"/>
                  </a:lnTo>
                  <a:lnTo>
                    <a:pt x="0" y="164591"/>
                  </a:lnTo>
                  <a:lnTo>
                    <a:pt x="5883" y="208411"/>
                  </a:lnTo>
                  <a:lnTo>
                    <a:pt x="22486" y="247767"/>
                  </a:lnTo>
                  <a:lnTo>
                    <a:pt x="48239" y="281098"/>
                  </a:lnTo>
                  <a:lnTo>
                    <a:pt x="81573" y="306841"/>
                  </a:lnTo>
                  <a:lnTo>
                    <a:pt x="120918" y="323433"/>
                  </a:lnTo>
                  <a:lnTo>
                    <a:pt x="164706" y="329311"/>
                  </a:lnTo>
                  <a:lnTo>
                    <a:pt x="2138591" y="329311"/>
                  </a:lnTo>
                  <a:lnTo>
                    <a:pt x="2182410" y="323433"/>
                  </a:lnTo>
                  <a:lnTo>
                    <a:pt x="2221766" y="306841"/>
                  </a:lnTo>
                  <a:lnTo>
                    <a:pt x="2255097" y="281098"/>
                  </a:lnTo>
                  <a:lnTo>
                    <a:pt x="2280840" y="247767"/>
                  </a:lnTo>
                  <a:lnTo>
                    <a:pt x="2297432" y="208411"/>
                  </a:lnTo>
                  <a:lnTo>
                    <a:pt x="2303310" y="164591"/>
                  </a:lnTo>
                  <a:lnTo>
                    <a:pt x="2297432" y="120826"/>
                  </a:lnTo>
                  <a:lnTo>
                    <a:pt x="2280840" y="81505"/>
                  </a:lnTo>
                  <a:lnTo>
                    <a:pt x="2255097" y="48196"/>
                  </a:lnTo>
                  <a:lnTo>
                    <a:pt x="2221766" y="22464"/>
                  </a:lnTo>
                  <a:lnTo>
                    <a:pt x="2182410" y="5877"/>
                  </a:lnTo>
                  <a:lnTo>
                    <a:pt x="2138591" y="0"/>
                  </a:lnTo>
                  <a:close/>
                </a:path>
              </a:pathLst>
            </a:custGeom>
            <a:solidFill>
              <a:srgbClr val="F1F1F1"/>
            </a:solidFill>
          </p:spPr>
          <p:txBody>
            <a:bodyPr wrap="square" lIns="0" tIns="0" rIns="0" bIns="0" rtlCol="0"/>
            <a:lstStyle/>
            <a:p>
              <a:r>
                <a:rPr lang="en-IN" dirty="0"/>
                <a:t>     </a:t>
              </a:r>
              <a:r>
                <a:rPr lang="en-IN" sz="2000" b="1" dirty="0"/>
                <a:t>FARMERS</a:t>
              </a:r>
              <a:endParaRPr sz="2000" b="1" dirty="0"/>
            </a:p>
          </p:txBody>
        </p:sp>
        <p:sp>
          <p:nvSpPr>
            <p:cNvPr id="27" name="object 27"/>
            <p:cNvSpPr/>
            <p:nvPr/>
          </p:nvSpPr>
          <p:spPr>
            <a:xfrm>
              <a:off x="636612" y="826008"/>
              <a:ext cx="2303780" cy="329565"/>
            </a:xfrm>
            <a:custGeom>
              <a:avLst/>
              <a:gdLst/>
              <a:ahLst/>
              <a:cxnLst/>
              <a:rect l="l" t="t" r="r" b="b"/>
              <a:pathLst>
                <a:path w="2303780" h="329565">
                  <a:moveTo>
                    <a:pt x="0" y="164591"/>
                  </a:moveTo>
                  <a:lnTo>
                    <a:pt x="5883" y="120826"/>
                  </a:lnTo>
                  <a:lnTo>
                    <a:pt x="22486" y="81505"/>
                  </a:lnTo>
                  <a:lnTo>
                    <a:pt x="48239" y="48196"/>
                  </a:lnTo>
                  <a:lnTo>
                    <a:pt x="81573" y="22464"/>
                  </a:lnTo>
                  <a:lnTo>
                    <a:pt x="120918" y="5877"/>
                  </a:lnTo>
                  <a:lnTo>
                    <a:pt x="164706" y="0"/>
                  </a:lnTo>
                  <a:lnTo>
                    <a:pt x="2138591" y="0"/>
                  </a:lnTo>
                  <a:lnTo>
                    <a:pt x="2182410" y="5877"/>
                  </a:lnTo>
                  <a:lnTo>
                    <a:pt x="2221766" y="22464"/>
                  </a:lnTo>
                  <a:lnTo>
                    <a:pt x="2255097" y="48196"/>
                  </a:lnTo>
                  <a:lnTo>
                    <a:pt x="2280840" y="81505"/>
                  </a:lnTo>
                  <a:lnTo>
                    <a:pt x="2297432" y="120826"/>
                  </a:lnTo>
                  <a:lnTo>
                    <a:pt x="2303310" y="164591"/>
                  </a:lnTo>
                  <a:lnTo>
                    <a:pt x="2297432" y="208411"/>
                  </a:lnTo>
                  <a:lnTo>
                    <a:pt x="2280840" y="247767"/>
                  </a:lnTo>
                  <a:lnTo>
                    <a:pt x="2255097" y="281098"/>
                  </a:lnTo>
                  <a:lnTo>
                    <a:pt x="2221766" y="306841"/>
                  </a:lnTo>
                  <a:lnTo>
                    <a:pt x="2182410" y="323433"/>
                  </a:lnTo>
                  <a:lnTo>
                    <a:pt x="2138591" y="329311"/>
                  </a:lnTo>
                  <a:lnTo>
                    <a:pt x="164706" y="329311"/>
                  </a:lnTo>
                  <a:lnTo>
                    <a:pt x="120918" y="323433"/>
                  </a:lnTo>
                  <a:lnTo>
                    <a:pt x="81573" y="306841"/>
                  </a:lnTo>
                  <a:lnTo>
                    <a:pt x="48239" y="281098"/>
                  </a:lnTo>
                  <a:lnTo>
                    <a:pt x="22486" y="247767"/>
                  </a:lnTo>
                  <a:lnTo>
                    <a:pt x="5883" y="208411"/>
                  </a:lnTo>
                  <a:lnTo>
                    <a:pt x="0" y="164591"/>
                  </a:lnTo>
                  <a:close/>
                </a:path>
              </a:pathLst>
            </a:custGeom>
            <a:ln w="28575">
              <a:solidFill>
                <a:srgbClr val="000000"/>
              </a:solidFill>
            </a:ln>
          </p:spPr>
          <p:txBody>
            <a:bodyPr wrap="square" lIns="0" tIns="0" rIns="0" bIns="0" rtlCol="0"/>
            <a:lstStyle/>
            <a:p>
              <a:endParaRPr dirty="0"/>
            </a:p>
          </p:txBody>
        </p:sp>
      </p:grpSp>
      <p:grpSp>
        <p:nvGrpSpPr>
          <p:cNvPr id="11" name="Group 10">
            <a:extLst>
              <a:ext uri="{FF2B5EF4-FFF2-40B4-BE49-F238E27FC236}">
                <a16:creationId xmlns:a16="http://schemas.microsoft.com/office/drawing/2014/main" id="{1480A815-CB10-DFB5-4248-0F9DBD6E79A4}"/>
              </a:ext>
            </a:extLst>
          </p:cNvPr>
          <p:cNvGrpSpPr/>
          <p:nvPr/>
        </p:nvGrpSpPr>
        <p:grpSpPr>
          <a:xfrm>
            <a:off x="8791638" y="707199"/>
            <a:ext cx="1365250" cy="377825"/>
            <a:chOff x="8791638" y="707199"/>
            <a:chExt cx="1365250" cy="377825"/>
          </a:xfrm>
        </p:grpSpPr>
        <p:grpSp>
          <p:nvGrpSpPr>
            <p:cNvPr id="29" name="object 29"/>
            <p:cNvGrpSpPr/>
            <p:nvPr/>
          </p:nvGrpSpPr>
          <p:grpSpPr>
            <a:xfrm>
              <a:off x="8791638" y="707199"/>
              <a:ext cx="1365250" cy="377825"/>
              <a:chOff x="8791638" y="707199"/>
              <a:chExt cx="1365250" cy="377825"/>
            </a:xfrm>
          </p:grpSpPr>
          <p:sp>
            <p:nvSpPr>
              <p:cNvPr id="30" name="object 30"/>
              <p:cNvSpPr/>
              <p:nvPr/>
            </p:nvSpPr>
            <p:spPr>
              <a:xfrm>
                <a:off x="8805926" y="721487"/>
                <a:ext cx="1336675" cy="349250"/>
              </a:xfrm>
              <a:custGeom>
                <a:avLst/>
                <a:gdLst/>
                <a:ahLst/>
                <a:cxnLst/>
                <a:rect l="l" t="t" r="r" b="b"/>
                <a:pathLst>
                  <a:path w="1336675" h="349250">
                    <a:moveTo>
                      <a:pt x="1202690" y="0"/>
                    </a:moveTo>
                    <a:lnTo>
                      <a:pt x="133984" y="0"/>
                    </a:lnTo>
                    <a:lnTo>
                      <a:pt x="91618" y="6825"/>
                    </a:lnTo>
                    <a:lnTo>
                      <a:pt x="54836" y="25830"/>
                    </a:lnTo>
                    <a:lnTo>
                      <a:pt x="25838" y="54809"/>
                    </a:lnTo>
                    <a:lnTo>
                      <a:pt x="6826" y="91553"/>
                    </a:lnTo>
                    <a:lnTo>
                      <a:pt x="0" y="133858"/>
                    </a:lnTo>
                    <a:lnTo>
                      <a:pt x="0" y="215137"/>
                    </a:lnTo>
                    <a:lnTo>
                      <a:pt x="6826" y="257504"/>
                    </a:lnTo>
                    <a:lnTo>
                      <a:pt x="25838" y="294286"/>
                    </a:lnTo>
                    <a:lnTo>
                      <a:pt x="54836" y="323284"/>
                    </a:lnTo>
                    <a:lnTo>
                      <a:pt x="91618" y="342296"/>
                    </a:lnTo>
                    <a:lnTo>
                      <a:pt x="133984" y="349123"/>
                    </a:lnTo>
                    <a:lnTo>
                      <a:pt x="1202690" y="349123"/>
                    </a:lnTo>
                    <a:lnTo>
                      <a:pt x="1245007" y="342296"/>
                    </a:lnTo>
                    <a:lnTo>
                      <a:pt x="1281783" y="323284"/>
                    </a:lnTo>
                    <a:lnTo>
                      <a:pt x="1310799" y="294286"/>
                    </a:lnTo>
                    <a:lnTo>
                      <a:pt x="1329836" y="257504"/>
                    </a:lnTo>
                    <a:lnTo>
                      <a:pt x="1336675" y="215137"/>
                    </a:lnTo>
                    <a:lnTo>
                      <a:pt x="1336675" y="133858"/>
                    </a:lnTo>
                    <a:lnTo>
                      <a:pt x="1329836" y="91553"/>
                    </a:lnTo>
                    <a:lnTo>
                      <a:pt x="1310799" y="54809"/>
                    </a:lnTo>
                    <a:lnTo>
                      <a:pt x="1281783" y="25830"/>
                    </a:lnTo>
                    <a:lnTo>
                      <a:pt x="1245007" y="6825"/>
                    </a:lnTo>
                    <a:lnTo>
                      <a:pt x="1202690" y="0"/>
                    </a:lnTo>
                    <a:close/>
                  </a:path>
                </a:pathLst>
              </a:custGeom>
              <a:solidFill>
                <a:srgbClr val="F1F1F1"/>
              </a:solidFill>
            </p:spPr>
            <p:txBody>
              <a:bodyPr wrap="square" lIns="0" tIns="0" rIns="0" bIns="0" rtlCol="0"/>
              <a:lstStyle/>
              <a:p>
                <a:endParaRPr/>
              </a:p>
            </p:txBody>
          </p:sp>
          <p:sp>
            <p:nvSpPr>
              <p:cNvPr id="31" name="object 31"/>
              <p:cNvSpPr/>
              <p:nvPr/>
            </p:nvSpPr>
            <p:spPr>
              <a:xfrm>
                <a:off x="8805926" y="721487"/>
                <a:ext cx="1336675" cy="349250"/>
              </a:xfrm>
              <a:custGeom>
                <a:avLst/>
                <a:gdLst/>
                <a:ahLst/>
                <a:cxnLst/>
                <a:rect l="l" t="t" r="r" b="b"/>
                <a:pathLst>
                  <a:path w="1336675" h="349250">
                    <a:moveTo>
                      <a:pt x="0" y="133858"/>
                    </a:moveTo>
                    <a:lnTo>
                      <a:pt x="6826" y="91553"/>
                    </a:lnTo>
                    <a:lnTo>
                      <a:pt x="25838" y="54809"/>
                    </a:lnTo>
                    <a:lnTo>
                      <a:pt x="54836" y="25830"/>
                    </a:lnTo>
                    <a:lnTo>
                      <a:pt x="91618" y="6825"/>
                    </a:lnTo>
                    <a:lnTo>
                      <a:pt x="133984" y="0"/>
                    </a:lnTo>
                    <a:lnTo>
                      <a:pt x="1202690" y="0"/>
                    </a:lnTo>
                    <a:lnTo>
                      <a:pt x="1245007" y="6825"/>
                    </a:lnTo>
                    <a:lnTo>
                      <a:pt x="1281783" y="25830"/>
                    </a:lnTo>
                    <a:lnTo>
                      <a:pt x="1310799" y="54809"/>
                    </a:lnTo>
                    <a:lnTo>
                      <a:pt x="1329836" y="91553"/>
                    </a:lnTo>
                    <a:lnTo>
                      <a:pt x="1336675" y="133858"/>
                    </a:lnTo>
                    <a:lnTo>
                      <a:pt x="1336675" y="215137"/>
                    </a:lnTo>
                    <a:lnTo>
                      <a:pt x="1329836" y="257504"/>
                    </a:lnTo>
                    <a:lnTo>
                      <a:pt x="1310799" y="294286"/>
                    </a:lnTo>
                    <a:lnTo>
                      <a:pt x="1281783" y="323284"/>
                    </a:lnTo>
                    <a:lnTo>
                      <a:pt x="1245007" y="342296"/>
                    </a:lnTo>
                    <a:lnTo>
                      <a:pt x="1202690" y="349123"/>
                    </a:lnTo>
                    <a:lnTo>
                      <a:pt x="133984" y="349123"/>
                    </a:lnTo>
                    <a:lnTo>
                      <a:pt x="91618" y="342296"/>
                    </a:lnTo>
                    <a:lnTo>
                      <a:pt x="54836" y="323284"/>
                    </a:lnTo>
                    <a:lnTo>
                      <a:pt x="25838" y="294286"/>
                    </a:lnTo>
                    <a:lnTo>
                      <a:pt x="6826" y="257504"/>
                    </a:lnTo>
                    <a:lnTo>
                      <a:pt x="0" y="215137"/>
                    </a:lnTo>
                    <a:lnTo>
                      <a:pt x="0" y="133858"/>
                    </a:lnTo>
                    <a:close/>
                  </a:path>
                </a:pathLst>
              </a:custGeom>
              <a:ln w="28575">
                <a:solidFill>
                  <a:srgbClr val="000000"/>
                </a:solidFill>
              </a:ln>
            </p:spPr>
            <p:txBody>
              <a:bodyPr wrap="square" lIns="0" tIns="0" rIns="0" bIns="0" rtlCol="0"/>
              <a:lstStyle/>
              <a:p>
                <a:endParaRPr/>
              </a:p>
            </p:txBody>
          </p:sp>
        </p:grpSp>
        <p:sp>
          <p:nvSpPr>
            <p:cNvPr id="32" name="object 32"/>
            <p:cNvSpPr txBox="1"/>
            <p:nvPr/>
          </p:nvSpPr>
          <p:spPr>
            <a:xfrm>
              <a:off x="8968002" y="709756"/>
              <a:ext cx="1061085" cy="331470"/>
            </a:xfrm>
            <a:prstGeom prst="rect">
              <a:avLst/>
            </a:prstGeom>
          </p:spPr>
          <p:txBody>
            <a:bodyPr vert="horz" wrap="square" lIns="0" tIns="13335" rIns="0" bIns="0" rtlCol="0">
              <a:spAutoFit/>
            </a:bodyPr>
            <a:lstStyle/>
            <a:p>
              <a:pPr marL="12700">
                <a:lnSpc>
                  <a:spcPct val="100000"/>
                </a:lnSpc>
                <a:spcBef>
                  <a:spcPts val="105"/>
                </a:spcBef>
              </a:pPr>
              <a:r>
                <a:rPr sz="2000" spc="-10" dirty="0">
                  <a:latin typeface="Calibri"/>
                  <a:cs typeface="Calibri"/>
                </a:rPr>
                <a:t>Prototype</a:t>
              </a:r>
              <a:endParaRPr sz="2000">
                <a:latin typeface="Calibri"/>
                <a:cs typeface="Calibri"/>
              </a:endParaRPr>
            </a:p>
          </p:txBody>
        </p:sp>
      </p:grpSp>
      <p:grpSp>
        <p:nvGrpSpPr>
          <p:cNvPr id="33" name="object 33"/>
          <p:cNvGrpSpPr/>
          <p:nvPr/>
        </p:nvGrpSpPr>
        <p:grpSpPr>
          <a:xfrm>
            <a:off x="4004881" y="836104"/>
            <a:ext cx="1392555" cy="356235"/>
            <a:chOff x="4004881" y="836104"/>
            <a:chExt cx="1392555" cy="356235"/>
          </a:xfrm>
        </p:grpSpPr>
        <p:sp>
          <p:nvSpPr>
            <p:cNvPr id="34" name="object 34"/>
            <p:cNvSpPr/>
            <p:nvPr/>
          </p:nvSpPr>
          <p:spPr>
            <a:xfrm>
              <a:off x="4019169" y="850391"/>
              <a:ext cx="1363980" cy="327660"/>
            </a:xfrm>
            <a:custGeom>
              <a:avLst/>
              <a:gdLst/>
              <a:ahLst/>
              <a:cxnLst/>
              <a:rect l="l" t="t" r="r" b="b"/>
              <a:pathLst>
                <a:path w="1363979" h="327659">
                  <a:moveTo>
                    <a:pt x="1199895" y="0"/>
                  </a:moveTo>
                  <a:lnTo>
                    <a:pt x="163575" y="0"/>
                  </a:lnTo>
                  <a:lnTo>
                    <a:pt x="120106" y="5846"/>
                  </a:lnTo>
                  <a:lnTo>
                    <a:pt x="81035" y="22342"/>
                  </a:lnTo>
                  <a:lnTo>
                    <a:pt x="47926" y="47926"/>
                  </a:lnTo>
                  <a:lnTo>
                    <a:pt x="22342" y="81035"/>
                  </a:lnTo>
                  <a:lnTo>
                    <a:pt x="5846" y="120106"/>
                  </a:lnTo>
                  <a:lnTo>
                    <a:pt x="0" y="163575"/>
                  </a:lnTo>
                  <a:lnTo>
                    <a:pt x="5846" y="207099"/>
                  </a:lnTo>
                  <a:lnTo>
                    <a:pt x="22342" y="246205"/>
                  </a:lnTo>
                  <a:lnTo>
                    <a:pt x="47926" y="279336"/>
                  </a:lnTo>
                  <a:lnTo>
                    <a:pt x="81035" y="304931"/>
                  </a:lnTo>
                  <a:lnTo>
                    <a:pt x="120106" y="321432"/>
                  </a:lnTo>
                  <a:lnTo>
                    <a:pt x="163575" y="327279"/>
                  </a:lnTo>
                  <a:lnTo>
                    <a:pt x="1199895" y="327279"/>
                  </a:lnTo>
                  <a:lnTo>
                    <a:pt x="1243409" y="321432"/>
                  </a:lnTo>
                  <a:lnTo>
                    <a:pt x="1282493" y="304931"/>
                  </a:lnTo>
                  <a:lnTo>
                    <a:pt x="1315592" y="279336"/>
                  </a:lnTo>
                  <a:lnTo>
                    <a:pt x="1341157" y="246205"/>
                  </a:lnTo>
                  <a:lnTo>
                    <a:pt x="1357634" y="207099"/>
                  </a:lnTo>
                  <a:lnTo>
                    <a:pt x="1363471" y="163575"/>
                  </a:lnTo>
                  <a:lnTo>
                    <a:pt x="1357634" y="120106"/>
                  </a:lnTo>
                  <a:lnTo>
                    <a:pt x="1341157" y="81035"/>
                  </a:lnTo>
                  <a:lnTo>
                    <a:pt x="1315592" y="47926"/>
                  </a:lnTo>
                  <a:lnTo>
                    <a:pt x="1282493" y="22342"/>
                  </a:lnTo>
                  <a:lnTo>
                    <a:pt x="1243409" y="5846"/>
                  </a:lnTo>
                  <a:lnTo>
                    <a:pt x="1199895" y="0"/>
                  </a:lnTo>
                  <a:close/>
                </a:path>
              </a:pathLst>
            </a:custGeom>
            <a:solidFill>
              <a:srgbClr val="F1F1F1"/>
            </a:solidFill>
          </p:spPr>
          <p:txBody>
            <a:bodyPr wrap="square" lIns="0" tIns="0" rIns="0" bIns="0" rtlCol="0"/>
            <a:lstStyle/>
            <a:p>
              <a:endParaRPr/>
            </a:p>
          </p:txBody>
        </p:sp>
        <p:sp>
          <p:nvSpPr>
            <p:cNvPr id="35" name="object 35"/>
            <p:cNvSpPr/>
            <p:nvPr/>
          </p:nvSpPr>
          <p:spPr>
            <a:xfrm>
              <a:off x="4019169" y="850391"/>
              <a:ext cx="1363980" cy="327660"/>
            </a:xfrm>
            <a:custGeom>
              <a:avLst/>
              <a:gdLst/>
              <a:ahLst/>
              <a:cxnLst/>
              <a:rect l="l" t="t" r="r" b="b"/>
              <a:pathLst>
                <a:path w="1363979" h="327659">
                  <a:moveTo>
                    <a:pt x="0" y="163575"/>
                  </a:moveTo>
                  <a:lnTo>
                    <a:pt x="5846" y="120106"/>
                  </a:lnTo>
                  <a:lnTo>
                    <a:pt x="22342" y="81035"/>
                  </a:lnTo>
                  <a:lnTo>
                    <a:pt x="47926" y="47926"/>
                  </a:lnTo>
                  <a:lnTo>
                    <a:pt x="81035" y="22342"/>
                  </a:lnTo>
                  <a:lnTo>
                    <a:pt x="120106" y="5846"/>
                  </a:lnTo>
                  <a:lnTo>
                    <a:pt x="163575" y="0"/>
                  </a:lnTo>
                  <a:lnTo>
                    <a:pt x="1199895" y="0"/>
                  </a:lnTo>
                  <a:lnTo>
                    <a:pt x="1243409" y="5846"/>
                  </a:lnTo>
                  <a:lnTo>
                    <a:pt x="1282493" y="22342"/>
                  </a:lnTo>
                  <a:lnTo>
                    <a:pt x="1315592" y="47926"/>
                  </a:lnTo>
                  <a:lnTo>
                    <a:pt x="1341157" y="81035"/>
                  </a:lnTo>
                  <a:lnTo>
                    <a:pt x="1357634" y="120106"/>
                  </a:lnTo>
                  <a:lnTo>
                    <a:pt x="1363471" y="163575"/>
                  </a:lnTo>
                  <a:lnTo>
                    <a:pt x="1357634" y="207099"/>
                  </a:lnTo>
                  <a:lnTo>
                    <a:pt x="1341157" y="246205"/>
                  </a:lnTo>
                  <a:lnTo>
                    <a:pt x="1315592" y="279336"/>
                  </a:lnTo>
                  <a:lnTo>
                    <a:pt x="1282493" y="304931"/>
                  </a:lnTo>
                  <a:lnTo>
                    <a:pt x="1243409" y="321432"/>
                  </a:lnTo>
                  <a:lnTo>
                    <a:pt x="1199895" y="327279"/>
                  </a:lnTo>
                  <a:lnTo>
                    <a:pt x="163575" y="327279"/>
                  </a:lnTo>
                  <a:lnTo>
                    <a:pt x="120106" y="321432"/>
                  </a:lnTo>
                  <a:lnTo>
                    <a:pt x="81035" y="304931"/>
                  </a:lnTo>
                  <a:lnTo>
                    <a:pt x="47926" y="279336"/>
                  </a:lnTo>
                  <a:lnTo>
                    <a:pt x="22342" y="246205"/>
                  </a:lnTo>
                  <a:lnTo>
                    <a:pt x="5846" y="207099"/>
                  </a:lnTo>
                  <a:lnTo>
                    <a:pt x="0" y="163575"/>
                  </a:lnTo>
                  <a:close/>
                </a:path>
              </a:pathLst>
            </a:custGeom>
            <a:ln w="28575">
              <a:solidFill>
                <a:srgbClr val="006FC0"/>
              </a:solidFill>
            </a:ln>
          </p:spPr>
          <p:txBody>
            <a:bodyPr wrap="square" lIns="0" tIns="0" rIns="0" bIns="0" rtlCol="0"/>
            <a:lstStyle/>
            <a:p>
              <a:endParaRPr/>
            </a:p>
          </p:txBody>
        </p:sp>
      </p:grpSp>
      <p:sp>
        <p:nvSpPr>
          <p:cNvPr id="36" name="object 36"/>
          <p:cNvSpPr txBox="1"/>
          <p:nvPr/>
        </p:nvSpPr>
        <p:spPr>
          <a:xfrm>
            <a:off x="4253229" y="832484"/>
            <a:ext cx="895350" cy="330835"/>
          </a:xfrm>
          <a:prstGeom prst="rect">
            <a:avLst/>
          </a:prstGeom>
        </p:spPr>
        <p:txBody>
          <a:bodyPr vert="horz" wrap="square" lIns="0" tIns="13335" rIns="0" bIns="0" rtlCol="0">
            <a:spAutoFit/>
          </a:bodyPr>
          <a:lstStyle/>
          <a:p>
            <a:pPr marL="12700">
              <a:lnSpc>
                <a:spcPct val="100000"/>
              </a:lnSpc>
              <a:spcBef>
                <a:spcPts val="105"/>
              </a:spcBef>
            </a:pPr>
            <a:r>
              <a:rPr sz="2000" b="1" spc="-10" dirty="0">
                <a:latin typeface="Calibri"/>
                <a:cs typeface="Calibri"/>
              </a:rPr>
              <a:t>Benefits</a:t>
            </a:r>
            <a:endParaRPr sz="2000">
              <a:latin typeface="Calibri"/>
              <a:cs typeface="Calibri"/>
            </a:endParaRPr>
          </a:p>
        </p:txBody>
      </p:sp>
      <p:sp>
        <p:nvSpPr>
          <p:cNvPr id="38" name="object 3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5</a:t>
            </a:fld>
            <a:endParaRPr spc="-50" dirty="0"/>
          </a:p>
        </p:txBody>
      </p:sp>
      <p:pic>
        <p:nvPicPr>
          <p:cNvPr id="8" name="Picture 7" descr="prototype&#10;Demo web&#10;MVP&#10;">
            <a:hlinkClick r:id="" action="ppaction://noaction" highlightClick="1"/>
            <a:extLst>
              <a:ext uri="{FF2B5EF4-FFF2-40B4-BE49-F238E27FC236}">
                <a16:creationId xmlns:a16="http://schemas.microsoft.com/office/drawing/2014/main" id="{22B402B5-5C23-B1F5-C3C9-12F885D344EE}"/>
              </a:ext>
              <a:ext uri="{C183D7F6-B498-43B3-948B-1728B52AA6E4}">
                <adec:decorative xmlns:adec="http://schemas.microsoft.com/office/drawing/2017/decorative" val="0"/>
              </a:ext>
            </a:extLst>
          </p:cNvPr>
          <p:cNvPicPr>
            <a:picLocks noChangeAspect="1"/>
          </p:cNvPicPr>
          <p:nvPr/>
        </p:nvPicPr>
        <p:blipFill rotWithShape="1">
          <a:blip r:embed="rId3"/>
          <a:srcRect t="8900" b="8900"/>
          <a:stretch>
            <a:fillRect/>
          </a:stretch>
        </p:blipFill>
        <p:spPr>
          <a:xfrm>
            <a:off x="8726789" y="1155801"/>
            <a:ext cx="3304790" cy="5682996"/>
          </a:xfrm>
          <a:prstGeom prst="actionButtonBlank">
            <a:avLst/>
          </a:prstGeom>
          <a:ln w="28575">
            <a:solidFill>
              <a:schemeClr val="accent1"/>
            </a:solidFill>
          </a:ln>
        </p:spPr>
      </p:pic>
      <p:sp>
        <p:nvSpPr>
          <p:cNvPr id="6" name="Rectangle: Rounded Corners 5">
            <a:extLst>
              <a:ext uri="{FF2B5EF4-FFF2-40B4-BE49-F238E27FC236}">
                <a16:creationId xmlns:a16="http://schemas.microsoft.com/office/drawing/2014/main" id="{0DCD8771-9047-4B83-E3DD-8EFDB079C1E5}"/>
              </a:ext>
            </a:extLst>
          </p:cNvPr>
          <p:cNvSpPr/>
          <p:nvPr/>
        </p:nvSpPr>
        <p:spPr>
          <a:xfrm>
            <a:off x="187853" y="57755"/>
            <a:ext cx="1488547" cy="32956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a:solidFill>
                  <a:schemeClr val="accent3"/>
                </a:solidFill>
              </a:rPr>
              <a:t>Neural Nexus</a:t>
            </a:r>
            <a:endParaRPr lang="en-IN" b="1" dirty="0">
              <a:ln/>
              <a:solidFill>
                <a:schemeClr val="accent3"/>
              </a:solidFill>
            </a:endParaRPr>
          </a:p>
        </p:txBody>
      </p:sp>
      <p:grpSp>
        <p:nvGrpSpPr>
          <p:cNvPr id="20" name="object 3">
            <a:extLst>
              <a:ext uri="{FF2B5EF4-FFF2-40B4-BE49-F238E27FC236}">
                <a16:creationId xmlns:a16="http://schemas.microsoft.com/office/drawing/2014/main" id="{CDA161BE-C9BB-4215-E476-06BF07360ADA}"/>
              </a:ext>
            </a:extLst>
          </p:cNvPr>
          <p:cNvGrpSpPr/>
          <p:nvPr/>
        </p:nvGrpSpPr>
        <p:grpSpPr>
          <a:xfrm>
            <a:off x="3737688" y="5787135"/>
            <a:ext cx="4855210" cy="1013109"/>
            <a:chOff x="3740658" y="1013967"/>
            <a:chExt cx="4855210" cy="5182870"/>
          </a:xfrm>
        </p:grpSpPr>
        <p:sp>
          <p:nvSpPr>
            <p:cNvPr id="24" name="object 4">
              <a:extLst>
                <a:ext uri="{FF2B5EF4-FFF2-40B4-BE49-F238E27FC236}">
                  <a16:creationId xmlns:a16="http://schemas.microsoft.com/office/drawing/2014/main" id="{58A8F573-EDD2-AA53-B9D5-A04D453FD130}"/>
                </a:ext>
              </a:extLst>
            </p:cNvPr>
            <p:cNvSpPr/>
            <p:nvPr/>
          </p:nvSpPr>
          <p:spPr>
            <a:xfrm>
              <a:off x="3740658" y="1013967"/>
              <a:ext cx="4855210" cy="5182870"/>
            </a:xfrm>
            <a:custGeom>
              <a:avLst/>
              <a:gdLst/>
              <a:ahLst/>
              <a:cxnLst/>
              <a:rect l="l" t="t" r="r" b="b"/>
              <a:pathLst>
                <a:path w="4855209" h="5182870">
                  <a:moveTo>
                    <a:pt x="4763389" y="0"/>
                  </a:moveTo>
                  <a:lnTo>
                    <a:pt x="91312" y="0"/>
                  </a:lnTo>
                  <a:lnTo>
                    <a:pt x="55774" y="7177"/>
                  </a:lnTo>
                  <a:lnTo>
                    <a:pt x="26749" y="26749"/>
                  </a:lnTo>
                  <a:lnTo>
                    <a:pt x="7177" y="55774"/>
                  </a:lnTo>
                  <a:lnTo>
                    <a:pt x="0" y="91312"/>
                  </a:lnTo>
                  <a:lnTo>
                    <a:pt x="0" y="5091290"/>
                  </a:lnTo>
                  <a:lnTo>
                    <a:pt x="7177" y="5126833"/>
                  </a:lnTo>
                  <a:lnTo>
                    <a:pt x="26749" y="5155858"/>
                  </a:lnTo>
                  <a:lnTo>
                    <a:pt x="55774" y="5175427"/>
                  </a:lnTo>
                  <a:lnTo>
                    <a:pt x="91312" y="5182603"/>
                  </a:lnTo>
                  <a:lnTo>
                    <a:pt x="4763389" y="5182603"/>
                  </a:lnTo>
                  <a:lnTo>
                    <a:pt x="4798927" y="5175427"/>
                  </a:lnTo>
                  <a:lnTo>
                    <a:pt x="4827952" y="5155858"/>
                  </a:lnTo>
                  <a:lnTo>
                    <a:pt x="4847524" y="5126833"/>
                  </a:lnTo>
                  <a:lnTo>
                    <a:pt x="4854701" y="5091290"/>
                  </a:lnTo>
                  <a:lnTo>
                    <a:pt x="4854701" y="91312"/>
                  </a:lnTo>
                  <a:lnTo>
                    <a:pt x="4847524" y="55774"/>
                  </a:lnTo>
                  <a:lnTo>
                    <a:pt x="4827952" y="26749"/>
                  </a:lnTo>
                  <a:lnTo>
                    <a:pt x="4798927" y="7177"/>
                  </a:lnTo>
                  <a:lnTo>
                    <a:pt x="4763389" y="0"/>
                  </a:lnTo>
                  <a:close/>
                </a:path>
              </a:pathLst>
            </a:custGeom>
            <a:solidFill>
              <a:srgbClr val="DCE6F1"/>
            </a:solidFill>
          </p:spPr>
          <p:txBody>
            <a:bodyPr wrap="square" lIns="0" tIns="0" rIns="0" bIns="0" rtlCol="0"/>
            <a:lstStyle/>
            <a:p>
              <a:endParaRPr/>
            </a:p>
          </p:txBody>
        </p:sp>
        <p:sp>
          <p:nvSpPr>
            <p:cNvPr id="28" name="object 5">
              <a:extLst>
                <a:ext uri="{FF2B5EF4-FFF2-40B4-BE49-F238E27FC236}">
                  <a16:creationId xmlns:a16="http://schemas.microsoft.com/office/drawing/2014/main" id="{392F8C00-317B-B946-0B0A-0A67BE748DE7}"/>
                </a:ext>
              </a:extLst>
            </p:cNvPr>
            <p:cNvSpPr/>
            <p:nvPr/>
          </p:nvSpPr>
          <p:spPr>
            <a:xfrm>
              <a:off x="3740658" y="1013967"/>
              <a:ext cx="4855210" cy="5182870"/>
            </a:xfrm>
            <a:custGeom>
              <a:avLst/>
              <a:gdLst/>
              <a:ahLst/>
              <a:cxnLst/>
              <a:rect l="l" t="t" r="r" b="b"/>
              <a:pathLst>
                <a:path w="4855209" h="5182870">
                  <a:moveTo>
                    <a:pt x="0" y="91312"/>
                  </a:moveTo>
                  <a:lnTo>
                    <a:pt x="7177" y="55774"/>
                  </a:lnTo>
                  <a:lnTo>
                    <a:pt x="26749" y="26749"/>
                  </a:lnTo>
                  <a:lnTo>
                    <a:pt x="55774" y="7177"/>
                  </a:lnTo>
                  <a:lnTo>
                    <a:pt x="91312" y="0"/>
                  </a:lnTo>
                  <a:lnTo>
                    <a:pt x="4763389" y="0"/>
                  </a:lnTo>
                  <a:lnTo>
                    <a:pt x="4798927" y="7177"/>
                  </a:lnTo>
                  <a:lnTo>
                    <a:pt x="4827952" y="26749"/>
                  </a:lnTo>
                  <a:lnTo>
                    <a:pt x="4847524" y="55774"/>
                  </a:lnTo>
                  <a:lnTo>
                    <a:pt x="4854701" y="91312"/>
                  </a:lnTo>
                  <a:lnTo>
                    <a:pt x="4854701" y="5091290"/>
                  </a:lnTo>
                  <a:lnTo>
                    <a:pt x="4847524" y="5126833"/>
                  </a:lnTo>
                  <a:lnTo>
                    <a:pt x="4827952" y="5155858"/>
                  </a:lnTo>
                  <a:lnTo>
                    <a:pt x="4798927" y="5175427"/>
                  </a:lnTo>
                  <a:lnTo>
                    <a:pt x="4763389" y="5182603"/>
                  </a:lnTo>
                  <a:lnTo>
                    <a:pt x="91312" y="5182603"/>
                  </a:lnTo>
                  <a:lnTo>
                    <a:pt x="55774" y="5175427"/>
                  </a:lnTo>
                  <a:lnTo>
                    <a:pt x="26749" y="5155858"/>
                  </a:lnTo>
                  <a:lnTo>
                    <a:pt x="7177" y="5126833"/>
                  </a:lnTo>
                  <a:lnTo>
                    <a:pt x="0" y="5091290"/>
                  </a:lnTo>
                  <a:lnTo>
                    <a:pt x="0" y="91312"/>
                  </a:lnTo>
                  <a:close/>
                </a:path>
              </a:pathLst>
            </a:custGeom>
            <a:ln w="28575">
              <a:solidFill>
                <a:srgbClr val="497DBA"/>
              </a:solidFill>
            </a:ln>
          </p:spPr>
          <p:txBody>
            <a:bodyPr wrap="square" lIns="0" tIns="0" rIns="0" bIns="0" rtlCol="0"/>
            <a:lstStyle/>
            <a:p>
              <a:endParaRPr/>
            </a:p>
          </p:txBody>
        </p:sp>
      </p:grpSp>
      <p:grpSp>
        <p:nvGrpSpPr>
          <p:cNvPr id="37" name="object 33">
            <a:extLst>
              <a:ext uri="{FF2B5EF4-FFF2-40B4-BE49-F238E27FC236}">
                <a16:creationId xmlns:a16="http://schemas.microsoft.com/office/drawing/2014/main" id="{799D1F4F-C2CD-D0A5-9758-E777F7B80596}"/>
              </a:ext>
            </a:extLst>
          </p:cNvPr>
          <p:cNvGrpSpPr/>
          <p:nvPr/>
        </p:nvGrpSpPr>
        <p:grpSpPr>
          <a:xfrm>
            <a:off x="3971609" y="5679821"/>
            <a:ext cx="1363980" cy="347345"/>
            <a:chOff x="4019169" y="850391"/>
            <a:chExt cx="1363980" cy="347345"/>
          </a:xfrm>
        </p:grpSpPr>
        <p:sp>
          <p:nvSpPr>
            <p:cNvPr id="39" name="object 34">
              <a:extLst>
                <a:ext uri="{FF2B5EF4-FFF2-40B4-BE49-F238E27FC236}">
                  <a16:creationId xmlns:a16="http://schemas.microsoft.com/office/drawing/2014/main" id="{259F7CAA-950E-1FD2-1ED0-F97446056C2E}"/>
                </a:ext>
              </a:extLst>
            </p:cNvPr>
            <p:cNvSpPr/>
            <p:nvPr/>
          </p:nvSpPr>
          <p:spPr>
            <a:xfrm>
              <a:off x="4019169" y="870076"/>
              <a:ext cx="1363980" cy="327660"/>
            </a:xfrm>
            <a:custGeom>
              <a:avLst/>
              <a:gdLst/>
              <a:ahLst/>
              <a:cxnLst/>
              <a:rect l="l" t="t" r="r" b="b"/>
              <a:pathLst>
                <a:path w="1363979" h="327659">
                  <a:moveTo>
                    <a:pt x="1199895" y="0"/>
                  </a:moveTo>
                  <a:lnTo>
                    <a:pt x="163575" y="0"/>
                  </a:lnTo>
                  <a:lnTo>
                    <a:pt x="120106" y="5846"/>
                  </a:lnTo>
                  <a:lnTo>
                    <a:pt x="81035" y="22342"/>
                  </a:lnTo>
                  <a:lnTo>
                    <a:pt x="47926" y="47926"/>
                  </a:lnTo>
                  <a:lnTo>
                    <a:pt x="22342" y="81035"/>
                  </a:lnTo>
                  <a:lnTo>
                    <a:pt x="5846" y="120106"/>
                  </a:lnTo>
                  <a:lnTo>
                    <a:pt x="0" y="163575"/>
                  </a:lnTo>
                  <a:lnTo>
                    <a:pt x="5846" y="207099"/>
                  </a:lnTo>
                  <a:lnTo>
                    <a:pt x="22342" y="246205"/>
                  </a:lnTo>
                  <a:lnTo>
                    <a:pt x="47926" y="279336"/>
                  </a:lnTo>
                  <a:lnTo>
                    <a:pt x="81035" y="304931"/>
                  </a:lnTo>
                  <a:lnTo>
                    <a:pt x="120106" y="321432"/>
                  </a:lnTo>
                  <a:lnTo>
                    <a:pt x="163575" y="327279"/>
                  </a:lnTo>
                  <a:lnTo>
                    <a:pt x="1199895" y="327279"/>
                  </a:lnTo>
                  <a:lnTo>
                    <a:pt x="1243409" y="321432"/>
                  </a:lnTo>
                  <a:lnTo>
                    <a:pt x="1282493" y="304931"/>
                  </a:lnTo>
                  <a:lnTo>
                    <a:pt x="1315592" y="279336"/>
                  </a:lnTo>
                  <a:lnTo>
                    <a:pt x="1341157" y="246205"/>
                  </a:lnTo>
                  <a:lnTo>
                    <a:pt x="1357634" y="207099"/>
                  </a:lnTo>
                  <a:lnTo>
                    <a:pt x="1363471" y="163575"/>
                  </a:lnTo>
                  <a:lnTo>
                    <a:pt x="1357634" y="120106"/>
                  </a:lnTo>
                  <a:lnTo>
                    <a:pt x="1341157" y="81035"/>
                  </a:lnTo>
                  <a:lnTo>
                    <a:pt x="1315592" y="47926"/>
                  </a:lnTo>
                  <a:lnTo>
                    <a:pt x="1282493" y="22342"/>
                  </a:lnTo>
                  <a:lnTo>
                    <a:pt x="1243409" y="5846"/>
                  </a:lnTo>
                  <a:lnTo>
                    <a:pt x="1199895" y="0"/>
                  </a:lnTo>
                  <a:close/>
                </a:path>
              </a:pathLst>
            </a:custGeom>
            <a:solidFill>
              <a:srgbClr val="F1F1F1"/>
            </a:solidFill>
          </p:spPr>
          <p:txBody>
            <a:bodyPr wrap="square" lIns="0" tIns="0" rIns="0" bIns="0" rtlCol="0"/>
            <a:lstStyle/>
            <a:p>
              <a:r>
                <a:rPr lang="en-US" dirty="0"/>
                <a:t>  Demo Link</a:t>
              </a:r>
              <a:endParaRPr dirty="0"/>
            </a:p>
          </p:txBody>
        </p:sp>
        <p:sp>
          <p:nvSpPr>
            <p:cNvPr id="40" name="object 35">
              <a:extLst>
                <a:ext uri="{FF2B5EF4-FFF2-40B4-BE49-F238E27FC236}">
                  <a16:creationId xmlns:a16="http://schemas.microsoft.com/office/drawing/2014/main" id="{9564C558-E5B0-AE50-412A-A11A3A04E5E0}"/>
                </a:ext>
              </a:extLst>
            </p:cNvPr>
            <p:cNvSpPr/>
            <p:nvPr/>
          </p:nvSpPr>
          <p:spPr>
            <a:xfrm>
              <a:off x="4019169" y="850391"/>
              <a:ext cx="1363980" cy="327660"/>
            </a:xfrm>
            <a:custGeom>
              <a:avLst/>
              <a:gdLst/>
              <a:ahLst/>
              <a:cxnLst/>
              <a:rect l="l" t="t" r="r" b="b"/>
              <a:pathLst>
                <a:path w="1363979" h="327659">
                  <a:moveTo>
                    <a:pt x="0" y="163575"/>
                  </a:moveTo>
                  <a:lnTo>
                    <a:pt x="5846" y="120106"/>
                  </a:lnTo>
                  <a:lnTo>
                    <a:pt x="22342" y="81035"/>
                  </a:lnTo>
                  <a:lnTo>
                    <a:pt x="47926" y="47926"/>
                  </a:lnTo>
                  <a:lnTo>
                    <a:pt x="81035" y="22342"/>
                  </a:lnTo>
                  <a:lnTo>
                    <a:pt x="120106" y="5846"/>
                  </a:lnTo>
                  <a:lnTo>
                    <a:pt x="163575" y="0"/>
                  </a:lnTo>
                  <a:lnTo>
                    <a:pt x="1199895" y="0"/>
                  </a:lnTo>
                  <a:lnTo>
                    <a:pt x="1243409" y="5846"/>
                  </a:lnTo>
                  <a:lnTo>
                    <a:pt x="1282493" y="22342"/>
                  </a:lnTo>
                  <a:lnTo>
                    <a:pt x="1315592" y="47926"/>
                  </a:lnTo>
                  <a:lnTo>
                    <a:pt x="1341157" y="81035"/>
                  </a:lnTo>
                  <a:lnTo>
                    <a:pt x="1357634" y="120106"/>
                  </a:lnTo>
                  <a:lnTo>
                    <a:pt x="1363471" y="163575"/>
                  </a:lnTo>
                  <a:lnTo>
                    <a:pt x="1357634" y="207099"/>
                  </a:lnTo>
                  <a:lnTo>
                    <a:pt x="1341157" y="246205"/>
                  </a:lnTo>
                  <a:lnTo>
                    <a:pt x="1315592" y="279336"/>
                  </a:lnTo>
                  <a:lnTo>
                    <a:pt x="1282493" y="304931"/>
                  </a:lnTo>
                  <a:lnTo>
                    <a:pt x="1243409" y="321432"/>
                  </a:lnTo>
                  <a:lnTo>
                    <a:pt x="1199895" y="327279"/>
                  </a:lnTo>
                  <a:lnTo>
                    <a:pt x="163575" y="327279"/>
                  </a:lnTo>
                  <a:lnTo>
                    <a:pt x="120106" y="321432"/>
                  </a:lnTo>
                  <a:lnTo>
                    <a:pt x="81035" y="304931"/>
                  </a:lnTo>
                  <a:lnTo>
                    <a:pt x="47926" y="279336"/>
                  </a:lnTo>
                  <a:lnTo>
                    <a:pt x="22342" y="246205"/>
                  </a:lnTo>
                  <a:lnTo>
                    <a:pt x="5846" y="207099"/>
                  </a:lnTo>
                  <a:lnTo>
                    <a:pt x="0" y="163575"/>
                  </a:lnTo>
                  <a:close/>
                </a:path>
              </a:pathLst>
            </a:custGeom>
            <a:ln w="28575">
              <a:solidFill>
                <a:srgbClr val="006FC0"/>
              </a:solidFill>
            </a:ln>
          </p:spPr>
          <p:txBody>
            <a:bodyPr wrap="square" lIns="0" tIns="0" rIns="0" bIns="0" rtlCol="0"/>
            <a:lstStyle/>
            <a:p>
              <a:endParaRPr/>
            </a:p>
          </p:txBody>
        </p:sp>
      </p:grpSp>
      <p:sp>
        <p:nvSpPr>
          <p:cNvPr id="41" name="TextBox 40">
            <a:extLst>
              <a:ext uri="{FF2B5EF4-FFF2-40B4-BE49-F238E27FC236}">
                <a16:creationId xmlns:a16="http://schemas.microsoft.com/office/drawing/2014/main" id="{E2C97542-625E-CFEA-AF62-0A66F9C61547}"/>
              </a:ext>
            </a:extLst>
          </p:cNvPr>
          <p:cNvSpPr txBox="1"/>
          <p:nvPr/>
        </p:nvSpPr>
        <p:spPr>
          <a:xfrm>
            <a:off x="3873499" y="6176654"/>
            <a:ext cx="4608195" cy="369332"/>
          </a:xfrm>
          <a:prstGeom prst="rect">
            <a:avLst/>
          </a:prstGeom>
          <a:noFill/>
        </p:spPr>
        <p:txBody>
          <a:bodyPr wrap="square" rtlCol="0">
            <a:spAutoFit/>
          </a:bodyPr>
          <a:lstStyle/>
          <a:p>
            <a:r>
              <a:rPr lang="en-US" dirty="0">
                <a:hlinkClick r:id="rId4"/>
              </a:rPr>
              <a:t>https://herbnexus-frontend.onrender.com/</a:t>
            </a:r>
            <a:endParaRPr lang="en-US" dirty="0"/>
          </a:p>
        </p:txBody>
      </p:sp>
      <p:pic>
        <p:nvPicPr>
          <p:cNvPr id="7" name="Picture 6">
            <a:extLst>
              <a:ext uri="{FF2B5EF4-FFF2-40B4-BE49-F238E27FC236}">
                <a16:creationId xmlns:a16="http://schemas.microsoft.com/office/drawing/2014/main" id="{FAD6E72B-A701-7BCC-1DCE-4DA38C04D9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69424" y="0"/>
            <a:ext cx="1770175" cy="82735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909254" y="978997"/>
            <a:ext cx="8371205" cy="5295265"/>
            <a:chOff x="206984" y="963866"/>
            <a:chExt cx="8371205" cy="5295265"/>
          </a:xfrm>
        </p:grpSpPr>
        <p:sp>
          <p:nvSpPr>
            <p:cNvPr id="3" name="object 3"/>
            <p:cNvSpPr/>
            <p:nvPr/>
          </p:nvSpPr>
          <p:spPr>
            <a:xfrm>
              <a:off x="222542" y="978153"/>
              <a:ext cx="8341359" cy="848994"/>
            </a:xfrm>
            <a:custGeom>
              <a:avLst/>
              <a:gdLst/>
              <a:ahLst/>
              <a:cxnLst/>
              <a:rect l="l" t="t" r="r" b="b"/>
              <a:pathLst>
                <a:path w="8341359" h="848994">
                  <a:moveTo>
                    <a:pt x="8334209" y="0"/>
                  </a:moveTo>
                  <a:lnTo>
                    <a:pt x="7137" y="0"/>
                  </a:lnTo>
                  <a:lnTo>
                    <a:pt x="0" y="7112"/>
                  </a:lnTo>
                  <a:lnTo>
                    <a:pt x="0" y="16001"/>
                  </a:lnTo>
                  <a:lnTo>
                    <a:pt x="0" y="841629"/>
                  </a:lnTo>
                  <a:lnTo>
                    <a:pt x="7137" y="848741"/>
                  </a:lnTo>
                  <a:lnTo>
                    <a:pt x="8334209" y="848741"/>
                  </a:lnTo>
                  <a:lnTo>
                    <a:pt x="8341321" y="841629"/>
                  </a:lnTo>
                  <a:lnTo>
                    <a:pt x="8341321" y="7112"/>
                  </a:lnTo>
                  <a:lnTo>
                    <a:pt x="8334209" y="0"/>
                  </a:lnTo>
                  <a:close/>
                </a:path>
              </a:pathLst>
            </a:custGeom>
            <a:solidFill>
              <a:srgbClr val="F1F1F1"/>
            </a:solidFill>
          </p:spPr>
          <p:txBody>
            <a:bodyPr wrap="square" lIns="0" tIns="0" rIns="0" bIns="0" rtlCol="0"/>
            <a:lstStyle/>
            <a:p>
              <a:endParaRPr/>
            </a:p>
          </p:txBody>
        </p:sp>
        <p:sp>
          <p:nvSpPr>
            <p:cNvPr id="4" name="object 4"/>
            <p:cNvSpPr/>
            <p:nvPr/>
          </p:nvSpPr>
          <p:spPr>
            <a:xfrm>
              <a:off x="222542" y="978153"/>
              <a:ext cx="8341359" cy="848994"/>
            </a:xfrm>
            <a:custGeom>
              <a:avLst/>
              <a:gdLst/>
              <a:ahLst/>
              <a:cxnLst/>
              <a:rect l="l" t="t" r="r" b="b"/>
              <a:pathLst>
                <a:path w="8341359" h="848994">
                  <a:moveTo>
                    <a:pt x="0" y="16001"/>
                  </a:moveTo>
                  <a:lnTo>
                    <a:pt x="0" y="7112"/>
                  </a:lnTo>
                  <a:lnTo>
                    <a:pt x="7137" y="0"/>
                  </a:lnTo>
                  <a:lnTo>
                    <a:pt x="15963" y="0"/>
                  </a:lnTo>
                  <a:lnTo>
                    <a:pt x="8325446" y="0"/>
                  </a:lnTo>
                  <a:lnTo>
                    <a:pt x="8334209" y="0"/>
                  </a:lnTo>
                  <a:lnTo>
                    <a:pt x="8341321" y="7112"/>
                  </a:lnTo>
                  <a:lnTo>
                    <a:pt x="8341321" y="16001"/>
                  </a:lnTo>
                  <a:lnTo>
                    <a:pt x="8341321" y="832738"/>
                  </a:lnTo>
                  <a:lnTo>
                    <a:pt x="8341321" y="841629"/>
                  </a:lnTo>
                  <a:lnTo>
                    <a:pt x="8334209" y="848741"/>
                  </a:lnTo>
                  <a:lnTo>
                    <a:pt x="8325446" y="848741"/>
                  </a:lnTo>
                  <a:lnTo>
                    <a:pt x="15963" y="848741"/>
                  </a:lnTo>
                  <a:lnTo>
                    <a:pt x="7137" y="848741"/>
                  </a:lnTo>
                  <a:lnTo>
                    <a:pt x="0" y="841629"/>
                  </a:lnTo>
                  <a:lnTo>
                    <a:pt x="0" y="832738"/>
                  </a:lnTo>
                  <a:lnTo>
                    <a:pt x="0" y="16001"/>
                  </a:lnTo>
                  <a:close/>
                </a:path>
              </a:pathLst>
            </a:custGeom>
            <a:ln w="28575">
              <a:solidFill>
                <a:srgbClr val="000000"/>
              </a:solidFill>
            </a:ln>
          </p:spPr>
          <p:txBody>
            <a:bodyPr wrap="square" lIns="0" tIns="0" rIns="0" bIns="0" rtlCol="0"/>
            <a:lstStyle/>
            <a:p>
              <a:endParaRPr/>
            </a:p>
          </p:txBody>
        </p:sp>
        <p:sp>
          <p:nvSpPr>
            <p:cNvPr id="5" name="object 5"/>
            <p:cNvSpPr/>
            <p:nvPr/>
          </p:nvSpPr>
          <p:spPr>
            <a:xfrm>
              <a:off x="222542" y="1828800"/>
              <a:ext cx="8341359" cy="909319"/>
            </a:xfrm>
            <a:custGeom>
              <a:avLst/>
              <a:gdLst/>
              <a:ahLst/>
              <a:cxnLst/>
              <a:rect l="l" t="t" r="r" b="b"/>
              <a:pathLst>
                <a:path w="8341359" h="909319">
                  <a:moveTo>
                    <a:pt x="8333701" y="0"/>
                  </a:moveTo>
                  <a:lnTo>
                    <a:pt x="7645" y="0"/>
                  </a:lnTo>
                  <a:lnTo>
                    <a:pt x="0" y="7620"/>
                  </a:lnTo>
                  <a:lnTo>
                    <a:pt x="0" y="17145"/>
                  </a:lnTo>
                  <a:lnTo>
                    <a:pt x="0" y="901446"/>
                  </a:lnTo>
                  <a:lnTo>
                    <a:pt x="7645" y="909065"/>
                  </a:lnTo>
                  <a:lnTo>
                    <a:pt x="8333701" y="909065"/>
                  </a:lnTo>
                  <a:lnTo>
                    <a:pt x="8341321" y="901446"/>
                  </a:lnTo>
                  <a:lnTo>
                    <a:pt x="8341321" y="7620"/>
                  </a:lnTo>
                  <a:lnTo>
                    <a:pt x="8333701" y="0"/>
                  </a:lnTo>
                  <a:close/>
                </a:path>
              </a:pathLst>
            </a:custGeom>
            <a:solidFill>
              <a:srgbClr val="DCE6F1"/>
            </a:solidFill>
          </p:spPr>
          <p:txBody>
            <a:bodyPr wrap="square" lIns="0" tIns="0" rIns="0" bIns="0" rtlCol="0"/>
            <a:lstStyle/>
            <a:p>
              <a:endParaRPr/>
            </a:p>
          </p:txBody>
        </p:sp>
        <p:sp>
          <p:nvSpPr>
            <p:cNvPr id="6" name="object 6"/>
            <p:cNvSpPr/>
            <p:nvPr/>
          </p:nvSpPr>
          <p:spPr>
            <a:xfrm>
              <a:off x="222542" y="1828800"/>
              <a:ext cx="8341359" cy="909319"/>
            </a:xfrm>
            <a:custGeom>
              <a:avLst/>
              <a:gdLst/>
              <a:ahLst/>
              <a:cxnLst/>
              <a:rect l="l" t="t" r="r" b="b"/>
              <a:pathLst>
                <a:path w="8341359" h="909319">
                  <a:moveTo>
                    <a:pt x="0" y="17145"/>
                  </a:moveTo>
                  <a:lnTo>
                    <a:pt x="0" y="7620"/>
                  </a:lnTo>
                  <a:lnTo>
                    <a:pt x="7645" y="0"/>
                  </a:lnTo>
                  <a:lnTo>
                    <a:pt x="17094" y="0"/>
                  </a:lnTo>
                  <a:lnTo>
                    <a:pt x="8324303" y="0"/>
                  </a:lnTo>
                  <a:lnTo>
                    <a:pt x="8333701" y="0"/>
                  </a:lnTo>
                  <a:lnTo>
                    <a:pt x="8341321" y="7620"/>
                  </a:lnTo>
                  <a:lnTo>
                    <a:pt x="8341321" y="17145"/>
                  </a:lnTo>
                  <a:lnTo>
                    <a:pt x="8341321" y="892048"/>
                  </a:lnTo>
                  <a:lnTo>
                    <a:pt x="8341321" y="901446"/>
                  </a:lnTo>
                  <a:lnTo>
                    <a:pt x="8333701" y="909065"/>
                  </a:lnTo>
                  <a:lnTo>
                    <a:pt x="8324303" y="909065"/>
                  </a:lnTo>
                  <a:lnTo>
                    <a:pt x="17094" y="909065"/>
                  </a:lnTo>
                  <a:lnTo>
                    <a:pt x="7645" y="909065"/>
                  </a:lnTo>
                  <a:lnTo>
                    <a:pt x="0" y="901446"/>
                  </a:lnTo>
                  <a:lnTo>
                    <a:pt x="0" y="892048"/>
                  </a:lnTo>
                  <a:lnTo>
                    <a:pt x="0" y="17145"/>
                  </a:lnTo>
                  <a:close/>
                </a:path>
              </a:pathLst>
            </a:custGeom>
            <a:ln w="28575">
              <a:solidFill>
                <a:srgbClr val="000000"/>
              </a:solidFill>
            </a:ln>
          </p:spPr>
          <p:txBody>
            <a:bodyPr wrap="square" lIns="0" tIns="0" rIns="0" bIns="0" rtlCol="0"/>
            <a:lstStyle/>
            <a:p>
              <a:endParaRPr/>
            </a:p>
          </p:txBody>
        </p:sp>
        <p:sp>
          <p:nvSpPr>
            <p:cNvPr id="7" name="object 7"/>
            <p:cNvSpPr/>
            <p:nvPr/>
          </p:nvSpPr>
          <p:spPr>
            <a:xfrm>
              <a:off x="221272" y="2737865"/>
              <a:ext cx="8341359" cy="1145540"/>
            </a:xfrm>
            <a:custGeom>
              <a:avLst/>
              <a:gdLst/>
              <a:ahLst/>
              <a:cxnLst/>
              <a:rect l="l" t="t" r="r" b="b"/>
              <a:pathLst>
                <a:path w="8341359" h="1145539">
                  <a:moveTo>
                    <a:pt x="8319858" y="0"/>
                  </a:moveTo>
                  <a:lnTo>
                    <a:pt x="21539" y="0"/>
                  </a:lnTo>
                  <a:lnTo>
                    <a:pt x="13153" y="1694"/>
                  </a:lnTo>
                  <a:lnTo>
                    <a:pt x="6307" y="6318"/>
                  </a:lnTo>
                  <a:lnTo>
                    <a:pt x="1692" y="13180"/>
                  </a:lnTo>
                  <a:lnTo>
                    <a:pt x="0" y="21589"/>
                  </a:lnTo>
                  <a:lnTo>
                    <a:pt x="0" y="1123569"/>
                  </a:lnTo>
                  <a:lnTo>
                    <a:pt x="1692" y="1131905"/>
                  </a:lnTo>
                  <a:lnTo>
                    <a:pt x="6307" y="1138729"/>
                  </a:lnTo>
                  <a:lnTo>
                    <a:pt x="13153" y="1143339"/>
                  </a:lnTo>
                  <a:lnTo>
                    <a:pt x="21539" y="1145032"/>
                  </a:lnTo>
                  <a:lnTo>
                    <a:pt x="8319858" y="1145032"/>
                  </a:lnTo>
                  <a:lnTo>
                    <a:pt x="8328195" y="1143339"/>
                  </a:lnTo>
                  <a:lnTo>
                    <a:pt x="8335019" y="1138729"/>
                  </a:lnTo>
                  <a:lnTo>
                    <a:pt x="8339629" y="1131905"/>
                  </a:lnTo>
                  <a:lnTo>
                    <a:pt x="8341321" y="1123569"/>
                  </a:lnTo>
                  <a:lnTo>
                    <a:pt x="8341321" y="21589"/>
                  </a:lnTo>
                  <a:lnTo>
                    <a:pt x="8339629" y="13180"/>
                  </a:lnTo>
                  <a:lnTo>
                    <a:pt x="8335019" y="6318"/>
                  </a:lnTo>
                  <a:lnTo>
                    <a:pt x="8328195" y="1694"/>
                  </a:lnTo>
                  <a:lnTo>
                    <a:pt x="8319858" y="0"/>
                  </a:lnTo>
                  <a:close/>
                </a:path>
              </a:pathLst>
            </a:custGeom>
            <a:solidFill>
              <a:srgbClr val="F1F1F1"/>
            </a:solidFill>
          </p:spPr>
          <p:txBody>
            <a:bodyPr wrap="square" lIns="0" tIns="0" rIns="0" bIns="0" rtlCol="0"/>
            <a:lstStyle/>
            <a:p>
              <a:endParaRPr/>
            </a:p>
          </p:txBody>
        </p:sp>
        <p:sp>
          <p:nvSpPr>
            <p:cNvPr id="8" name="object 8"/>
            <p:cNvSpPr/>
            <p:nvPr/>
          </p:nvSpPr>
          <p:spPr>
            <a:xfrm>
              <a:off x="221272" y="2737865"/>
              <a:ext cx="8341359" cy="1145540"/>
            </a:xfrm>
            <a:custGeom>
              <a:avLst/>
              <a:gdLst/>
              <a:ahLst/>
              <a:cxnLst/>
              <a:rect l="l" t="t" r="r" b="b"/>
              <a:pathLst>
                <a:path w="8341359" h="1145539">
                  <a:moveTo>
                    <a:pt x="0" y="21589"/>
                  </a:moveTo>
                  <a:lnTo>
                    <a:pt x="1692" y="13180"/>
                  </a:lnTo>
                  <a:lnTo>
                    <a:pt x="6307" y="6318"/>
                  </a:lnTo>
                  <a:lnTo>
                    <a:pt x="13153" y="1694"/>
                  </a:lnTo>
                  <a:lnTo>
                    <a:pt x="21539" y="0"/>
                  </a:lnTo>
                  <a:lnTo>
                    <a:pt x="8319858" y="0"/>
                  </a:lnTo>
                  <a:lnTo>
                    <a:pt x="8328195" y="1694"/>
                  </a:lnTo>
                  <a:lnTo>
                    <a:pt x="8335019" y="6318"/>
                  </a:lnTo>
                  <a:lnTo>
                    <a:pt x="8339629" y="13180"/>
                  </a:lnTo>
                  <a:lnTo>
                    <a:pt x="8341321" y="21589"/>
                  </a:lnTo>
                  <a:lnTo>
                    <a:pt x="8341321" y="1123569"/>
                  </a:lnTo>
                  <a:lnTo>
                    <a:pt x="8339629" y="1131905"/>
                  </a:lnTo>
                  <a:lnTo>
                    <a:pt x="8335019" y="1138729"/>
                  </a:lnTo>
                  <a:lnTo>
                    <a:pt x="8328195" y="1143339"/>
                  </a:lnTo>
                  <a:lnTo>
                    <a:pt x="8319858" y="1145032"/>
                  </a:lnTo>
                  <a:lnTo>
                    <a:pt x="21539" y="1145032"/>
                  </a:lnTo>
                  <a:lnTo>
                    <a:pt x="13153" y="1143339"/>
                  </a:lnTo>
                  <a:lnTo>
                    <a:pt x="6307" y="1138729"/>
                  </a:lnTo>
                  <a:lnTo>
                    <a:pt x="1692" y="1131905"/>
                  </a:lnTo>
                  <a:lnTo>
                    <a:pt x="0" y="1123569"/>
                  </a:lnTo>
                  <a:lnTo>
                    <a:pt x="0" y="21589"/>
                  </a:lnTo>
                  <a:close/>
                </a:path>
              </a:pathLst>
            </a:custGeom>
            <a:ln w="28575">
              <a:solidFill>
                <a:srgbClr val="000000"/>
              </a:solidFill>
            </a:ln>
          </p:spPr>
          <p:txBody>
            <a:bodyPr wrap="square" lIns="0" tIns="0" rIns="0" bIns="0" rtlCol="0"/>
            <a:lstStyle/>
            <a:p>
              <a:endParaRPr/>
            </a:p>
          </p:txBody>
        </p:sp>
        <p:sp>
          <p:nvSpPr>
            <p:cNvPr id="9" name="object 9"/>
            <p:cNvSpPr/>
            <p:nvPr/>
          </p:nvSpPr>
          <p:spPr>
            <a:xfrm>
              <a:off x="222529" y="3896740"/>
              <a:ext cx="8341359" cy="1182370"/>
            </a:xfrm>
            <a:custGeom>
              <a:avLst/>
              <a:gdLst/>
              <a:ahLst/>
              <a:cxnLst/>
              <a:rect l="l" t="t" r="r" b="b"/>
              <a:pathLst>
                <a:path w="8341359" h="1182370">
                  <a:moveTo>
                    <a:pt x="8319109" y="0"/>
                  </a:moveTo>
                  <a:lnTo>
                    <a:pt x="22250" y="0"/>
                  </a:lnTo>
                  <a:lnTo>
                    <a:pt x="13587" y="1758"/>
                  </a:lnTo>
                  <a:lnTo>
                    <a:pt x="6515" y="6540"/>
                  </a:lnTo>
                  <a:lnTo>
                    <a:pt x="1747" y="13608"/>
                  </a:lnTo>
                  <a:lnTo>
                    <a:pt x="0" y="22224"/>
                  </a:lnTo>
                  <a:lnTo>
                    <a:pt x="0" y="1159890"/>
                  </a:lnTo>
                  <a:lnTo>
                    <a:pt x="1747" y="1168560"/>
                  </a:lnTo>
                  <a:lnTo>
                    <a:pt x="6515" y="1175623"/>
                  </a:lnTo>
                  <a:lnTo>
                    <a:pt x="13587" y="1180375"/>
                  </a:lnTo>
                  <a:lnTo>
                    <a:pt x="22250" y="1182115"/>
                  </a:lnTo>
                  <a:lnTo>
                    <a:pt x="8319109" y="1182115"/>
                  </a:lnTo>
                  <a:lnTo>
                    <a:pt x="8327779" y="1180375"/>
                  </a:lnTo>
                  <a:lnTo>
                    <a:pt x="8334841" y="1175623"/>
                  </a:lnTo>
                  <a:lnTo>
                    <a:pt x="8339594" y="1168560"/>
                  </a:lnTo>
                  <a:lnTo>
                    <a:pt x="8341334" y="1159890"/>
                  </a:lnTo>
                  <a:lnTo>
                    <a:pt x="8341334" y="22224"/>
                  </a:lnTo>
                  <a:lnTo>
                    <a:pt x="8339594" y="13608"/>
                  </a:lnTo>
                  <a:lnTo>
                    <a:pt x="8334841" y="6540"/>
                  </a:lnTo>
                  <a:lnTo>
                    <a:pt x="8327779" y="1758"/>
                  </a:lnTo>
                  <a:lnTo>
                    <a:pt x="8319109" y="0"/>
                  </a:lnTo>
                  <a:close/>
                </a:path>
              </a:pathLst>
            </a:custGeom>
            <a:solidFill>
              <a:srgbClr val="DCE6F1"/>
            </a:solidFill>
          </p:spPr>
          <p:txBody>
            <a:bodyPr wrap="square" lIns="0" tIns="0" rIns="0" bIns="0" rtlCol="0"/>
            <a:lstStyle/>
            <a:p>
              <a:endParaRPr/>
            </a:p>
          </p:txBody>
        </p:sp>
        <p:sp>
          <p:nvSpPr>
            <p:cNvPr id="10" name="object 10"/>
            <p:cNvSpPr/>
            <p:nvPr/>
          </p:nvSpPr>
          <p:spPr>
            <a:xfrm>
              <a:off x="222529" y="3896740"/>
              <a:ext cx="8341359" cy="1182370"/>
            </a:xfrm>
            <a:custGeom>
              <a:avLst/>
              <a:gdLst/>
              <a:ahLst/>
              <a:cxnLst/>
              <a:rect l="l" t="t" r="r" b="b"/>
              <a:pathLst>
                <a:path w="8341359" h="1182370">
                  <a:moveTo>
                    <a:pt x="0" y="22224"/>
                  </a:moveTo>
                  <a:lnTo>
                    <a:pt x="1747" y="13608"/>
                  </a:lnTo>
                  <a:lnTo>
                    <a:pt x="6515" y="6540"/>
                  </a:lnTo>
                  <a:lnTo>
                    <a:pt x="13587" y="1758"/>
                  </a:lnTo>
                  <a:lnTo>
                    <a:pt x="22250" y="0"/>
                  </a:lnTo>
                  <a:lnTo>
                    <a:pt x="8319109" y="0"/>
                  </a:lnTo>
                  <a:lnTo>
                    <a:pt x="8327779" y="1758"/>
                  </a:lnTo>
                  <a:lnTo>
                    <a:pt x="8334841" y="6540"/>
                  </a:lnTo>
                  <a:lnTo>
                    <a:pt x="8339594" y="13608"/>
                  </a:lnTo>
                  <a:lnTo>
                    <a:pt x="8341334" y="22224"/>
                  </a:lnTo>
                  <a:lnTo>
                    <a:pt x="8341334" y="1159890"/>
                  </a:lnTo>
                  <a:lnTo>
                    <a:pt x="8339594" y="1168560"/>
                  </a:lnTo>
                  <a:lnTo>
                    <a:pt x="8334841" y="1175623"/>
                  </a:lnTo>
                  <a:lnTo>
                    <a:pt x="8327779" y="1180375"/>
                  </a:lnTo>
                  <a:lnTo>
                    <a:pt x="8319109" y="1182115"/>
                  </a:lnTo>
                  <a:lnTo>
                    <a:pt x="22250" y="1182115"/>
                  </a:lnTo>
                  <a:lnTo>
                    <a:pt x="13587" y="1180375"/>
                  </a:lnTo>
                  <a:lnTo>
                    <a:pt x="6515" y="1175623"/>
                  </a:lnTo>
                  <a:lnTo>
                    <a:pt x="1747" y="1168560"/>
                  </a:lnTo>
                  <a:lnTo>
                    <a:pt x="0" y="1159890"/>
                  </a:lnTo>
                  <a:lnTo>
                    <a:pt x="0" y="22224"/>
                  </a:lnTo>
                  <a:close/>
                </a:path>
              </a:pathLst>
            </a:custGeom>
            <a:ln w="28574">
              <a:solidFill>
                <a:srgbClr val="000000"/>
              </a:solidFill>
            </a:ln>
          </p:spPr>
          <p:txBody>
            <a:bodyPr wrap="square" lIns="0" tIns="0" rIns="0" bIns="0" rtlCol="0"/>
            <a:lstStyle/>
            <a:p>
              <a:endParaRPr/>
            </a:p>
          </p:txBody>
        </p:sp>
        <p:sp>
          <p:nvSpPr>
            <p:cNvPr id="11" name="object 11"/>
            <p:cNvSpPr/>
            <p:nvPr/>
          </p:nvSpPr>
          <p:spPr>
            <a:xfrm>
              <a:off x="222529" y="5078857"/>
              <a:ext cx="8341359" cy="1165860"/>
            </a:xfrm>
            <a:custGeom>
              <a:avLst/>
              <a:gdLst/>
              <a:ahLst/>
              <a:cxnLst/>
              <a:rect l="l" t="t" r="r" b="b"/>
              <a:pathLst>
                <a:path w="8341359" h="1165860">
                  <a:moveTo>
                    <a:pt x="8319490" y="0"/>
                  </a:moveTo>
                  <a:lnTo>
                    <a:pt x="21932" y="0"/>
                  </a:lnTo>
                  <a:lnTo>
                    <a:pt x="13394" y="1736"/>
                  </a:lnTo>
                  <a:lnTo>
                    <a:pt x="6423" y="6461"/>
                  </a:lnTo>
                  <a:lnTo>
                    <a:pt x="1723" y="13448"/>
                  </a:lnTo>
                  <a:lnTo>
                    <a:pt x="0" y="21971"/>
                  </a:lnTo>
                  <a:lnTo>
                    <a:pt x="0" y="1143914"/>
                  </a:lnTo>
                  <a:lnTo>
                    <a:pt x="1723" y="1152452"/>
                  </a:lnTo>
                  <a:lnTo>
                    <a:pt x="6423" y="1159424"/>
                  </a:lnTo>
                  <a:lnTo>
                    <a:pt x="13394" y="1164124"/>
                  </a:lnTo>
                  <a:lnTo>
                    <a:pt x="21932" y="1165847"/>
                  </a:lnTo>
                  <a:lnTo>
                    <a:pt x="8319490" y="1165847"/>
                  </a:lnTo>
                  <a:lnTo>
                    <a:pt x="8327993" y="1164124"/>
                  </a:lnTo>
                  <a:lnTo>
                    <a:pt x="8334936" y="1159424"/>
                  </a:lnTo>
                  <a:lnTo>
                    <a:pt x="8339618" y="1152452"/>
                  </a:lnTo>
                  <a:lnTo>
                    <a:pt x="8341334" y="1143914"/>
                  </a:lnTo>
                  <a:lnTo>
                    <a:pt x="8341334" y="21971"/>
                  </a:lnTo>
                  <a:lnTo>
                    <a:pt x="8339618" y="13448"/>
                  </a:lnTo>
                  <a:lnTo>
                    <a:pt x="8334936" y="6461"/>
                  </a:lnTo>
                  <a:lnTo>
                    <a:pt x="8327993" y="1736"/>
                  </a:lnTo>
                  <a:lnTo>
                    <a:pt x="8319490" y="0"/>
                  </a:lnTo>
                  <a:close/>
                </a:path>
              </a:pathLst>
            </a:custGeom>
            <a:solidFill>
              <a:srgbClr val="F1F1F1"/>
            </a:solidFill>
          </p:spPr>
          <p:txBody>
            <a:bodyPr wrap="square" lIns="0" tIns="0" rIns="0" bIns="0" rtlCol="0"/>
            <a:lstStyle/>
            <a:p>
              <a:endParaRPr/>
            </a:p>
          </p:txBody>
        </p:sp>
        <p:sp>
          <p:nvSpPr>
            <p:cNvPr id="12" name="object 12"/>
            <p:cNvSpPr/>
            <p:nvPr/>
          </p:nvSpPr>
          <p:spPr>
            <a:xfrm>
              <a:off x="222529" y="5078857"/>
              <a:ext cx="8341359" cy="1165860"/>
            </a:xfrm>
            <a:custGeom>
              <a:avLst/>
              <a:gdLst/>
              <a:ahLst/>
              <a:cxnLst/>
              <a:rect l="l" t="t" r="r" b="b"/>
              <a:pathLst>
                <a:path w="8341359" h="1165860">
                  <a:moveTo>
                    <a:pt x="0" y="21971"/>
                  </a:moveTo>
                  <a:lnTo>
                    <a:pt x="1723" y="13448"/>
                  </a:lnTo>
                  <a:lnTo>
                    <a:pt x="6423" y="6461"/>
                  </a:lnTo>
                  <a:lnTo>
                    <a:pt x="13394" y="1736"/>
                  </a:lnTo>
                  <a:lnTo>
                    <a:pt x="21932" y="0"/>
                  </a:lnTo>
                  <a:lnTo>
                    <a:pt x="8319490" y="0"/>
                  </a:lnTo>
                  <a:lnTo>
                    <a:pt x="8327993" y="1736"/>
                  </a:lnTo>
                  <a:lnTo>
                    <a:pt x="8334936" y="6461"/>
                  </a:lnTo>
                  <a:lnTo>
                    <a:pt x="8339618" y="13448"/>
                  </a:lnTo>
                  <a:lnTo>
                    <a:pt x="8341334" y="21971"/>
                  </a:lnTo>
                  <a:lnTo>
                    <a:pt x="8341334" y="1143914"/>
                  </a:lnTo>
                  <a:lnTo>
                    <a:pt x="8339618" y="1152452"/>
                  </a:lnTo>
                  <a:lnTo>
                    <a:pt x="8334936" y="1159424"/>
                  </a:lnTo>
                  <a:lnTo>
                    <a:pt x="8327993" y="1164124"/>
                  </a:lnTo>
                  <a:lnTo>
                    <a:pt x="8319490" y="1165847"/>
                  </a:lnTo>
                  <a:lnTo>
                    <a:pt x="21932" y="1165847"/>
                  </a:lnTo>
                  <a:lnTo>
                    <a:pt x="13394" y="1164124"/>
                  </a:lnTo>
                  <a:lnTo>
                    <a:pt x="6423" y="1159424"/>
                  </a:lnTo>
                  <a:lnTo>
                    <a:pt x="1723" y="1152452"/>
                  </a:lnTo>
                  <a:lnTo>
                    <a:pt x="0" y="1143914"/>
                  </a:lnTo>
                  <a:lnTo>
                    <a:pt x="0" y="21971"/>
                  </a:lnTo>
                  <a:close/>
                </a:path>
              </a:pathLst>
            </a:custGeom>
            <a:ln w="28575">
              <a:solidFill>
                <a:srgbClr val="000000"/>
              </a:solidFill>
            </a:ln>
          </p:spPr>
          <p:txBody>
            <a:bodyPr wrap="square" lIns="0" tIns="0" rIns="0" bIns="0" rtlCol="0"/>
            <a:lstStyle/>
            <a:p>
              <a:endParaRPr/>
            </a:p>
          </p:txBody>
        </p:sp>
      </p:grpSp>
      <p:graphicFrame>
        <p:nvGraphicFramePr>
          <p:cNvPr id="13" name="object 13"/>
          <p:cNvGraphicFramePr>
            <a:graphicFrameLocks noGrp="1"/>
          </p:cNvGraphicFramePr>
          <p:nvPr>
            <p:extLst>
              <p:ext uri="{D42A27DB-BD31-4B8C-83A1-F6EECF244321}">
                <p14:modId xmlns:p14="http://schemas.microsoft.com/office/powerpoint/2010/main" val="867819450"/>
              </p:ext>
            </p:extLst>
          </p:nvPr>
        </p:nvGraphicFramePr>
        <p:xfrm>
          <a:off x="2573579" y="1017006"/>
          <a:ext cx="7484821" cy="5252973"/>
        </p:xfrm>
        <a:graphic>
          <a:graphicData uri="http://schemas.openxmlformats.org/drawingml/2006/table">
            <a:tbl>
              <a:tblPr firstRow="1" bandRow="1">
                <a:tableStyleId>{2D5ABB26-0587-4C30-8999-92F81FD0307C}</a:tableStyleId>
              </a:tblPr>
              <a:tblGrid>
                <a:gridCol w="7484821">
                  <a:extLst>
                    <a:ext uri="{9D8B030D-6E8A-4147-A177-3AD203B41FA5}">
                      <a16:colId xmlns:a16="http://schemas.microsoft.com/office/drawing/2014/main" val="20000"/>
                    </a:ext>
                  </a:extLst>
                </a:gridCol>
              </a:tblGrid>
              <a:tr h="837183">
                <a:tc>
                  <a:txBody>
                    <a:bodyPr/>
                    <a:lstStyle/>
                    <a:p>
                      <a:pPr marL="457200" indent="-342265">
                        <a:lnSpc>
                          <a:spcPts val="2395"/>
                        </a:lnSpc>
                        <a:spcBef>
                          <a:spcPts val="355"/>
                        </a:spcBef>
                        <a:buClr>
                          <a:srgbClr val="001E30"/>
                        </a:buClr>
                        <a:buFont typeface="Wingdings"/>
                        <a:buChar char=""/>
                        <a:tabLst>
                          <a:tab pos="457200" algn="l"/>
                        </a:tabLst>
                      </a:pPr>
                      <a:r>
                        <a:rPr lang="en-IN" sz="2000" b="1" dirty="0"/>
                        <a:t>National Medicinal Plants Board (NMPB) — Ministry of Ayush</a:t>
                      </a:r>
                    </a:p>
                    <a:p>
                      <a:pPr marL="114935" indent="0">
                        <a:lnSpc>
                          <a:spcPts val="2395"/>
                        </a:lnSpc>
                        <a:spcBef>
                          <a:spcPts val="355"/>
                        </a:spcBef>
                        <a:buClr>
                          <a:srgbClr val="001E30"/>
                        </a:buClr>
                        <a:buFont typeface="Wingdings"/>
                        <a:buNone/>
                        <a:tabLst>
                          <a:tab pos="457200" algn="l"/>
                        </a:tabLst>
                      </a:pPr>
                      <a:r>
                        <a:rPr lang="en-IN" sz="2000" b="1" dirty="0">
                          <a:latin typeface="+mn-lt"/>
                          <a:cs typeface="Calibri"/>
                        </a:rPr>
                        <a:t>      </a:t>
                      </a:r>
                      <a:r>
                        <a:rPr lang="en-IN" sz="2000" b="0" dirty="0">
                          <a:latin typeface="+mn-lt"/>
                          <a:cs typeface="Calibri"/>
                          <a:hlinkClick r:id="rId2"/>
                        </a:rPr>
                        <a:t>https://nmpb.ayush.gov.in/</a:t>
                      </a:r>
                      <a:endParaRPr sz="2000" b="0" dirty="0">
                        <a:latin typeface="Calibri"/>
                        <a:cs typeface="Calibri"/>
                      </a:endParaRPr>
                    </a:p>
                  </a:txBody>
                  <a:tcPr marL="0" marR="0" marT="45085" marB="0"/>
                </a:tc>
                <a:extLst>
                  <a:ext uri="{0D108BD9-81ED-4DB2-BD59-A6C34878D82A}">
                    <a16:rowId xmlns:a16="http://schemas.microsoft.com/office/drawing/2014/main" val="10000"/>
                  </a:ext>
                </a:extLst>
              </a:tr>
              <a:tr h="909955">
                <a:tc>
                  <a:txBody>
                    <a:bodyPr/>
                    <a:lstStyle/>
                    <a:p>
                      <a:pPr marL="441325" indent="-342265">
                        <a:lnSpc>
                          <a:spcPts val="2395"/>
                        </a:lnSpc>
                        <a:spcBef>
                          <a:spcPts val="500"/>
                        </a:spcBef>
                        <a:buFont typeface="Wingdings"/>
                        <a:buChar char=""/>
                        <a:tabLst>
                          <a:tab pos="441325" algn="l"/>
                        </a:tabLst>
                      </a:pPr>
                      <a:r>
                        <a:rPr lang="en-IN" sz="2000" b="1" dirty="0"/>
                        <a:t>e-Charak — Ministry of Ayush</a:t>
                      </a:r>
                    </a:p>
                    <a:p>
                      <a:pPr marL="99060" indent="0">
                        <a:lnSpc>
                          <a:spcPts val="2395"/>
                        </a:lnSpc>
                        <a:spcBef>
                          <a:spcPts val="500"/>
                        </a:spcBef>
                        <a:buFont typeface="Wingdings"/>
                        <a:buNone/>
                        <a:tabLst>
                          <a:tab pos="441325" algn="l"/>
                        </a:tabLst>
                      </a:pPr>
                      <a:r>
                        <a:rPr lang="en-IN" sz="2000" b="1" dirty="0">
                          <a:latin typeface="+mn-lt"/>
                          <a:cs typeface="Calibri"/>
                        </a:rPr>
                        <a:t>      </a:t>
                      </a:r>
                      <a:r>
                        <a:rPr lang="en-IN" sz="2000" b="0" dirty="0">
                          <a:latin typeface="+mn-lt"/>
                          <a:cs typeface="Calibri"/>
                          <a:hlinkClick r:id="rId2"/>
                        </a:rPr>
                        <a:t>https://echarak.ayush.gov.in/</a:t>
                      </a:r>
                      <a:endParaRPr sz="2000" b="0" dirty="0">
                        <a:latin typeface="Calibri"/>
                        <a:cs typeface="Calibri"/>
                      </a:endParaRPr>
                    </a:p>
                  </a:txBody>
                  <a:tcPr marL="0" marR="0" marT="63500" marB="0"/>
                </a:tc>
                <a:extLst>
                  <a:ext uri="{0D108BD9-81ED-4DB2-BD59-A6C34878D82A}">
                    <a16:rowId xmlns:a16="http://schemas.microsoft.com/office/drawing/2014/main" val="10001"/>
                  </a:ext>
                </a:extLst>
              </a:tr>
              <a:tr h="1151890">
                <a:tc>
                  <a:txBody>
                    <a:bodyPr/>
                    <a:lstStyle/>
                    <a:p>
                      <a:pPr marL="443865" indent="-342265">
                        <a:lnSpc>
                          <a:spcPct val="100000"/>
                        </a:lnSpc>
                        <a:spcBef>
                          <a:spcPts val="470"/>
                        </a:spcBef>
                        <a:buFont typeface="Wingdings"/>
                        <a:buChar char=""/>
                        <a:tabLst>
                          <a:tab pos="443865" algn="l"/>
                        </a:tabLst>
                      </a:pPr>
                      <a:r>
                        <a:rPr lang="en-IN" sz="2000" b="1" dirty="0"/>
                        <a:t>India Biodiversity Portal</a:t>
                      </a:r>
                    </a:p>
                    <a:p>
                      <a:pPr marL="101600" indent="0">
                        <a:lnSpc>
                          <a:spcPct val="100000"/>
                        </a:lnSpc>
                        <a:spcBef>
                          <a:spcPts val="470"/>
                        </a:spcBef>
                        <a:buFont typeface="Wingdings"/>
                        <a:buNone/>
                        <a:tabLst>
                          <a:tab pos="443865" algn="l"/>
                        </a:tabLst>
                      </a:pPr>
                      <a:r>
                        <a:rPr lang="en-IN" sz="2000" b="1" dirty="0">
                          <a:latin typeface="+mn-lt"/>
                          <a:cs typeface="Calibri"/>
                        </a:rPr>
                        <a:t>     </a:t>
                      </a:r>
                      <a:r>
                        <a:rPr lang="en-IN" sz="2000" b="0" dirty="0">
                          <a:latin typeface="+mn-lt"/>
                          <a:cs typeface="Calibri"/>
                          <a:hlinkClick r:id="rId3"/>
                        </a:rPr>
                        <a:t>https://indiabiodiversity.org/</a:t>
                      </a:r>
                      <a:endParaRPr sz="2000" b="0" dirty="0">
                        <a:latin typeface="Calibri"/>
                        <a:cs typeface="Calibri"/>
                      </a:endParaRPr>
                    </a:p>
                  </a:txBody>
                  <a:tcPr marL="0" marR="0" marT="59690" marB="0"/>
                </a:tc>
                <a:extLst>
                  <a:ext uri="{0D108BD9-81ED-4DB2-BD59-A6C34878D82A}">
                    <a16:rowId xmlns:a16="http://schemas.microsoft.com/office/drawing/2014/main" val="10002"/>
                  </a:ext>
                </a:extLst>
              </a:tr>
              <a:tr h="1188720">
                <a:tc>
                  <a:txBody>
                    <a:bodyPr/>
                    <a:lstStyle/>
                    <a:p>
                      <a:pPr marL="448945" marR="660400" indent="-342900">
                        <a:lnSpc>
                          <a:spcPct val="100000"/>
                        </a:lnSpc>
                        <a:spcBef>
                          <a:spcPts val="495"/>
                        </a:spcBef>
                        <a:buFont typeface="Wingdings"/>
                        <a:buChar char=""/>
                        <a:tabLst>
                          <a:tab pos="448945" algn="l"/>
                        </a:tabLst>
                      </a:pPr>
                      <a:r>
                        <a:rPr lang="en-IN" sz="2000" b="1" dirty="0" err="1"/>
                        <a:t>Pl@ntNet</a:t>
                      </a:r>
                      <a:r>
                        <a:rPr lang="en-IN" sz="2000" b="1" dirty="0"/>
                        <a:t> — AI Plant Identification</a:t>
                      </a:r>
                    </a:p>
                    <a:p>
                      <a:pPr marL="106045" marR="660400" indent="0">
                        <a:lnSpc>
                          <a:spcPct val="100000"/>
                        </a:lnSpc>
                        <a:spcBef>
                          <a:spcPts val="495"/>
                        </a:spcBef>
                        <a:buFont typeface="Wingdings"/>
                        <a:buNone/>
                        <a:tabLst>
                          <a:tab pos="448945" algn="l"/>
                        </a:tabLst>
                      </a:pPr>
                      <a:r>
                        <a:rPr lang="en-IN" sz="2000" b="0" dirty="0">
                          <a:latin typeface="+mn-lt"/>
                          <a:cs typeface="Calibri"/>
                        </a:rPr>
                        <a:t>     </a:t>
                      </a:r>
                      <a:r>
                        <a:rPr lang="en-IN" sz="2000" b="0" dirty="0">
                          <a:latin typeface="+mn-lt"/>
                          <a:cs typeface="Calibri"/>
                          <a:hlinkClick r:id="rId4"/>
                        </a:rPr>
                        <a:t>https://docs.plantnet.org/en/understand/how-the-identification-model-works/</a:t>
                      </a:r>
                      <a:endParaRPr sz="2000" b="0" dirty="0">
                        <a:latin typeface="Calibri"/>
                        <a:cs typeface="Calibri"/>
                      </a:endParaRPr>
                    </a:p>
                  </a:txBody>
                  <a:tcPr marL="0" marR="0" marT="62865" marB="0"/>
                </a:tc>
                <a:extLst>
                  <a:ext uri="{0D108BD9-81ED-4DB2-BD59-A6C34878D82A}">
                    <a16:rowId xmlns:a16="http://schemas.microsoft.com/office/drawing/2014/main" val="10003"/>
                  </a:ext>
                </a:extLst>
              </a:tr>
              <a:tr h="1165225">
                <a:tc>
                  <a:txBody>
                    <a:bodyPr/>
                    <a:lstStyle/>
                    <a:p>
                      <a:pPr marL="442595" marR="609600" indent="-343535">
                        <a:lnSpc>
                          <a:spcPct val="100000"/>
                        </a:lnSpc>
                        <a:spcBef>
                          <a:spcPts val="600"/>
                        </a:spcBef>
                        <a:buFont typeface="Wingdings"/>
                        <a:buChar char=""/>
                        <a:tabLst>
                          <a:tab pos="442595" algn="l"/>
                        </a:tabLst>
                      </a:pPr>
                      <a:r>
                        <a:rPr lang="en-IN" sz="2000" b="1" dirty="0"/>
                        <a:t>iNaturalist — Computer Vision + Biodiversity Observations</a:t>
                      </a:r>
                    </a:p>
                    <a:p>
                      <a:pPr marL="99060" marR="609600" indent="0">
                        <a:lnSpc>
                          <a:spcPct val="100000"/>
                        </a:lnSpc>
                        <a:spcBef>
                          <a:spcPts val="600"/>
                        </a:spcBef>
                        <a:buFont typeface="Wingdings"/>
                        <a:buNone/>
                        <a:tabLst>
                          <a:tab pos="442595" algn="l"/>
                        </a:tabLst>
                      </a:pPr>
                      <a:r>
                        <a:rPr lang="en-IN" sz="2000" b="1" dirty="0">
                          <a:latin typeface="+mn-lt"/>
                          <a:cs typeface="Calibri"/>
                        </a:rPr>
                        <a:t>     </a:t>
                      </a:r>
                      <a:r>
                        <a:rPr lang="en-IN" sz="2000" b="0" dirty="0">
                          <a:latin typeface="+mn-lt"/>
                          <a:cs typeface="Calibri"/>
                          <a:hlinkClick r:id="rId5"/>
                        </a:rPr>
                        <a:t>https://www.inaturalist.org/</a:t>
                      </a:r>
                      <a:endParaRPr sz="2000" b="0" dirty="0">
                        <a:latin typeface="Calibri"/>
                        <a:cs typeface="Calibri"/>
                      </a:endParaRPr>
                    </a:p>
                  </a:txBody>
                  <a:tcPr marL="0" marR="0" marT="76200" marB="0"/>
                </a:tc>
                <a:extLst>
                  <a:ext uri="{0D108BD9-81ED-4DB2-BD59-A6C34878D82A}">
                    <a16:rowId xmlns:a16="http://schemas.microsoft.com/office/drawing/2014/main" val="10004"/>
                  </a:ext>
                </a:extLst>
              </a:tr>
            </a:tbl>
          </a:graphicData>
        </a:graphic>
      </p:graphicFrame>
      <p:sp>
        <p:nvSpPr>
          <p:cNvPr id="17" name="object 17" descr="$PPTXTitle"/>
          <p:cNvSpPr txBox="1">
            <a:spLocks noGrp="1"/>
          </p:cNvSpPr>
          <p:nvPr>
            <p:ph type="title"/>
          </p:nvPr>
        </p:nvSpPr>
        <p:spPr>
          <a:xfrm>
            <a:off x="2607945" y="221437"/>
            <a:ext cx="6975475" cy="574675"/>
          </a:xfrm>
          <a:prstGeom prst="rect">
            <a:avLst/>
          </a:prstGeom>
        </p:spPr>
        <p:txBody>
          <a:bodyPr vert="horz" wrap="square" lIns="0" tIns="12700" rIns="0" bIns="0" rtlCol="0">
            <a:spAutoFit/>
          </a:bodyPr>
          <a:lstStyle/>
          <a:p>
            <a:pPr marL="12700">
              <a:lnSpc>
                <a:spcPct val="100000"/>
              </a:lnSpc>
              <a:spcBef>
                <a:spcPts val="100"/>
              </a:spcBef>
            </a:pPr>
            <a:r>
              <a:rPr dirty="0"/>
              <a:t>RESEARCH</a:t>
            </a:r>
            <a:r>
              <a:rPr spc="880" dirty="0"/>
              <a:t> </a:t>
            </a:r>
            <a:r>
              <a:rPr dirty="0"/>
              <a:t>AND </a:t>
            </a:r>
            <a:r>
              <a:rPr spc="-10" dirty="0"/>
              <a:t>REFERENCES</a:t>
            </a:r>
          </a:p>
        </p:txBody>
      </p:sp>
      <p:sp>
        <p:nvSpPr>
          <p:cNvPr id="28" name="object 2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spc="-50" dirty="0"/>
              <a:t>6</a:t>
            </a:fld>
            <a:endParaRPr spc="-50" dirty="0"/>
          </a:p>
        </p:txBody>
      </p:sp>
      <p:sp>
        <p:nvSpPr>
          <p:cNvPr id="15" name="Rectangle: Rounded Corners 14">
            <a:extLst>
              <a:ext uri="{FF2B5EF4-FFF2-40B4-BE49-F238E27FC236}">
                <a16:creationId xmlns:a16="http://schemas.microsoft.com/office/drawing/2014/main" id="{6A59C270-A1ED-1B1D-67CA-E00917808AC1}"/>
              </a:ext>
            </a:extLst>
          </p:cNvPr>
          <p:cNvSpPr/>
          <p:nvPr/>
        </p:nvSpPr>
        <p:spPr>
          <a:xfrm>
            <a:off x="247870" y="138495"/>
            <a:ext cx="1702688" cy="473610"/>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a:solidFill>
                  <a:schemeClr val="accent3"/>
                </a:solidFill>
              </a:rPr>
              <a:t>Neural Nexus</a:t>
            </a:r>
            <a:endParaRPr lang="en-IN" b="1" dirty="0">
              <a:ln/>
              <a:solidFill>
                <a:schemeClr val="accent3"/>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641</TotalTime>
  <Words>647</Words>
  <Application>Microsoft Office PowerPoint</Application>
  <PresentationFormat>Widescreen</PresentationFormat>
  <Paragraphs>129</Paragraphs>
  <Slides>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Arial MT</vt:lpstr>
      <vt:lpstr>Calibri</vt:lpstr>
      <vt:lpstr>Times New Roman</vt:lpstr>
      <vt:lpstr>Wingdings</vt:lpstr>
      <vt:lpstr>Office Theme</vt:lpstr>
      <vt:lpstr>SMART INDIA HACKATHON 2026</vt:lpstr>
      <vt:lpstr>Problem and Solution </vt:lpstr>
      <vt:lpstr>TECHNICAL APPROACH</vt:lpstr>
      <vt:lpstr>FEASIBILITY AND VIABILITY</vt:lpstr>
      <vt:lpstr>IMPACT AND BENEFITS</vt:lpstr>
      <vt:lpstr>RESEARCH AND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creator>Crowdfunder</dc:creator>
  <cp:lastModifiedBy>ritesh kumar</cp:lastModifiedBy>
  <cp:revision>22</cp:revision>
  <cp:lastPrinted>2026-08-12T16:02:30Z</cp:lastPrinted>
  <dcterms:created xsi:type="dcterms:W3CDTF">2026-08-12T09:35:23Z</dcterms:created>
  <dcterms:modified xsi:type="dcterms:W3CDTF">2026-08-26T09:26:04Z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2025-09-27T00:00:00Z</vt:filetime>
  </property>
  <property fmtid="{D5CDD505-2E9C-101B-9397-08002B2CF9AE}" pid="4" name="Creator">
    <vt:lpwstr>Microsoft® PowerPoint® 2024</vt:lpwstr>
  </property>
  <property fmtid="{D5CDD505-2E9C-101B-9397-08002B2CF9AE}" pid="5" name="LastSaved">
    <vt:filetime>2026-08-12T00:00:00Z</vt:filetime>
  </property>
  <property fmtid="{D5CDD505-2E9C-101B-9397-08002B2CF9AE}" pid="6" name="Producer">
    <vt:lpwstr>Microsoft® PowerPoint® 2024</vt:lpwstr>
  </property>
</Properties>
</file>